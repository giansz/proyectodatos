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9"/>
  </p:notesMasterIdLst>
  <p:sldIdLst>
    <p:sldId id="256" r:id="rId3"/>
    <p:sldId id="257" r:id="rId4"/>
    <p:sldId id="258" r:id="rId5"/>
    <p:sldId id="259" r:id="rId6"/>
    <p:sldId id="260" r:id="rId7"/>
    <p:sldId id="261" r:id="rId8"/>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notesMaster" Target="notesMasters/notesMaster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63"/>
        <p:cNvGrpSpPr/>
        <p:nvPr/>
      </p:nvGrpSpPr>
      <p:grpSpPr>
        <a:xfrm>
          <a:off x="0" y="0"/>
          <a:ext cx="0" cy="0"/>
          <a:chOff x="0" y="0"/>
          <a:chExt cx="0" cy="0"/>
        </a:xfrm>
      </p:grpSpPr>
      <p:sp>
        <p:nvSpPr>
          <p:cNvPr id="64" name="Google Shape;64;p3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30"/>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6"/>
        <p:cNvGrpSpPr/>
        <p:nvPr/>
      </p:nvGrpSpPr>
      <p:grpSpPr>
        <a:xfrm>
          <a:off x="0" y="0"/>
          <a:ext cx="0" cy="0"/>
          <a:chOff x="0" y="0"/>
          <a:chExt cx="0" cy="0"/>
        </a:xfrm>
      </p:grpSpPr>
      <p:sp>
        <p:nvSpPr>
          <p:cNvPr id="67" name="Google Shape;67;p3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9"/>
        <p:cNvGrpSpPr/>
        <p:nvPr/>
      </p:nvGrpSpPr>
      <p:grpSpPr>
        <a:xfrm>
          <a:off x="0" y="0"/>
          <a:ext cx="0" cy="0"/>
          <a:chOff x="0" y="0"/>
          <a:chExt cx="0" cy="0"/>
        </a:xfrm>
      </p:grpSpPr>
      <p:sp>
        <p:nvSpPr>
          <p:cNvPr id="70" name="Google Shape;70;p3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smtClean="0">
                <a:solidFill>
                  <a:srgbClr val="000000"/>
                </a:solidFill>
                <a:latin typeface="Arial"/>
                <a:ea typeface="Arial"/>
                <a:cs typeface="Arial"/>
                <a:sym typeface="Arial"/>
              </a:rPr>
              <a:t>Investigación para la compresión de datos</a:t>
            </a:r>
            <a:endParaRPr lang="es-CO" sz="3600" b="1"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smtClean="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a:t>
            </a:r>
            <a:r>
              <a:rPr lang="en-US" sz="2200" b="1" dirty="0" smtClean="0">
                <a:solidFill>
                  <a:srgbClr val="001E33"/>
                </a:solidFill>
                <a:uFill>
                  <a:noFill/>
                </a:uFill>
                <a:hlinkClick r:id="rId6"/>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1833322" y="1198792"/>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140991" y="1344165"/>
            <a:ext cx="7235376" cy="738664"/>
          </a:xfrm>
          <a:prstGeom prst="rect">
            <a:avLst/>
          </a:prstGeom>
          <a:noFill/>
        </p:spPr>
        <p:txBody>
          <a:bodyPr wrap="square" rtlCol="0">
            <a:spAutoFit/>
          </a:bodyPr>
          <a:lstStyle/>
          <a:p>
            <a:pPr algn="ctr"/>
            <a:r>
              <a:rPr lang="es-CO" dirty="0" smtClean="0">
                <a:solidFill>
                  <a:schemeClr val="bg1"/>
                </a:solidFill>
              </a:rPr>
              <a:t>La compresión de imágenes es el proceso de reducir el tamaño de estas usando técnicas para simplificar la información redundante </a:t>
            </a:r>
            <a:r>
              <a:rPr lang="es-CO" dirty="0" smtClean="0">
                <a:solidFill>
                  <a:schemeClr val="bg1"/>
                </a:solidFill>
              </a:rPr>
              <a:t>y así </a:t>
            </a:r>
            <a:r>
              <a:rPr lang="es-CO" dirty="0" smtClean="0">
                <a:solidFill>
                  <a:schemeClr val="bg1"/>
                </a:solidFill>
              </a:rPr>
              <a:t>volverla </a:t>
            </a:r>
            <a:r>
              <a:rPr lang="es-CO" dirty="0" smtClean="0">
                <a:solidFill>
                  <a:schemeClr val="bg1"/>
                </a:solidFill>
              </a:rPr>
              <a:t>más </a:t>
            </a:r>
            <a:r>
              <a:rPr lang="es-CO" dirty="0" smtClean="0">
                <a:solidFill>
                  <a:schemeClr val="bg1"/>
                </a:solidFill>
              </a:rPr>
              <a:t>óptima para los objetivos que se tengan con esta.</a:t>
            </a:r>
            <a:endParaRPr lang="es-CO" dirty="0">
              <a:solidFill>
                <a:schemeClr val="bg1"/>
              </a:solidFill>
            </a:endParaRPr>
          </a:p>
        </p:txBody>
      </p:sp>
      <p:sp>
        <p:nvSpPr>
          <p:cNvPr id="4" name="CuadroTexto 3"/>
          <p:cNvSpPr txBox="1"/>
          <p:nvPr/>
        </p:nvSpPr>
        <p:spPr>
          <a:xfrm>
            <a:off x="1021468" y="3385681"/>
            <a:ext cx="4160129" cy="1815882"/>
          </a:xfrm>
          <a:prstGeom prst="rect">
            <a:avLst/>
          </a:prstGeom>
          <a:noFill/>
        </p:spPr>
        <p:txBody>
          <a:bodyPr wrap="square" rtlCol="0">
            <a:spAutoFit/>
          </a:bodyPr>
          <a:lstStyle/>
          <a:p>
            <a:pPr algn="ctr"/>
            <a:r>
              <a:rPr lang="es-CO" b="1" dirty="0" smtClean="0"/>
              <a:t>Compresión</a:t>
            </a:r>
            <a:r>
              <a:rPr lang="pt-BR" b="1" dirty="0" smtClean="0"/>
              <a:t> Lossy</a:t>
            </a:r>
          </a:p>
          <a:p>
            <a:pPr algn="ctr"/>
            <a:endParaRPr lang="pt-BR" b="1" dirty="0" smtClean="0"/>
          </a:p>
          <a:p>
            <a:pPr algn="just"/>
            <a:r>
              <a:rPr lang="pt-BR" dirty="0" smtClean="0"/>
              <a:t>Es un </a:t>
            </a:r>
            <a:r>
              <a:rPr lang="es-CO" dirty="0" smtClean="0"/>
              <a:t>proceso</a:t>
            </a:r>
            <a:r>
              <a:rPr lang="pt-BR" dirty="0" smtClean="0"/>
              <a:t> de </a:t>
            </a:r>
            <a:r>
              <a:rPr lang="pt-BR" dirty="0" err="1" smtClean="0"/>
              <a:t>co</a:t>
            </a:r>
            <a:r>
              <a:rPr lang="es-CO" dirty="0" err="1" smtClean="0"/>
              <a:t>mpresión</a:t>
            </a:r>
            <a:r>
              <a:rPr lang="es-CO" dirty="0" smtClean="0"/>
              <a:t> </a:t>
            </a:r>
            <a:r>
              <a:rPr lang="pt-BR" dirty="0" smtClean="0"/>
              <a:t>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eliminación</a:t>
            </a:r>
            <a:r>
              <a:rPr lang="pt-BR" dirty="0" smtClean="0"/>
              <a:t> de </a:t>
            </a:r>
            <a:r>
              <a:rPr lang="pt-BR" dirty="0" err="1" smtClean="0"/>
              <a:t>información</a:t>
            </a:r>
            <a:r>
              <a:rPr lang="pt-BR" dirty="0" smtClean="0"/>
              <a:t> de </a:t>
            </a:r>
            <a:r>
              <a:rPr lang="pt-BR" dirty="0" err="1" smtClean="0"/>
              <a:t>la</a:t>
            </a:r>
            <a:r>
              <a:rPr lang="pt-BR" dirty="0" smtClean="0"/>
              <a:t> </a:t>
            </a:r>
            <a:r>
              <a:rPr lang="pt-BR" dirty="0" err="1" smtClean="0"/>
              <a:t>cual</a:t>
            </a:r>
            <a:r>
              <a:rPr lang="pt-BR" dirty="0" smtClean="0"/>
              <a:t> </a:t>
            </a:r>
            <a:r>
              <a:rPr lang="pt-BR" dirty="0" err="1" smtClean="0"/>
              <a:t>el</a:t>
            </a:r>
            <a:r>
              <a:rPr lang="pt-BR" dirty="0" smtClean="0"/>
              <a:t> ser humano </a:t>
            </a:r>
            <a:r>
              <a:rPr lang="pt-BR" dirty="0" err="1" smtClean="0"/>
              <a:t>puede</a:t>
            </a:r>
            <a:r>
              <a:rPr lang="pt-BR" dirty="0" smtClean="0"/>
              <a:t> </a:t>
            </a:r>
            <a:r>
              <a:rPr lang="es-CO" dirty="0" smtClean="0"/>
              <a:t>prescindir</a:t>
            </a:r>
            <a:r>
              <a:rPr lang="pt-BR" dirty="0" smtClean="0"/>
              <a:t> </a:t>
            </a:r>
            <a:r>
              <a:rPr lang="pt-BR" dirty="0" err="1" smtClean="0"/>
              <a:t>sin</a:t>
            </a:r>
            <a:r>
              <a:rPr lang="pt-BR" dirty="0" smtClean="0"/>
              <a:t> cambiar </a:t>
            </a:r>
            <a:r>
              <a:rPr lang="pt-BR" dirty="0" err="1" smtClean="0"/>
              <a:t>el</a:t>
            </a:r>
            <a:r>
              <a:rPr lang="pt-BR" dirty="0" smtClean="0"/>
              <a:t> resultado o </a:t>
            </a:r>
            <a:r>
              <a:rPr lang="pt-BR" dirty="0" err="1" smtClean="0"/>
              <a:t>el</a:t>
            </a:r>
            <a:r>
              <a:rPr lang="pt-BR" dirty="0" smtClean="0"/>
              <a:t> significado de </a:t>
            </a:r>
            <a:r>
              <a:rPr lang="pt-BR" dirty="0" err="1" smtClean="0"/>
              <a:t>la</a:t>
            </a:r>
            <a:r>
              <a:rPr lang="pt-BR" dirty="0" smtClean="0"/>
              <a:t> </a:t>
            </a:r>
            <a:r>
              <a:rPr lang="es-CO" dirty="0" smtClean="0"/>
              <a:t>imagen</a:t>
            </a:r>
            <a:r>
              <a:rPr lang="pt-BR" dirty="0" smtClean="0"/>
              <a:t>. </a:t>
            </a:r>
            <a:r>
              <a:rPr lang="pt-BR" dirty="0" smtClean="0"/>
              <a:t>La perdida de </a:t>
            </a:r>
            <a:r>
              <a:rPr lang="es-CO" dirty="0" smtClean="0"/>
              <a:t>información</a:t>
            </a:r>
            <a:r>
              <a:rPr lang="pt-BR" dirty="0" smtClean="0"/>
              <a:t> </a:t>
            </a:r>
            <a:r>
              <a:rPr lang="pt-BR" dirty="0" err="1" smtClean="0"/>
              <a:t>en</a:t>
            </a:r>
            <a:r>
              <a:rPr lang="pt-BR" dirty="0" smtClean="0"/>
              <a:t> este </a:t>
            </a:r>
            <a:r>
              <a:rPr lang="pt-BR" dirty="0" err="1" smtClean="0"/>
              <a:t>proceso</a:t>
            </a:r>
            <a:r>
              <a:rPr lang="pt-BR" dirty="0" smtClean="0"/>
              <a:t> es </a:t>
            </a:r>
            <a:r>
              <a:rPr lang="pt-BR" dirty="0" err="1" smtClean="0"/>
              <a:t>irre</a:t>
            </a:r>
            <a:r>
              <a:rPr lang="es-CO" dirty="0" err="1" smtClean="0"/>
              <a:t>versible</a:t>
            </a:r>
            <a:r>
              <a:rPr lang="es-CO" dirty="0" smtClean="0"/>
              <a:t> y compromete la calidad de la imagen.</a:t>
            </a:r>
            <a:endParaRPr lang="pt-BR" dirty="0"/>
          </a:p>
        </p:txBody>
      </p:sp>
      <p:sp>
        <p:nvSpPr>
          <p:cNvPr id="9" name="CuadroTexto 8"/>
          <p:cNvSpPr txBox="1"/>
          <p:nvPr/>
        </p:nvSpPr>
        <p:spPr>
          <a:xfrm>
            <a:off x="6912617" y="3601124"/>
            <a:ext cx="4160129" cy="1384995"/>
          </a:xfrm>
          <a:prstGeom prst="rect">
            <a:avLst/>
          </a:prstGeom>
          <a:noFill/>
        </p:spPr>
        <p:txBody>
          <a:bodyPr wrap="square" rtlCol="0">
            <a:spAutoFit/>
          </a:bodyPr>
          <a:lstStyle/>
          <a:p>
            <a:pPr algn="ctr"/>
            <a:r>
              <a:rPr lang="pt-BR" b="1" dirty="0" err="1" smtClean="0"/>
              <a:t>Compresión</a:t>
            </a:r>
            <a:r>
              <a:rPr lang="pt-BR" b="1" dirty="0" smtClean="0"/>
              <a:t> </a:t>
            </a:r>
            <a:r>
              <a:rPr lang="pt-BR" b="1" dirty="0" err="1" smtClean="0"/>
              <a:t>LossLess</a:t>
            </a:r>
            <a:endParaRPr lang="pt-BR" b="1" dirty="0" smtClean="0"/>
          </a:p>
          <a:p>
            <a:pPr algn="ctr"/>
            <a:endParaRPr lang="pt-BR" b="1" dirty="0" smtClean="0"/>
          </a:p>
          <a:p>
            <a:pPr algn="just"/>
            <a:r>
              <a:rPr lang="pt-BR" dirty="0" smtClean="0"/>
              <a:t>Es un </a:t>
            </a:r>
            <a:r>
              <a:rPr lang="pt-BR" dirty="0" err="1"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reestructuración</a:t>
            </a:r>
            <a:r>
              <a:rPr lang="pt-BR" dirty="0" smtClean="0"/>
              <a:t> de </a:t>
            </a:r>
            <a:r>
              <a:rPr lang="pt-BR" dirty="0" err="1" smtClean="0"/>
              <a:t>la</a:t>
            </a:r>
            <a:r>
              <a:rPr lang="pt-BR" dirty="0" smtClean="0"/>
              <a:t> </a:t>
            </a:r>
            <a:r>
              <a:rPr lang="pt-BR" dirty="0" err="1" smtClean="0"/>
              <a:t>información</a:t>
            </a:r>
            <a:r>
              <a:rPr lang="pt-BR" dirty="0" smtClean="0"/>
              <a:t> para que esta ocupe menos memoria. No se </a:t>
            </a:r>
            <a:r>
              <a:rPr lang="pt-BR" dirty="0" err="1" smtClean="0"/>
              <a:t>pierde</a:t>
            </a:r>
            <a:r>
              <a:rPr lang="pt-BR" dirty="0" smtClean="0"/>
              <a:t> </a:t>
            </a:r>
            <a:r>
              <a:rPr lang="pt-BR" dirty="0" err="1" smtClean="0"/>
              <a:t>calidad</a:t>
            </a:r>
            <a:r>
              <a:rPr lang="pt-BR" dirty="0" smtClean="0"/>
              <a:t> </a:t>
            </a:r>
            <a:r>
              <a:rPr lang="pt-BR" dirty="0" err="1" smtClean="0"/>
              <a:t>ni</a:t>
            </a:r>
            <a:r>
              <a:rPr lang="pt-BR" dirty="0" smtClean="0"/>
              <a:t> </a:t>
            </a:r>
            <a:r>
              <a:rPr lang="pt-BR" dirty="0" err="1" smtClean="0"/>
              <a:t>datos</a:t>
            </a:r>
            <a:r>
              <a:rPr lang="pt-BR" dirty="0" smtClean="0"/>
              <a:t> de </a:t>
            </a:r>
            <a:r>
              <a:rPr lang="pt-BR" dirty="0" err="1" smtClean="0"/>
              <a:t>la</a:t>
            </a:r>
            <a:r>
              <a:rPr lang="pt-BR" dirty="0" smtClean="0"/>
              <a:t> </a:t>
            </a:r>
            <a:r>
              <a:rPr lang="pt-BR" dirty="0" err="1" smtClean="0"/>
              <a:t>imagen</a:t>
            </a:r>
            <a:r>
              <a:rPr lang="pt-BR" dirty="0" smtClean="0"/>
              <a:t> original.</a:t>
            </a:r>
            <a:endParaRPr lang="pt-BR" dirty="0"/>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3037307" y="2228202"/>
            <a:ext cx="2721373" cy="944488"/>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a:stCxn id="5" idx="2"/>
          </p:cNvCxnSpPr>
          <p:nvPr/>
        </p:nvCxnSpPr>
        <p:spPr>
          <a:xfrm>
            <a:off x="5758680" y="2228202"/>
            <a:ext cx="3234002" cy="943109"/>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691001" y="3256316"/>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582148" y="3256316"/>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536760" y="1326014"/>
            <a:ext cx="5129749" cy="1384995"/>
          </a:xfrm>
          <a:prstGeom prst="rect">
            <a:avLst/>
          </a:prstGeom>
          <a:noFill/>
        </p:spPr>
        <p:txBody>
          <a:bodyPr wrap="square" rtlCol="0">
            <a:spAutoFit/>
          </a:bodyPr>
          <a:lstStyle/>
          <a:p>
            <a:pPr algn="just"/>
            <a:r>
              <a:rPr lang="pt-BR" b="1" u="sng" dirty="0" err="1" smtClean="0"/>
              <a:t>Run-length</a:t>
            </a:r>
            <a:r>
              <a:rPr lang="pt-BR" b="1" u="sng" dirty="0" smtClean="0"/>
              <a:t>:</a:t>
            </a:r>
            <a:r>
              <a:rPr lang="pt-BR" dirty="0" smtClean="0"/>
              <a:t> Para </a:t>
            </a:r>
            <a:r>
              <a:rPr lang="pt-BR" dirty="0" err="1" smtClean="0"/>
              <a:t>reducir</a:t>
            </a:r>
            <a:r>
              <a:rPr lang="pt-BR" dirty="0" smtClean="0"/>
              <a:t> </a:t>
            </a:r>
            <a:r>
              <a:rPr lang="pt-BR" dirty="0" err="1" smtClean="0"/>
              <a:t>la</a:t>
            </a:r>
            <a:r>
              <a:rPr lang="pt-BR" dirty="0" smtClean="0"/>
              <a:t> </a:t>
            </a:r>
            <a:r>
              <a:rPr lang="pt-BR" dirty="0" err="1" smtClean="0"/>
              <a:t>información</a:t>
            </a:r>
            <a:r>
              <a:rPr lang="pt-BR" dirty="0" smtClean="0"/>
              <a:t> </a:t>
            </a:r>
            <a:r>
              <a:rPr lang="pt-BR" dirty="0" err="1" smtClean="0"/>
              <a:t>reduntante</a:t>
            </a:r>
            <a:r>
              <a:rPr lang="pt-BR" dirty="0" smtClean="0"/>
              <a:t> este método </a:t>
            </a:r>
            <a:r>
              <a:rPr lang="pt-BR" dirty="0" err="1" smtClean="0"/>
              <a:t>cuenta</a:t>
            </a:r>
            <a:r>
              <a:rPr lang="pt-BR" dirty="0" smtClean="0"/>
              <a:t> </a:t>
            </a:r>
            <a:r>
              <a:rPr lang="pt-BR" dirty="0" err="1" smtClean="0"/>
              <a:t>cuántas</a:t>
            </a:r>
            <a:r>
              <a:rPr lang="pt-BR" dirty="0" smtClean="0"/>
              <a:t> </a:t>
            </a:r>
            <a:r>
              <a:rPr lang="pt-BR" dirty="0" err="1" smtClean="0"/>
              <a:t>veces</a:t>
            </a:r>
            <a:r>
              <a:rPr lang="pt-BR" dirty="0" smtClean="0"/>
              <a:t> se </a:t>
            </a:r>
            <a:r>
              <a:rPr lang="pt-BR" dirty="0" err="1" smtClean="0"/>
              <a:t>repite</a:t>
            </a:r>
            <a:r>
              <a:rPr lang="pt-BR" dirty="0" smtClean="0"/>
              <a:t> </a:t>
            </a:r>
            <a:r>
              <a:rPr lang="pt-BR" dirty="0" err="1" smtClean="0"/>
              <a:t>el</a:t>
            </a:r>
            <a:r>
              <a:rPr lang="pt-BR" dirty="0" smtClean="0"/>
              <a:t> </a:t>
            </a:r>
            <a:r>
              <a:rPr lang="pt-BR" dirty="0" err="1" smtClean="0"/>
              <a:t>mismo</a:t>
            </a:r>
            <a:r>
              <a:rPr lang="pt-BR" dirty="0" smtClean="0"/>
              <a:t> </a:t>
            </a:r>
            <a:r>
              <a:rPr lang="pt-BR" dirty="0" err="1" smtClean="0"/>
              <a:t>caracter</a:t>
            </a:r>
            <a:r>
              <a:rPr lang="pt-BR" dirty="0" smtClean="0"/>
              <a:t> y coloca este número al frente de </a:t>
            </a:r>
            <a:r>
              <a:rPr lang="pt-BR" dirty="0" err="1" smtClean="0"/>
              <a:t>la</a:t>
            </a:r>
            <a:r>
              <a:rPr lang="pt-BR" dirty="0" smtClean="0"/>
              <a:t> </a:t>
            </a:r>
            <a:r>
              <a:rPr lang="pt-BR" dirty="0" err="1" smtClean="0"/>
              <a:t>identificación</a:t>
            </a:r>
            <a:r>
              <a:rPr lang="pt-BR" dirty="0" smtClean="0"/>
              <a:t> </a:t>
            </a:r>
            <a:r>
              <a:rPr lang="pt-BR" dirty="0" err="1" smtClean="0"/>
              <a:t>del</a:t>
            </a:r>
            <a:r>
              <a:rPr lang="pt-BR" dirty="0" smtClean="0"/>
              <a:t> </a:t>
            </a:r>
            <a:r>
              <a:rPr lang="pt-BR" dirty="0" err="1" smtClean="0"/>
              <a:t>caracter</a:t>
            </a:r>
            <a:r>
              <a:rPr lang="pt-BR" dirty="0" smtClean="0"/>
              <a:t>. Es </a:t>
            </a:r>
            <a:r>
              <a:rPr lang="pt-BR" dirty="0" err="1" smtClean="0"/>
              <a:t>decir</a:t>
            </a:r>
            <a:r>
              <a:rPr lang="pt-BR" dirty="0" smtClean="0"/>
              <a:t>, si </a:t>
            </a:r>
            <a:r>
              <a:rPr lang="pt-BR" dirty="0" err="1" smtClean="0"/>
              <a:t>tenemos</a:t>
            </a:r>
            <a:r>
              <a:rPr lang="pt-BR" dirty="0" smtClean="0"/>
              <a:t> 10 </a:t>
            </a:r>
            <a:r>
              <a:rPr lang="pt-BR" dirty="0" err="1" smtClean="0"/>
              <a:t>pixeles</a:t>
            </a:r>
            <a:r>
              <a:rPr lang="pt-BR" dirty="0" smtClean="0"/>
              <a:t> </a:t>
            </a:r>
            <a:r>
              <a:rPr lang="pt-BR" dirty="0" err="1" smtClean="0"/>
              <a:t>blancos</a:t>
            </a:r>
            <a:r>
              <a:rPr lang="pt-BR" dirty="0" smtClean="0"/>
              <a:t> seguidos, y </a:t>
            </a:r>
            <a:r>
              <a:rPr lang="pt-BR" dirty="0" err="1" smtClean="0"/>
              <a:t>suponiendo</a:t>
            </a:r>
            <a:r>
              <a:rPr lang="pt-BR" dirty="0" smtClean="0"/>
              <a:t> que este color se representa </a:t>
            </a:r>
            <a:r>
              <a:rPr lang="pt-BR" dirty="0" err="1" smtClean="0"/>
              <a:t>con</a:t>
            </a:r>
            <a:r>
              <a:rPr lang="pt-BR" dirty="0" smtClean="0"/>
              <a:t> B, </a:t>
            </a:r>
            <a:r>
              <a:rPr lang="pt-BR" dirty="0" err="1" smtClean="0"/>
              <a:t>en</a:t>
            </a:r>
            <a:r>
              <a:rPr lang="pt-BR" dirty="0" smtClean="0"/>
              <a:t> vez de </a:t>
            </a:r>
            <a:r>
              <a:rPr lang="pt-BR" dirty="0" err="1" smtClean="0"/>
              <a:t>tener</a:t>
            </a:r>
            <a:r>
              <a:rPr lang="pt-BR" dirty="0" smtClean="0"/>
              <a:t> B, B, B, B, B, B, B, B, B, B, vamos a </a:t>
            </a:r>
            <a:r>
              <a:rPr lang="pt-BR" dirty="0" err="1" smtClean="0"/>
              <a:t>tener</a:t>
            </a:r>
            <a:r>
              <a:rPr lang="pt-BR" dirty="0" smtClean="0"/>
              <a:t> 10B.</a:t>
            </a:r>
            <a:endParaRPr lang="pt-BR" dirty="0"/>
          </a:p>
        </p:txBody>
      </p:sp>
      <p:sp>
        <p:nvSpPr>
          <p:cNvPr id="4" name="CuadroTexto 3"/>
          <p:cNvSpPr txBox="1"/>
          <p:nvPr/>
        </p:nvSpPr>
        <p:spPr>
          <a:xfrm>
            <a:off x="6206834" y="3261663"/>
            <a:ext cx="5359331" cy="2462213"/>
          </a:xfrm>
          <a:prstGeom prst="rect">
            <a:avLst/>
          </a:prstGeom>
          <a:noFill/>
        </p:spPr>
        <p:txBody>
          <a:bodyPr wrap="square" rtlCol="0">
            <a:spAutoFit/>
          </a:bodyPr>
          <a:lstStyle/>
          <a:p>
            <a:pPr algn="just"/>
            <a:r>
              <a:rPr lang="es-CO" b="1" u="sng" dirty="0" smtClean="0"/>
              <a:t>Codificación de </a:t>
            </a:r>
            <a:r>
              <a:rPr lang="es-CO" b="1" u="sng" dirty="0" err="1" smtClean="0"/>
              <a:t>Huffman</a:t>
            </a:r>
            <a:r>
              <a:rPr lang="es-CO" b="1" u="sng" dirty="0" smtClean="0"/>
              <a:t>:</a:t>
            </a:r>
            <a:r>
              <a:rPr lang="es-CO" dirty="0" smtClean="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smtClean="0"/>
              <a:t>Finalmente se crea un diccionario en donde se guarda el carácter con el código de la ruta de 0 y 1 hasta llegar a este, dejando así al de mayor frecuencia con un código de 0 (el menor de todos).</a:t>
            </a:r>
            <a:endParaRPr lang="es-CO" dirty="0"/>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76637" y="3147232"/>
            <a:ext cx="2689872" cy="2524057"/>
          </a:xfrm>
          <a:prstGeom prst="rect">
            <a:avLst/>
          </a:prstGeom>
        </p:spPr>
      </p:pic>
      <p:sp>
        <p:nvSpPr>
          <p:cNvPr id="6" name="CuadroTexto 5"/>
          <p:cNvSpPr txBox="1"/>
          <p:nvPr/>
        </p:nvSpPr>
        <p:spPr>
          <a:xfrm>
            <a:off x="436418" y="3293541"/>
            <a:ext cx="1551709" cy="523220"/>
          </a:xfrm>
          <a:prstGeom prst="rect">
            <a:avLst/>
          </a:prstGeom>
          <a:noFill/>
          <a:ln>
            <a:solidFill>
              <a:schemeClr val="accent5">
                <a:lumMod val="75000"/>
              </a:schemeClr>
            </a:solidFill>
          </a:ln>
        </p:spPr>
        <p:txBody>
          <a:bodyPr wrap="square" rtlCol="0">
            <a:spAutoFit/>
          </a:bodyPr>
          <a:lstStyle/>
          <a:p>
            <a:pPr algn="ctr"/>
            <a:r>
              <a:rPr lang="es-CO" dirty="0" smtClean="0"/>
              <a:t>WWWBBWWW</a:t>
            </a:r>
          </a:p>
          <a:p>
            <a:pPr algn="ctr"/>
            <a:r>
              <a:rPr lang="es-CO" dirty="0" smtClean="0"/>
              <a:t>WWBBBBWW</a:t>
            </a:r>
            <a:endParaRPr lang="es-CO" dirty="0"/>
          </a:p>
        </p:txBody>
      </p:sp>
      <p:sp>
        <p:nvSpPr>
          <p:cNvPr id="11" name="CuadroTexto 10"/>
          <p:cNvSpPr txBox="1"/>
          <p:nvPr/>
        </p:nvSpPr>
        <p:spPr>
          <a:xfrm>
            <a:off x="593655" y="4548332"/>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smtClean="0"/>
              <a:t>3W2B3W</a:t>
            </a:r>
          </a:p>
          <a:p>
            <a:pPr algn="ctr"/>
            <a:r>
              <a:rPr lang="es-CO" dirty="0" smtClean="0"/>
              <a:t>2W4B2W</a:t>
            </a:r>
          </a:p>
          <a:p>
            <a:pPr algn="ctr"/>
            <a:endParaRPr lang="es-CO" dirty="0"/>
          </a:p>
          <a:p>
            <a:pPr algn="ctr"/>
            <a:r>
              <a:rPr lang="es-CO" dirty="0" smtClean="0"/>
              <a:t>3,2,3</a:t>
            </a:r>
          </a:p>
          <a:p>
            <a:pPr algn="ctr"/>
            <a:r>
              <a:rPr lang="es-CO" dirty="0" smtClean="0"/>
              <a:t>2.4.2</a:t>
            </a:r>
            <a:endParaRPr lang="es-CO" dirty="0"/>
          </a:p>
        </p:txBody>
      </p:sp>
      <p:sp>
        <p:nvSpPr>
          <p:cNvPr id="7" name="Flecha abajo 6"/>
          <p:cNvSpPr/>
          <p:nvPr/>
        </p:nvSpPr>
        <p:spPr>
          <a:xfrm>
            <a:off x="1184903" y="3973008"/>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142946" y="3532291"/>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87918" y="3225777"/>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571404" y="885662"/>
            <a:ext cx="2252555" cy="2183815"/>
          </a:xfrm>
          <a:prstGeom prst="rect">
            <a:avLst/>
          </a:prstGeom>
        </p:spPr>
      </p:pic>
      <p:sp>
        <p:nvSpPr>
          <p:cNvPr id="16" name="Flecha derecha 15"/>
          <p:cNvSpPr/>
          <p:nvPr/>
        </p:nvSpPr>
        <p:spPr>
          <a:xfrm>
            <a:off x="8803369" y="178782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728854" y="1264060"/>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931328" y="1592848"/>
            <a:ext cx="1634837" cy="769441"/>
          </a:xfrm>
          <a:prstGeom prst="rect">
            <a:avLst/>
          </a:prstGeom>
          <a:noFill/>
        </p:spPr>
        <p:txBody>
          <a:bodyPr wrap="square" rtlCol="0">
            <a:spAutoFit/>
          </a:bodyPr>
          <a:lstStyle/>
          <a:p>
            <a:pPr algn="just"/>
            <a:r>
              <a:rPr lang="es-CO" sz="1100" dirty="0" smtClean="0"/>
              <a:t>La letra con más frecuencia es la a, por ende tiene el código más pequeño.</a:t>
            </a:r>
            <a:endParaRPr lang="es-CO" sz="1100" dirty="0"/>
          </a:p>
        </p:txBody>
      </p:sp>
    </p:spTree>
    <p:extLst>
      <p:ext uri="{BB962C8B-B14F-4D97-AF65-F5344CB8AC3E}">
        <p14:creationId xmlns:p14="http://schemas.microsoft.com/office/powerpoint/2010/main" val="1750971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336083" y="1175085"/>
            <a:ext cx="5218608" cy="2031325"/>
          </a:xfrm>
          <a:prstGeom prst="rect">
            <a:avLst/>
          </a:prstGeom>
          <a:noFill/>
        </p:spPr>
        <p:txBody>
          <a:bodyPr wrap="square" rtlCol="0">
            <a:spAutoFit/>
          </a:bodyPr>
          <a:lstStyle/>
          <a:p>
            <a:pPr algn="just"/>
            <a:r>
              <a:rPr lang="es-CO" b="1" u="sng" dirty="0" smtClean="0"/>
              <a:t>DCT:</a:t>
            </a:r>
            <a:r>
              <a:rPr lang="es-CO" dirty="0" smtClean="0"/>
              <a:t> Es un proceso que utiliza la herramienta matemática de la </a:t>
            </a:r>
            <a:r>
              <a:rPr lang="es-CO" i="1" dirty="0" smtClean="0"/>
              <a:t>transformada discreta de coseno</a:t>
            </a:r>
            <a:r>
              <a:rPr lang="es-CO" dirty="0" smtClean="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493380" y="4277712"/>
            <a:ext cx="5048438" cy="1384995"/>
          </a:xfrm>
          <a:prstGeom prst="rect">
            <a:avLst/>
          </a:prstGeom>
          <a:noFill/>
        </p:spPr>
        <p:txBody>
          <a:bodyPr wrap="square" rtlCol="0">
            <a:spAutoFit/>
          </a:bodyPr>
          <a:lstStyle/>
          <a:p>
            <a:pPr algn="just"/>
            <a:r>
              <a:rPr lang="es-CO" b="1" u="sng" dirty="0" smtClean="0"/>
              <a:t>Compresión fractal: </a:t>
            </a:r>
            <a:r>
              <a:rPr lang="es-CO" dirty="0" smtClean="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endParaRPr lang="es-CO"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a:t>
            </a:r>
            <a:r>
              <a:rPr lang="es-CO" sz="2200" b="1" dirty="0" err="1" smtClean="0">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9403" y="2761712"/>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94122" y="1145769"/>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034325" y="3704383"/>
            <a:ext cx="3822123" cy="1895224"/>
          </a:xfrm>
          <a:prstGeom prst="rect">
            <a:avLst/>
          </a:prstGeom>
        </p:spPr>
      </p:pic>
    </p:spTree>
    <p:extLst>
      <p:ext uri="{BB962C8B-B14F-4D97-AF65-F5344CB8AC3E}">
        <p14:creationId xmlns:p14="http://schemas.microsoft.com/office/powerpoint/2010/main" val="10044469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543</TotalTime>
  <Words>524</Words>
  <Application>Microsoft Office PowerPoint</Application>
  <PresentationFormat>Panorámica</PresentationFormat>
  <Paragraphs>35</Paragraphs>
  <Slides>6</Slides>
  <Notes>6</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6</vt:i4>
      </vt:variant>
    </vt:vector>
  </HeadingPairs>
  <TitlesOfParts>
    <vt:vector size="11"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22</cp:revision>
  <dcterms:created xsi:type="dcterms:W3CDTF">2020-06-26T14:36:07Z</dcterms:created>
  <dcterms:modified xsi:type="dcterms:W3CDTF">2021-11-07T04:59:51Z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