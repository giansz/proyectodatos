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Lst>
  <p:notesMasterIdLst>
    <p:notesMasterId r:id="rId15"/>
  </p:notesMasterIdLst>
  <p:sldIdLst>
    <p:sldId id="256" r:id="rId3"/>
    <p:sldId id="257" r:id="rId4"/>
    <p:sldId id="258" r:id="rId5"/>
    <p:sldId id="259" r:id="rId6"/>
    <p:sldId id="260" r:id="rId7"/>
    <p:sldId id="261" r:id="rId8"/>
    <p:sldId id="271" r:id="rId9"/>
    <p:sldId id="273" r:id="rId10"/>
    <p:sldId id="264" r:id="rId11"/>
    <p:sldId id="265" r:id="rId12"/>
    <p:sldId id="274" r:id="rId13"/>
    <p:sldId id="266" r:id="rId14"/>
  </p:sldIdLst>
  <p:sldSz cx="12192000" cy="6858000"/>
  <p:notesSz cx="7772400" cy="10058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jHzTg+goWcQk8fO5It0l+0ng5K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289BA7-0477-4DA3-BF64-564EF7BB6FF7}">
  <a:tblStyle styleId="{AC289BA7-0477-4DA3-BF64-564EF7BB6FF7}"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9" d="100"/>
          <a:sy n="79" d="100"/>
        </p:scale>
        <p:origin x="39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3" Type="http://schemas.openxmlformats.org/officeDocument/2006/relationships/slide" Target="slides/slide1.xml"/><Relationship Id="rId21" Type="http://customschemas.google.com/relationships/presentationmetadata" Target="metadata"/><Relationship Id="rId7" Type="http://schemas.openxmlformats.org/officeDocument/2006/relationships/slide" Target="slides/slide5.xml"/><Relationship Id="rId12" Type="http://schemas.openxmlformats.org/officeDocument/2006/relationships/slide" Target="slides/slide10.xml"/><Relationship Id="rId25"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notesMaster" Target="notesMasters/notesMaster1.xml"/><Relationship Id="rId23"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95650" y="754375"/>
            <a:ext cx="518185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7" name="Google Shape;187;p1: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91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537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17902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2878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82519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66654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45567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606908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97745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023967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1"/>
        <p:cNvGrpSpPr/>
        <p:nvPr/>
      </p:nvGrpSpPr>
      <p:grpSpPr>
        <a:xfrm>
          <a:off x="0" y="0"/>
          <a:ext cx="0" cy="0"/>
          <a:chOff x="0" y="0"/>
          <a:chExt cx="0" cy="0"/>
        </a:xfrm>
      </p:grpSpPr>
      <p:sp>
        <p:nvSpPr>
          <p:cNvPr id="12" name="Google Shape;12;p1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14"/>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
        <p:cNvGrpSpPr/>
        <p:nvPr/>
      </p:nvGrpSpPr>
      <p:grpSpPr>
        <a:xfrm>
          <a:off x="0" y="0"/>
          <a:ext cx="0" cy="0"/>
          <a:chOff x="0" y="0"/>
          <a:chExt cx="0" cy="0"/>
        </a:xfrm>
      </p:grpSpPr>
      <p:sp>
        <p:nvSpPr>
          <p:cNvPr id="16" name="Google Shape;16;p4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42"/>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8"/>
        <p:cNvGrpSpPr/>
        <p:nvPr/>
      </p:nvGrpSpPr>
      <p:grpSpPr>
        <a:xfrm>
          <a:off x="0" y="0"/>
          <a:ext cx="0" cy="0"/>
          <a:chOff x="0" y="0"/>
          <a:chExt cx="0" cy="0"/>
        </a:xfrm>
      </p:grpSpPr>
      <p:sp>
        <p:nvSpPr>
          <p:cNvPr id="19" name="Google Shape;19;p4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43"/>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1" name="Google Shape;21;p43"/>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
        <p:cNvGrpSpPr/>
        <p:nvPr/>
      </p:nvGrpSpPr>
      <p:grpSpPr>
        <a:xfrm>
          <a:off x="0" y="0"/>
          <a:ext cx="0" cy="0"/>
          <a:chOff x="0" y="0"/>
          <a:chExt cx="0" cy="0"/>
        </a:xfrm>
      </p:grpSpPr>
      <p:sp>
        <p:nvSpPr>
          <p:cNvPr id="23" name="Google Shape;23;p4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4"/>
        <p:cNvGrpSpPr/>
        <p:nvPr/>
      </p:nvGrpSpPr>
      <p:grpSpPr>
        <a:xfrm>
          <a:off x="0" y="0"/>
          <a:ext cx="0" cy="0"/>
          <a:chOff x="0" y="0"/>
          <a:chExt cx="0" cy="0"/>
        </a:xfrm>
      </p:grpSpPr>
      <p:sp>
        <p:nvSpPr>
          <p:cNvPr id="25" name="Google Shape;25;p45"/>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6"/>
        <p:cNvGrpSpPr/>
        <p:nvPr/>
      </p:nvGrpSpPr>
      <p:grpSpPr>
        <a:xfrm>
          <a:off x="0" y="0"/>
          <a:ext cx="0" cy="0"/>
          <a:chOff x="0" y="0"/>
          <a:chExt cx="0" cy="0"/>
        </a:xfrm>
      </p:grpSpPr>
      <p:sp>
        <p:nvSpPr>
          <p:cNvPr id="27" name="Google Shape;27;p4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9" name="Google Shape;29;p46"/>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0" name="Google Shape;30;p46"/>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1"/>
        <p:cNvGrpSpPr/>
        <p:nvPr/>
      </p:nvGrpSpPr>
      <p:grpSpPr>
        <a:xfrm>
          <a:off x="0" y="0"/>
          <a:ext cx="0" cy="0"/>
          <a:chOff x="0" y="0"/>
          <a:chExt cx="0" cy="0"/>
        </a:xfrm>
      </p:grpSpPr>
      <p:sp>
        <p:nvSpPr>
          <p:cNvPr id="32" name="Google Shape;32;p4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47"/>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4" name="Google Shape;34;p4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5" name="Google Shape;35;p47"/>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6"/>
        <p:cNvGrpSpPr/>
        <p:nvPr/>
      </p:nvGrpSpPr>
      <p:grpSpPr>
        <a:xfrm>
          <a:off x="0" y="0"/>
          <a:ext cx="0" cy="0"/>
          <a:chOff x="0" y="0"/>
          <a:chExt cx="0" cy="0"/>
        </a:xfrm>
      </p:grpSpPr>
      <p:sp>
        <p:nvSpPr>
          <p:cNvPr id="37" name="Google Shape;37;p4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48"/>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9" name="Google Shape;39;p48"/>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0" name="Google Shape;40;p48"/>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1"/>
        <p:cNvGrpSpPr/>
        <p:nvPr/>
      </p:nvGrpSpPr>
      <p:grpSpPr>
        <a:xfrm>
          <a:off x="0" y="0"/>
          <a:ext cx="0" cy="0"/>
          <a:chOff x="0" y="0"/>
          <a:chExt cx="0" cy="0"/>
        </a:xfrm>
      </p:grpSpPr>
      <p:sp>
        <p:nvSpPr>
          <p:cNvPr id="42" name="Google Shape;42;p4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49"/>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4" name="Google Shape;44;p49"/>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5"/>
        <p:cNvGrpSpPr/>
        <p:nvPr/>
      </p:nvGrpSpPr>
      <p:grpSpPr>
        <a:xfrm>
          <a:off x="0" y="0"/>
          <a:ext cx="0" cy="0"/>
          <a:chOff x="0" y="0"/>
          <a:chExt cx="0" cy="0"/>
        </a:xfrm>
      </p:grpSpPr>
      <p:sp>
        <p:nvSpPr>
          <p:cNvPr id="46" name="Google Shape;46;p5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50"/>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8" name="Google Shape;48;p50"/>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9" name="Google Shape;49;p50"/>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0" name="Google Shape;50;p50"/>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1"/>
        <p:cNvGrpSpPr/>
        <p:nvPr/>
      </p:nvGrpSpPr>
      <p:grpSpPr>
        <a:xfrm>
          <a:off x="0" y="0"/>
          <a:ext cx="0" cy="0"/>
          <a:chOff x="0" y="0"/>
          <a:chExt cx="0" cy="0"/>
        </a:xfrm>
      </p:grpSpPr>
      <p:sp>
        <p:nvSpPr>
          <p:cNvPr id="52" name="Google Shape;52;p5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51"/>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4" name="Google Shape;54;p51"/>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5" name="Google Shape;55;p51"/>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6" name="Google Shape;56;p51"/>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7" name="Google Shape;57;p51"/>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8" name="Google Shape;58;p51"/>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62"/>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3"/>
        <p:cNvGrpSpPr/>
        <p:nvPr/>
      </p:nvGrpSpPr>
      <p:grpSpPr>
        <a:xfrm>
          <a:off x="0" y="0"/>
          <a:ext cx="0" cy="0"/>
          <a:chOff x="0" y="0"/>
          <a:chExt cx="0" cy="0"/>
        </a:xfrm>
      </p:grpSpPr>
      <p:sp>
        <p:nvSpPr>
          <p:cNvPr id="74" name="Google Shape;74;p3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75"/>
        <p:cNvGrpSpPr/>
        <p:nvPr/>
      </p:nvGrpSpPr>
      <p:grpSpPr>
        <a:xfrm>
          <a:off x="0" y="0"/>
          <a:ext cx="0" cy="0"/>
          <a:chOff x="0" y="0"/>
          <a:chExt cx="0" cy="0"/>
        </a:xfrm>
      </p:grpSpPr>
      <p:sp>
        <p:nvSpPr>
          <p:cNvPr id="76" name="Google Shape;76;p34"/>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77"/>
        <p:cNvGrpSpPr/>
        <p:nvPr/>
      </p:nvGrpSpPr>
      <p:grpSpPr>
        <a:xfrm>
          <a:off x="0" y="0"/>
          <a:ext cx="0" cy="0"/>
          <a:chOff x="0" y="0"/>
          <a:chExt cx="0" cy="0"/>
        </a:xfrm>
      </p:grpSpPr>
      <p:sp>
        <p:nvSpPr>
          <p:cNvPr id="78" name="Google Shape;78;p35"/>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3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0" name="Google Shape;80;p35"/>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1" name="Google Shape;81;p35"/>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82"/>
        <p:cNvGrpSpPr/>
        <p:nvPr/>
      </p:nvGrpSpPr>
      <p:grpSpPr>
        <a:xfrm>
          <a:off x="0" y="0"/>
          <a:ext cx="0" cy="0"/>
          <a:chOff x="0" y="0"/>
          <a:chExt cx="0" cy="0"/>
        </a:xfrm>
      </p:grpSpPr>
      <p:sp>
        <p:nvSpPr>
          <p:cNvPr id="83" name="Google Shape;83;p3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36"/>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5" name="Google Shape;85;p3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6" name="Google Shape;86;p36"/>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87"/>
        <p:cNvGrpSpPr/>
        <p:nvPr/>
      </p:nvGrpSpPr>
      <p:grpSpPr>
        <a:xfrm>
          <a:off x="0" y="0"/>
          <a:ext cx="0" cy="0"/>
          <a:chOff x="0" y="0"/>
          <a:chExt cx="0" cy="0"/>
        </a:xfrm>
      </p:grpSpPr>
      <p:sp>
        <p:nvSpPr>
          <p:cNvPr id="88" name="Google Shape;88;p3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37"/>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0" name="Google Shape;90;p3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1" name="Google Shape;91;p37"/>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92"/>
        <p:cNvGrpSpPr/>
        <p:nvPr/>
      </p:nvGrpSpPr>
      <p:grpSpPr>
        <a:xfrm>
          <a:off x="0" y="0"/>
          <a:ext cx="0" cy="0"/>
          <a:chOff x="0" y="0"/>
          <a:chExt cx="0" cy="0"/>
        </a:xfrm>
      </p:grpSpPr>
      <p:sp>
        <p:nvSpPr>
          <p:cNvPr id="93" name="Google Shape;93;p3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38"/>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5" name="Google Shape;95;p38"/>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96"/>
        <p:cNvGrpSpPr/>
        <p:nvPr/>
      </p:nvGrpSpPr>
      <p:grpSpPr>
        <a:xfrm>
          <a:off x="0" y="0"/>
          <a:ext cx="0" cy="0"/>
          <a:chOff x="0" y="0"/>
          <a:chExt cx="0" cy="0"/>
        </a:xfrm>
      </p:grpSpPr>
      <p:sp>
        <p:nvSpPr>
          <p:cNvPr id="97" name="Google Shape;97;p3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8" name="Google Shape;98;p39"/>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9" name="Google Shape;99;p39"/>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0" name="Google Shape;100;p39"/>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1" name="Google Shape;101;p39"/>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02"/>
        <p:cNvGrpSpPr/>
        <p:nvPr/>
      </p:nvGrpSpPr>
      <p:grpSpPr>
        <a:xfrm>
          <a:off x="0" y="0"/>
          <a:ext cx="0" cy="0"/>
          <a:chOff x="0" y="0"/>
          <a:chExt cx="0" cy="0"/>
        </a:xfrm>
      </p:grpSpPr>
      <p:sp>
        <p:nvSpPr>
          <p:cNvPr id="103" name="Google Shape;103;p4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40"/>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5" name="Google Shape;105;p40"/>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6" name="Google Shape;106;p40"/>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7" name="Google Shape;107;p40"/>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8" name="Google Shape;108;p40"/>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9" name="Google Shape;109;p40"/>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10" Type="http://schemas.openxmlformats.org/officeDocument/2006/relationships/theme" Target="../theme/theme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1523880" y="1122480"/>
            <a:ext cx="9143640" cy="238716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dt" idx="10"/>
          </p:nvPr>
        </p:nvSpPr>
        <p:spPr>
          <a:xfrm>
            <a:off x="838080" y="6356520"/>
            <a:ext cx="27428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 name="Google Shape;8;p13"/>
          <p:cNvSpPr txBox="1">
            <a:spLocks noGrp="1"/>
          </p:cNvSpPr>
          <p:nvPr>
            <p:ph type="ftr" idx="11"/>
          </p:nvPr>
        </p:nvSpPr>
        <p:spPr>
          <a:xfrm>
            <a:off x="4038480" y="6356520"/>
            <a:ext cx="41144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9" name="Google Shape;9;p13"/>
          <p:cNvSpPr txBox="1">
            <a:spLocks noGrp="1"/>
          </p:cNvSpPr>
          <p:nvPr>
            <p:ph type="sldNum" idx="12"/>
          </p:nvPr>
        </p:nvSpPr>
        <p:spPr>
          <a:xfrm>
            <a:off x="8610480" y="6356520"/>
            <a:ext cx="2742840" cy="36468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solidFill>
                <a:srgbClr val="000000"/>
              </a:solidFill>
              <a:latin typeface="Times New Roman"/>
              <a:ea typeface="Times New Roman"/>
              <a:cs typeface="Times New Roman"/>
              <a:sym typeface="Times New Roman"/>
            </a:endParaRPr>
          </a:p>
        </p:txBody>
      </p:sp>
      <p:sp>
        <p:nvSpPr>
          <p:cNvPr id="10" name="Google Shape;10;p13"/>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5"/>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3.pn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8.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1.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5.jpe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3.png"/><Relationship Id="rId7"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6.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3.png"/><Relationship Id="rId5" Type="http://schemas.openxmlformats.org/officeDocument/2006/relationships/hyperlink" Target="https://www.youtube.com/watch?v=jKCQsndqEGQ&amp;ab_channel=3Blue1BrownEspa%C3%B1ol" TargetMode="External"/><Relationship Id="rId4" Type="http://schemas.openxmlformats.org/officeDocument/2006/relationships/hyperlink" Target="http://github.com/"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jpe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20.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hyperlink" Target="https://github.com/mauriciotoro/ST0245-Eafit/tree/master/proyecto/datasets/csv/paraEntrenarYProbarLaIA" TargetMode="External"/><Relationship Id="rId5" Type="http://schemas.openxmlformats.org/officeDocument/2006/relationships/hyperlink" Target="http://github.com/" TargetMode="Externa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pic>
        <p:nvPicPr>
          <p:cNvPr id="189" name="Google Shape;189;p1" descr="Cómo sería un mundo sin ganadería industrial? | Igualdad Animal México"/>
          <p:cNvPicPr preferRelativeResize="0"/>
          <p:nvPr/>
        </p:nvPicPr>
        <p:blipFill rotWithShape="1">
          <a:blip r:embed="rId3">
            <a:alphaModFix/>
          </a:blip>
          <a:srcRect l="39100" r="1572"/>
          <a:stretch/>
        </p:blipFill>
        <p:spPr>
          <a:xfrm>
            <a:off x="-51120" y="-8640"/>
            <a:ext cx="12254040" cy="6881400"/>
          </a:xfrm>
          <a:prstGeom prst="rect">
            <a:avLst/>
          </a:prstGeom>
          <a:noFill/>
          <a:ln>
            <a:noFill/>
          </a:ln>
        </p:spPr>
      </p:pic>
      <p:sp>
        <p:nvSpPr>
          <p:cNvPr id="190" name="Google Shape;190;p1"/>
          <p:cNvSpPr/>
          <p:nvPr/>
        </p:nvSpPr>
        <p:spPr>
          <a:xfrm>
            <a:off x="1624860" y="0"/>
            <a:ext cx="10580400" cy="6881400"/>
          </a:xfrm>
          <a:prstGeom prst="rect">
            <a:avLst/>
          </a:prstGeom>
          <a:gradFill>
            <a:gsLst>
              <a:gs pos="0">
                <a:srgbClr val="FFFFFF"/>
              </a:gs>
              <a:gs pos="49000">
                <a:srgbClr val="FFFFFF"/>
              </a:gs>
              <a:gs pos="100000">
                <a:srgbClr val="FFFFFF">
                  <a:alpha val="0"/>
                </a:srgbClr>
              </a:gs>
            </a:gsLst>
            <a:lin ang="10800000"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1" name="Google Shape;191;p1"/>
          <p:cNvPicPr preferRelativeResize="0"/>
          <p:nvPr/>
        </p:nvPicPr>
        <p:blipFill rotWithShape="1">
          <a:blip r:embed="rId4">
            <a:alphaModFix/>
          </a:blip>
          <a:srcRect t="78334"/>
          <a:stretch/>
        </p:blipFill>
        <p:spPr>
          <a:xfrm>
            <a:off x="14760" y="5390280"/>
            <a:ext cx="12192840" cy="1483200"/>
          </a:xfrm>
          <a:prstGeom prst="rect">
            <a:avLst/>
          </a:prstGeom>
          <a:noFill/>
          <a:ln>
            <a:noFill/>
          </a:ln>
        </p:spPr>
      </p:pic>
      <p:sp>
        <p:nvSpPr>
          <p:cNvPr id="7" name="Google Shape;192;p1"/>
          <p:cNvSpPr txBox="1"/>
          <p:nvPr/>
        </p:nvSpPr>
        <p:spPr>
          <a:xfrm>
            <a:off x="5764418" y="2153018"/>
            <a:ext cx="6145920" cy="1633680"/>
          </a:xfrm>
          <a:prstGeom prst="rect">
            <a:avLst/>
          </a:prstGeom>
          <a:noFill/>
          <a:ln>
            <a:noFill/>
          </a:ln>
        </p:spPr>
        <p:txBody>
          <a:bodyPr spcFirstLastPara="1" wrap="square" lIns="91425" tIns="45700" rIns="91425" bIns="45700" anchor="b" anchorCtr="0">
            <a:noAutofit/>
          </a:bodyPr>
          <a:lstStyle/>
          <a:p>
            <a:pPr marL="0" marR="0" lvl="0" indent="0" algn="r" rtl="0">
              <a:lnSpc>
                <a:spcPct val="90000"/>
              </a:lnSpc>
              <a:spcBef>
                <a:spcPts val="0"/>
              </a:spcBef>
              <a:spcAft>
                <a:spcPts val="0"/>
              </a:spcAft>
              <a:buClr>
                <a:srgbClr val="000000"/>
              </a:buClr>
              <a:buSzPts val="3600"/>
              <a:buFont typeface="Arial"/>
              <a:buNone/>
            </a:pPr>
            <a:r>
              <a:rPr lang="es-CO" sz="3600" b="1" i="0" u="none" strike="noStrike" cap="none" dirty="0">
                <a:solidFill>
                  <a:srgbClr val="000000"/>
                </a:solidFill>
                <a:latin typeface="Arial"/>
                <a:ea typeface="Arial"/>
                <a:cs typeface="Arial"/>
                <a:sym typeface="Arial"/>
              </a:rPr>
              <a:t>Investigación para la compresión de datos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0"/>
            <a:ext cx="12196080" cy="6855840"/>
          </a:xfrm>
          <a:prstGeom prst="rect">
            <a:avLst/>
          </a:prstGeom>
          <a:noFill/>
          <a:ln>
            <a:noFill/>
          </a:ln>
        </p:spPr>
      </p:pic>
      <p:pic>
        <p:nvPicPr>
          <p:cNvPr id="21" name="Imagen 20"/>
          <p:cNvPicPr>
            <a:picLocks noChangeAspect="1"/>
          </p:cNvPicPr>
          <p:nvPr/>
        </p:nvPicPr>
        <p:blipFill>
          <a:blip r:embed="rId4">
            <a:extLst>
              <a:ext uri="{28A0092B-C50C-407E-A947-70E740481C1C}">
                <a14:useLocalDpi xmlns:a14="http://schemas.microsoft.com/office/drawing/2010/main" val="0"/>
              </a:ext>
            </a:extLst>
          </a:blip>
          <a:srcRect l="1803" t="9536" r="2030" b="17301"/>
          <a:stretch>
            <a:fillRect/>
          </a:stretch>
        </p:blipFill>
        <p:spPr>
          <a:xfrm>
            <a:off x="3556986" y="1687614"/>
            <a:ext cx="2310802" cy="2347986"/>
          </a:xfrm>
          <a:custGeom>
            <a:avLst/>
            <a:gdLst>
              <a:gd name="connsiteX0" fmla="*/ 1439917 w 2879834"/>
              <a:gd name="connsiteY0" fmla="*/ 0 h 2926174"/>
              <a:gd name="connsiteX1" fmla="*/ 2879834 w 2879834"/>
              <a:gd name="connsiteY1" fmla="*/ 1463087 h 2926174"/>
              <a:gd name="connsiteX2" fmla="*/ 1439917 w 2879834"/>
              <a:gd name="connsiteY2" fmla="*/ 2926174 h 2926174"/>
              <a:gd name="connsiteX3" fmla="*/ 0 w 2879834"/>
              <a:gd name="connsiteY3" fmla="*/ 1463087 h 2926174"/>
              <a:gd name="connsiteX4" fmla="*/ 1439917 w 2879834"/>
              <a:gd name="connsiteY4" fmla="*/ 0 h 292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9834" h="2926174">
                <a:moveTo>
                  <a:pt x="1439917" y="0"/>
                </a:moveTo>
                <a:cubicBezTo>
                  <a:pt x="2235161" y="0"/>
                  <a:pt x="2879834" y="655046"/>
                  <a:pt x="2879834" y="1463087"/>
                </a:cubicBezTo>
                <a:cubicBezTo>
                  <a:pt x="2879834" y="2271128"/>
                  <a:pt x="2235161" y="2926174"/>
                  <a:pt x="1439917" y="2926174"/>
                </a:cubicBezTo>
                <a:cubicBezTo>
                  <a:pt x="644673" y="2926174"/>
                  <a:pt x="0" y="2271128"/>
                  <a:pt x="0" y="1463087"/>
                </a:cubicBezTo>
                <a:cubicBezTo>
                  <a:pt x="0" y="655046"/>
                  <a:pt x="644673" y="0"/>
                  <a:pt x="1439917" y="0"/>
                </a:cubicBezTo>
                <a:close/>
              </a:path>
            </a:pathLst>
          </a:custGeom>
        </p:spPr>
      </p:pic>
      <p:sp>
        <p:nvSpPr>
          <p:cNvPr id="200" name="Google Shape;200;p2"/>
          <p:cNvSpPr/>
          <p:nvPr/>
        </p:nvSpPr>
        <p:spPr>
          <a:xfrm>
            <a:off x="265328" y="376925"/>
            <a:ext cx="4375800"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i="0" u="none" strike="noStrike" cap="none" dirty="0">
                <a:solidFill>
                  <a:srgbClr val="FFFFFF"/>
                </a:solidFill>
                <a:latin typeface="Arial"/>
                <a:ea typeface="Arial"/>
                <a:cs typeface="Arial"/>
                <a:sym typeface="Arial"/>
              </a:rPr>
              <a:t>Presentación del equipo</a:t>
            </a:r>
            <a:endParaRPr lang="es-CO" sz="2200" b="0" i="0" u="none" strike="noStrike" cap="none" dirty="0">
              <a:solidFill>
                <a:srgbClr val="000000"/>
              </a:solidFill>
              <a:latin typeface="Arial"/>
              <a:ea typeface="Arial"/>
              <a:cs typeface="Arial"/>
              <a:sym typeface="Arial"/>
            </a:endParaRPr>
          </a:p>
        </p:txBody>
      </p:sp>
      <p:sp>
        <p:nvSpPr>
          <p:cNvPr id="209" name="Google Shape;209;p2"/>
          <p:cNvSpPr/>
          <p:nvPr/>
        </p:nvSpPr>
        <p:spPr>
          <a:xfrm>
            <a:off x="3551040" y="4180680"/>
            <a:ext cx="2192760" cy="1106542"/>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s-CO" sz="2200" b="0" i="0" u="none" strike="noStrike" cap="none" dirty="0">
                <a:solidFill>
                  <a:srgbClr val="001E33"/>
                </a:solidFill>
                <a:latin typeface="Arial"/>
                <a:ea typeface="Arial"/>
                <a:cs typeface="Arial"/>
                <a:sym typeface="Arial"/>
              </a:rPr>
              <a:t>Juan Felipe Pinzón</a:t>
            </a:r>
            <a:endParaRPr sz="22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endParaRPr sz="2200" b="0" i="0" u="none" strike="noStrike" cap="none" dirty="0">
              <a:solidFill>
                <a:srgbClr val="000000"/>
              </a:solidFill>
              <a:latin typeface="Arial"/>
              <a:ea typeface="Arial"/>
              <a:cs typeface="Arial"/>
              <a:sym typeface="Arial"/>
            </a:endParaRPr>
          </a:p>
        </p:txBody>
      </p:sp>
      <p:sp>
        <p:nvSpPr>
          <p:cNvPr id="210" name="Google Shape;210;p2"/>
          <p:cNvSpPr/>
          <p:nvPr/>
        </p:nvSpPr>
        <p:spPr>
          <a:xfrm>
            <a:off x="635040" y="4180680"/>
            <a:ext cx="2192760" cy="767987"/>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0" i="0" u="none" strike="noStrike" cap="none" dirty="0">
                <a:solidFill>
                  <a:srgbClr val="001E33"/>
                </a:solidFill>
                <a:latin typeface="Arial"/>
                <a:ea typeface="Arial"/>
                <a:cs typeface="Arial"/>
                <a:sym typeface="Arial"/>
              </a:rPr>
              <a:t>Gian Paul Sánchez</a:t>
            </a:r>
            <a:endParaRPr sz="2200" b="0" i="0" u="none" strike="noStrike" cap="none" dirty="0">
              <a:solidFill>
                <a:srgbClr val="000000"/>
              </a:solidFill>
              <a:latin typeface="Arial"/>
              <a:ea typeface="Arial"/>
              <a:cs typeface="Arial"/>
              <a:sym typeface="Arial"/>
            </a:endParaRPr>
          </a:p>
        </p:txBody>
      </p:sp>
      <p:pic>
        <p:nvPicPr>
          <p:cNvPr id="216" name="Google Shape;216;p2"/>
          <p:cNvPicPr preferRelativeResize="0"/>
          <p:nvPr/>
        </p:nvPicPr>
        <p:blipFill rotWithShape="1">
          <a:blip r:embed="rId5">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221" name="Google Shape;221;p2"/>
          <p:cNvSpPr/>
          <p:nvPr/>
        </p:nvSpPr>
        <p:spPr>
          <a:xfrm>
            <a:off x="6446651" y="4180675"/>
            <a:ext cx="2411100" cy="7599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dirty="0">
                <a:solidFill>
                  <a:srgbClr val="001E33"/>
                </a:solidFill>
              </a:rPr>
              <a:t>Maria Paula Ayala</a:t>
            </a:r>
            <a:endParaRPr sz="2200" b="0" i="0" u="none" strike="noStrike" cap="none" dirty="0">
              <a:solidFill>
                <a:srgbClr val="001E33"/>
              </a:solidFill>
              <a:latin typeface="Arial"/>
              <a:ea typeface="Arial"/>
              <a:cs typeface="Arial"/>
              <a:sym typeface="Arial"/>
            </a:endParaRPr>
          </a:p>
        </p:txBody>
      </p:sp>
      <p:pic>
        <p:nvPicPr>
          <p:cNvPr id="23" name="Imagen 22"/>
          <p:cNvPicPr>
            <a:picLocks noChangeAspect="1"/>
          </p:cNvPicPr>
          <p:nvPr/>
        </p:nvPicPr>
        <p:blipFill>
          <a:blip r:embed="rId7">
            <a:extLst>
              <a:ext uri="{28A0092B-C50C-407E-A947-70E740481C1C}">
                <a14:useLocalDpi xmlns:a14="http://schemas.microsoft.com/office/drawing/2010/main" val="0"/>
              </a:ext>
            </a:extLst>
          </a:blip>
          <a:srcRect t="6582" b="34338"/>
          <a:stretch>
            <a:fillRect/>
          </a:stretch>
        </p:blipFill>
        <p:spPr>
          <a:xfrm>
            <a:off x="6584146" y="1674147"/>
            <a:ext cx="2244188" cy="2357128"/>
          </a:xfrm>
          <a:custGeom>
            <a:avLst/>
            <a:gdLst>
              <a:gd name="connsiteX0" fmla="*/ 1155401 w 2244188"/>
              <a:gd name="connsiteY0" fmla="*/ 0 h 2357128"/>
              <a:gd name="connsiteX1" fmla="*/ 2220005 w 2244188"/>
              <a:gd name="connsiteY1" fmla="*/ 719814 h 2357128"/>
              <a:gd name="connsiteX2" fmla="*/ 2244188 w 2244188"/>
              <a:gd name="connsiteY2" fmla="*/ 787212 h 2357128"/>
              <a:gd name="connsiteX3" fmla="*/ 2244188 w 2244188"/>
              <a:gd name="connsiteY3" fmla="*/ 1569916 h 2357128"/>
              <a:gd name="connsiteX4" fmla="*/ 2220005 w 2244188"/>
              <a:gd name="connsiteY4" fmla="*/ 1637314 h 2357128"/>
              <a:gd name="connsiteX5" fmla="*/ 1155401 w 2244188"/>
              <a:gd name="connsiteY5" fmla="*/ 2357128 h 2357128"/>
              <a:gd name="connsiteX6" fmla="*/ 0 w 2244188"/>
              <a:gd name="connsiteY6" fmla="*/ 1178564 h 2357128"/>
              <a:gd name="connsiteX7" fmla="*/ 1155401 w 2244188"/>
              <a:gd name="connsiteY7" fmla="*/ 0 h 2357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44188" h="2357128">
                <a:moveTo>
                  <a:pt x="1155401" y="0"/>
                </a:moveTo>
                <a:cubicBezTo>
                  <a:pt x="1633984" y="0"/>
                  <a:pt x="2044605" y="296810"/>
                  <a:pt x="2220005" y="719814"/>
                </a:cubicBezTo>
                <a:lnTo>
                  <a:pt x="2244188" y="787212"/>
                </a:lnTo>
                <a:lnTo>
                  <a:pt x="2244188" y="1569916"/>
                </a:lnTo>
                <a:lnTo>
                  <a:pt x="2220005" y="1637314"/>
                </a:lnTo>
                <a:cubicBezTo>
                  <a:pt x="2044605" y="2060319"/>
                  <a:pt x="1633984" y="2357128"/>
                  <a:pt x="1155401" y="2357128"/>
                </a:cubicBezTo>
                <a:cubicBezTo>
                  <a:pt x="517291" y="2357128"/>
                  <a:pt x="0" y="1829467"/>
                  <a:pt x="0" y="1178564"/>
                </a:cubicBezTo>
                <a:cubicBezTo>
                  <a:pt x="0" y="527661"/>
                  <a:pt x="517291" y="0"/>
                  <a:pt x="1155401" y="0"/>
                </a:cubicBezTo>
                <a:close/>
              </a:path>
            </a:pathLst>
          </a:custGeom>
        </p:spPr>
      </p:pic>
      <p:pic>
        <p:nvPicPr>
          <p:cNvPr id="25" name="Imagen 24"/>
          <p:cNvPicPr>
            <a:picLocks noChangeAspect="1"/>
          </p:cNvPicPr>
          <p:nvPr/>
        </p:nvPicPr>
        <p:blipFill>
          <a:blip r:embed="rId8">
            <a:extLst>
              <a:ext uri="{28A0092B-C50C-407E-A947-70E740481C1C}">
                <a14:useLocalDpi xmlns:a14="http://schemas.microsoft.com/office/drawing/2010/main" val="0"/>
              </a:ext>
            </a:extLst>
          </a:blip>
          <a:srcRect l="5513" t="15984" r="12370" b="21195"/>
          <a:stretch>
            <a:fillRect/>
          </a:stretch>
        </p:blipFill>
        <p:spPr>
          <a:xfrm>
            <a:off x="529826" y="1678472"/>
            <a:ext cx="2310802" cy="2357128"/>
          </a:xfrm>
          <a:custGeom>
            <a:avLst/>
            <a:gdLst>
              <a:gd name="connsiteX0" fmla="*/ 1155401 w 2310802"/>
              <a:gd name="connsiteY0" fmla="*/ 0 h 2357128"/>
              <a:gd name="connsiteX1" fmla="*/ 2310802 w 2310802"/>
              <a:gd name="connsiteY1" fmla="*/ 1178564 h 2357128"/>
              <a:gd name="connsiteX2" fmla="*/ 1155401 w 2310802"/>
              <a:gd name="connsiteY2" fmla="*/ 2357128 h 2357128"/>
              <a:gd name="connsiteX3" fmla="*/ 0 w 2310802"/>
              <a:gd name="connsiteY3" fmla="*/ 1178564 h 2357128"/>
              <a:gd name="connsiteX4" fmla="*/ 1155401 w 2310802"/>
              <a:gd name="connsiteY4" fmla="*/ 0 h 2357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0802" h="2357128">
                <a:moveTo>
                  <a:pt x="1155401" y="0"/>
                </a:moveTo>
                <a:cubicBezTo>
                  <a:pt x="1793511" y="0"/>
                  <a:pt x="2310802" y="527661"/>
                  <a:pt x="2310802" y="1178564"/>
                </a:cubicBezTo>
                <a:cubicBezTo>
                  <a:pt x="2310802" y="1829467"/>
                  <a:pt x="1793511" y="2357128"/>
                  <a:pt x="1155401" y="2357128"/>
                </a:cubicBezTo>
                <a:cubicBezTo>
                  <a:pt x="517291" y="2357128"/>
                  <a:pt x="0" y="1829467"/>
                  <a:pt x="0" y="1178564"/>
                </a:cubicBezTo>
                <a:cubicBezTo>
                  <a:pt x="0" y="527661"/>
                  <a:pt x="517291" y="0"/>
                  <a:pt x="1155401" y="0"/>
                </a:cubicBezTo>
                <a:close/>
              </a:path>
            </a:pathLst>
          </a:cu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1434195" y="1288327"/>
            <a:ext cx="6981836" cy="523220"/>
          </a:xfrm>
          <a:prstGeom prst="rect">
            <a:avLst/>
          </a:prstGeom>
          <a:noFill/>
        </p:spPr>
        <p:txBody>
          <a:bodyPr wrap="square" rtlCol="0">
            <a:spAutoFit/>
          </a:bodyPr>
          <a:lstStyle/>
          <a:p>
            <a:r>
              <a:rPr lang="es-ES" sz="2800" b="1" i="0" dirty="0">
                <a:solidFill>
                  <a:srgbClr val="202122"/>
                </a:solidFill>
                <a:effectLst/>
                <a:latin typeface="Arial" panose="020B0604020202020204" pitchFamily="34" charset="0"/>
              </a:rPr>
              <a:t> Objetivo del trabajo</a:t>
            </a:r>
            <a:endParaRPr lang="es-CO" sz="2800" b="1" dirty="0"/>
          </a:p>
        </p:txBody>
      </p:sp>
      <p:pic>
        <p:nvPicPr>
          <p:cNvPr id="8" name="Imagen 7">
            <a:extLst>
              <a:ext uri="{FF2B5EF4-FFF2-40B4-BE49-F238E27FC236}">
                <a16:creationId xmlns:a16="http://schemas.microsoft.com/office/drawing/2014/main" id="{6302AEE5-E44D-479B-9421-9D7C551C75AD}"/>
              </a:ext>
            </a:extLst>
          </p:cNvPr>
          <p:cNvPicPr>
            <a:picLocks noChangeAspect="1"/>
          </p:cNvPicPr>
          <p:nvPr/>
        </p:nvPicPr>
        <p:blipFill>
          <a:blip r:embed="rId5"/>
          <a:stretch>
            <a:fillRect/>
          </a:stretch>
        </p:blipFill>
        <p:spPr>
          <a:xfrm>
            <a:off x="1341466" y="1979720"/>
            <a:ext cx="8494991" cy="3442112"/>
          </a:xfrm>
          <a:prstGeom prst="rect">
            <a:avLst/>
          </a:prstGeom>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Tree>
    <p:extLst>
      <p:ext uri="{BB962C8B-B14F-4D97-AF65-F5344CB8AC3E}">
        <p14:creationId xmlns:p14="http://schemas.microsoft.com/office/powerpoint/2010/main" val="23684435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7"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sp>
        <p:nvSpPr>
          <p:cNvPr id="5" name="Rectángulo redondeado 4"/>
          <p:cNvSpPr/>
          <p:nvPr/>
        </p:nvSpPr>
        <p:spPr>
          <a:xfrm>
            <a:off x="2165831" y="1281919"/>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2480352" y="1427292"/>
            <a:ext cx="7235376" cy="738664"/>
          </a:xfrm>
          <a:prstGeom prst="rect">
            <a:avLst/>
          </a:prstGeom>
          <a:noFill/>
        </p:spPr>
        <p:txBody>
          <a:bodyPr wrap="square" rtlCol="0">
            <a:spAutoFit/>
          </a:bodyPr>
          <a:lstStyle/>
          <a:p>
            <a:pPr algn="ctr"/>
            <a:r>
              <a:rPr lang="es-CO" dirty="0">
                <a:solidFill>
                  <a:schemeClr val="bg1"/>
                </a:solidFill>
              </a:rPr>
              <a:t>La compresión de imágenes es el proceso de reducir el tamaño de estas usando técnicas para simplificar la información redundante y así volverla más óptima para los objetivos que se tengan con esta.</a:t>
            </a:r>
          </a:p>
        </p:txBody>
      </p:sp>
      <p:sp>
        <p:nvSpPr>
          <p:cNvPr id="4" name="CuadroTexto 3"/>
          <p:cNvSpPr txBox="1"/>
          <p:nvPr/>
        </p:nvSpPr>
        <p:spPr>
          <a:xfrm>
            <a:off x="798802" y="3598173"/>
            <a:ext cx="4160129" cy="1815882"/>
          </a:xfrm>
          <a:prstGeom prst="rect">
            <a:avLst/>
          </a:prstGeom>
          <a:noFill/>
        </p:spPr>
        <p:txBody>
          <a:bodyPr wrap="square" rtlCol="0">
            <a:spAutoFit/>
          </a:bodyPr>
          <a:lstStyle/>
          <a:p>
            <a:pPr algn="ctr"/>
            <a:r>
              <a:rPr lang="es-CO" b="1" dirty="0"/>
              <a:t>Compresión</a:t>
            </a:r>
            <a:r>
              <a:rPr lang="pt-BR" b="1" dirty="0"/>
              <a:t> Lossy</a:t>
            </a:r>
          </a:p>
          <a:p>
            <a:pPr algn="ctr"/>
            <a:endParaRPr lang="pt-BR" b="1" dirty="0"/>
          </a:p>
          <a:p>
            <a:pPr algn="just"/>
            <a:r>
              <a:rPr lang="pt-BR" dirty="0"/>
              <a:t>Es un </a:t>
            </a:r>
            <a:r>
              <a:rPr lang="es-CO" dirty="0"/>
              <a:t>proceso</a:t>
            </a:r>
            <a:r>
              <a:rPr lang="pt-BR" dirty="0"/>
              <a:t> de </a:t>
            </a:r>
            <a:r>
              <a:rPr lang="pt-BR" dirty="0" err="1"/>
              <a:t>co</a:t>
            </a:r>
            <a:r>
              <a:rPr lang="es-CO" dirty="0" err="1"/>
              <a:t>mpresión</a:t>
            </a:r>
            <a:r>
              <a:rPr lang="es-CO" dirty="0"/>
              <a:t> </a:t>
            </a:r>
            <a:r>
              <a:rPr lang="pt-BR" dirty="0"/>
              <a:t>de </a:t>
            </a:r>
            <a:r>
              <a:rPr lang="pt-BR" dirty="0" err="1"/>
              <a:t>imagen</a:t>
            </a:r>
            <a:r>
              <a:rPr lang="pt-BR" dirty="0"/>
              <a:t> que se </a:t>
            </a:r>
            <a:r>
              <a:rPr lang="pt-BR" dirty="0" err="1"/>
              <a:t>basa</a:t>
            </a:r>
            <a:r>
              <a:rPr lang="pt-BR" dirty="0"/>
              <a:t> </a:t>
            </a:r>
            <a:r>
              <a:rPr lang="pt-BR" dirty="0" err="1"/>
              <a:t>en</a:t>
            </a:r>
            <a:r>
              <a:rPr lang="pt-BR" dirty="0"/>
              <a:t> </a:t>
            </a:r>
            <a:r>
              <a:rPr lang="pt-BR" dirty="0" err="1"/>
              <a:t>la</a:t>
            </a:r>
            <a:r>
              <a:rPr lang="pt-BR" dirty="0"/>
              <a:t> </a:t>
            </a:r>
            <a:r>
              <a:rPr lang="pt-BR" dirty="0" err="1"/>
              <a:t>eliminación</a:t>
            </a:r>
            <a:r>
              <a:rPr lang="pt-BR" dirty="0"/>
              <a:t> de </a:t>
            </a:r>
            <a:r>
              <a:rPr lang="pt-BR" dirty="0" err="1"/>
              <a:t>información</a:t>
            </a:r>
            <a:r>
              <a:rPr lang="pt-BR" dirty="0"/>
              <a:t> de </a:t>
            </a:r>
            <a:r>
              <a:rPr lang="pt-BR" dirty="0" err="1"/>
              <a:t>la</a:t>
            </a:r>
            <a:r>
              <a:rPr lang="pt-BR" dirty="0"/>
              <a:t> </a:t>
            </a:r>
            <a:r>
              <a:rPr lang="pt-BR" dirty="0" err="1"/>
              <a:t>cual</a:t>
            </a:r>
            <a:r>
              <a:rPr lang="pt-BR" dirty="0"/>
              <a:t> </a:t>
            </a:r>
            <a:r>
              <a:rPr lang="pt-BR" dirty="0" err="1"/>
              <a:t>el</a:t>
            </a:r>
            <a:r>
              <a:rPr lang="pt-BR" dirty="0"/>
              <a:t> ser humano </a:t>
            </a:r>
            <a:r>
              <a:rPr lang="pt-BR" dirty="0" err="1"/>
              <a:t>puede</a:t>
            </a:r>
            <a:r>
              <a:rPr lang="pt-BR" dirty="0"/>
              <a:t> </a:t>
            </a:r>
            <a:r>
              <a:rPr lang="es-CO" dirty="0"/>
              <a:t>prescindir</a:t>
            </a:r>
            <a:r>
              <a:rPr lang="pt-BR" dirty="0"/>
              <a:t> </a:t>
            </a:r>
            <a:r>
              <a:rPr lang="pt-BR" dirty="0" err="1"/>
              <a:t>sin</a:t>
            </a:r>
            <a:r>
              <a:rPr lang="pt-BR" dirty="0"/>
              <a:t> cambiar </a:t>
            </a:r>
            <a:r>
              <a:rPr lang="pt-BR" dirty="0" err="1"/>
              <a:t>el</a:t>
            </a:r>
            <a:r>
              <a:rPr lang="pt-BR" dirty="0"/>
              <a:t> resultado o </a:t>
            </a:r>
            <a:r>
              <a:rPr lang="pt-BR" dirty="0" err="1"/>
              <a:t>el</a:t>
            </a:r>
            <a:r>
              <a:rPr lang="pt-BR" dirty="0"/>
              <a:t> significado de </a:t>
            </a:r>
            <a:r>
              <a:rPr lang="pt-BR" dirty="0" err="1"/>
              <a:t>la</a:t>
            </a:r>
            <a:r>
              <a:rPr lang="pt-BR" dirty="0"/>
              <a:t> </a:t>
            </a:r>
            <a:r>
              <a:rPr lang="es-CO" dirty="0"/>
              <a:t>imagen</a:t>
            </a:r>
            <a:r>
              <a:rPr lang="pt-BR" dirty="0"/>
              <a:t>. La perdida de </a:t>
            </a:r>
            <a:r>
              <a:rPr lang="es-CO" dirty="0"/>
              <a:t>información</a:t>
            </a:r>
            <a:r>
              <a:rPr lang="pt-BR" dirty="0"/>
              <a:t> </a:t>
            </a:r>
            <a:r>
              <a:rPr lang="pt-BR" dirty="0" err="1"/>
              <a:t>en</a:t>
            </a:r>
            <a:r>
              <a:rPr lang="pt-BR" dirty="0"/>
              <a:t> este </a:t>
            </a:r>
            <a:r>
              <a:rPr lang="pt-BR" dirty="0" err="1"/>
              <a:t>proceso</a:t>
            </a:r>
            <a:r>
              <a:rPr lang="pt-BR" dirty="0"/>
              <a:t> es </a:t>
            </a:r>
            <a:r>
              <a:rPr lang="pt-BR" dirty="0" err="1"/>
              <a:t>irre</a:t>
            </a:r>
            <a:r>
              <a:rPr lang="es-CO" dirty="0" err="1"/>
              <a:t>versible</a:t>
            </a:r>
            <a:r>
              <a:rPr lang="es-CO" dirty="0"/>
              <a:t> y compromete la calidad de la imagen.</a:t>
            </a:r>
            <a:endParaRPr lang="pt-BR" dirty="0"/>
          </a:p>
        </p:txBody>
      </p:sp>
      <p:sp>
        <p:nvSpPr>
          <p:cNvPr id="9" name="CuadroTexto 8"/>
          <p:cNvSpPr txBox="1"/>
          <p:nvPr/>
        </p:nvSpPr>
        <p:spPr>
          <a:xfrm>
            <a:off x="7245127" y="3813616"/>
            <a:ext cx="4160129" cy="1384995"/>
          </a:xfrm>
          <a:prstGeom prst="rect">
            <a:avLst/>
          </a:prstGeom>
          <a:noFill/>
        </p:spPr>
        <p:txBody>
          <a:bodyPr wrap="square" rtlCol="0">
            <a:spAutoFit/>
          </a:bodyPr>
          <a:lstStyle/>
          <a:p>
            <a:pPr algn="ctr"/>
            <a:r>
              <a:rPr lang="pt-BR" b="1" dirty="0" err="1"/>
              <a:t>Compresión</a:t>
            </a:r>
            <a:r>
              <a:rPr lang="pt-BR" b="1" dirty="0"/>
              <a:t> </a:t>
            </a:r>
            <a:r>
              <a:rPr lang="pt-BR" b="1" dirty="0" err="1"/>
              <a:t>LossLess</a:t>
            </a:r>
            <a:endParaRPr lang="pt-BR" b="1" dirty="0"/>
          </a:p>
          <a:p>
            <a:pPr algn="ctr"/>
            <a:endParaRPr lang="pt-BR" b="1" dirty="0"/>
          </a:p>
          <a:p>
            <a:pPr algn="just"/>
            <a:r>
              <a:rPr lang="pt-BR" dirty="0"/>
              <a:t>Es un </a:t>
            </a:r>
            <a:r>
              <a:rPr lang="pt-BR" dirty="0" err="1"/>
              <a:t>proceso</a:t>
            </a:r>
            <a:r>
              <a:rPr lang="pt-BR" dirty="0"/>
              <a:t> de </a:t>
            </a:r>
            <a:r>
              <a:rPr lang="pt-BR" dirty="0" err="1"/>
              <a:t>compresión</a:t>
            </a:r>
            <a:r>
              <a:rPr lang="pt-BR" dirty="0"/>
              <a:t> de </a:t>
            </a:r>
            <a:r>
              <a:rPr lang="pt-BR" dirty="0" err="1"/>
              <a:t>imagen</a:t>
            </a:r>
            <a:r>
              <a:rPr lang="pt-BR" dirty="0"/>
              <a:t> que se </a:t>
            </a:r>
            <a:r>
              <a:rPr lang="pt-BR" dirty="0" err="1"/>
              <a:t>basa</a:t>
            </a:r>
            <a:r>
              <a:rPr lang="pt-BR" dirty="0"/>
              <a:t> </a:t>
            </a:r>
            <a:r>
              <a:rPr lang="pt-BR" dirty="0" err="1"/>
              <a:t>en</a:t>
            </a:r>
            <a:r>
              <a:rPr lang="pt-BR" dirty="0"/>
              <a:t> </a:t>
            </a:r>
            <a:r>
              <a:rPr lang="pt-BR" dirty="0" err="1"/>
              <a:t>la</a:t>
            </a:r>
            <a:r>
              <a:rPr lang="pt-BR" dirty="0"/>
              <a:t> </a:t>
            </a:r>
            <a:r>
              <a:rPr lang="pt-BR" dirty="0" err="1"/>
              <a:t>reestructuración</a:t>
            </a:r>
            <a:r>
              <a:rPr lang="pt-BR" dirty="0"/>
              <a:t> de </a:t>
            </a:r>
            <a:r>
              <a:rPr lang="pt-BR" dirty="0" err="1"/>
              <a:t>la</a:t>
            </a:r>
            <a:r>
              <a:rPr lang="pt-BR" dirty="0"/>
              <a:t> </a:t>
            </a:r>
            <a:r>
              <a:rPr lang="pt-BR" dirty="0" err="1"/>
              <a:t>información</a:t>
            </a:r>
            <a:r>
              <a:rPr lang="pt-BR" dirty="0"/>
              <a:t> para que esta ocupe menos memoria. No se </a:t>
            </a:r>
            <a:r>
              <a:rPr lang="pt-BR" dirty="0" err="1"/>
              <a:t>pierde</a:t>
            </a:r>
            <a:r>
              <a:rPr lang="pt-BR" dirty="0"/>
              <a:t> </a:t>
            </a:r>
            <a:r>
              <a:rPr lang="pt-BR" dirty="0" err="1"/>
              <a:t>calidad</a:t>
            </a:r>
            <a:r>
              <a:rPr lang="pt-BR" dirty="0"/>
              <a:t> </a:t>
            </a:r>
            <a:r>
              <a:rPr lang="pt-BR" dirty="0" err="1"/>
              <a:t>ni</a:t>
            </a:r>
            <a:r>
              <a:rPr lang="pt-BR" dirty="0"/>
              <a:t> </a:t>
            </a:r>
            <a:r>
              <a:rPr lang="pt-BR" dirty="0" err="1"/>
              <a:t>datos</a:t>
            </a:r>
            <a:r>
              <a:rPr lang="pt-BR" dirty="0"/>
              <a:t> de </a:t>
            </a:r>
            <a:r>
              <a:rPr lang="pt-BR" dirty="0" err="1"/>
              <a:t>la</a:t>
            </a:r>
            <a:r>
              <a:rPr lang="pt-BR" dirty="0"/>
              <a:t> </a:t>
            </a:r>
            <a:r>
              <a:rPr lang="pt-BR" dirty="0" err="1"/>
              <a:t>imagen</a:t>
            </a:r>
            <a:r>
              <a:rPr lang="pt-BR" dirty="0"/>
              <a:t> original.</a:t>
            </a:r>
          </a:p>
        </p:txBody>
      </p:sp>
      <p:sp>
        <p:nvSpPr>
          <p:cNvPr id="10" name="Google Shape;200;p2"/>
          <p:cNvSpPr/>
          <p:nvPr/>
        </p:nvSpPr>
        <p:spPr>
          <a:xfrm>
            <a:off x="468335" y="371520"/>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¿Qué es la compresión de imágenes?</a:t>
            </a:r>
            <a:endParaRPr lang="es-CO" sz="2200" b="0" i="0" u="none" strike="noStrike" cap="none" dirty="0">
              <a:solidFill>
                <a:srgbClr val="000000"/>
              </a:solidFill>
              <a:latin typeface="Arial"/>
              <a:ea typeface="Arial"/>
              <a:cs typeface="Arial"/>
              <a:sym typeface="Arial"/>
            </a:endParaRPr>
          </a:p>
        </p:txBody>
      </p:sp>
      <p:cxnSp>
        <p:nvCxnSpPr>
          <p:cNvPr id="7" name="Conector recto de flecha 6"/>
          <p:cNvCxnSpPr>
            <a:stCxn id="5" idx="2"/>
          </p:cNvCxnSpPr>
          <p:nvPr/>
        </p:nvCxnSpPr>
        <p:spPr>
          <a:xfrm flipH="1">
            <a:off x="2854036" y="2311329"/>
            <a:ext cx="3237153" cy="1084652"/>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recto de flecha 11"/>
          <p:cNvCxnSpPr/>
          <p:nvPr/>
        </p:nvCxnSpPr>
        <p:spPr>
          <a:xfrm>
            <a:off x="6091189" y="2310990"/>
            <a:ext cx="3260629" cy="1084991"/>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ectángulo redondeado 12"/>
          <p:cNvSpPr/>
          <p:nvPr/>
        </p:nvSpPr>
        <p:spPr>
          <a:xfrm>
            <a:off x="468335"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Rectángulo redondeado 15"/>
          <p:cNvSpPr/>
          <p:nvPr/>
        </p:nvSpPr>
        <p:spPr>
          <a:xfrm>
            <a:off x="6914658"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657680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2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490960" y="1278422"/>
            <a:ext cx="5129749" cy="1384995"/>
          </a:xfrm>
          <a:prstGeom prst="rect">
            <a:avLst/>
          </a:prstGeom>
          <a:noFill/>
        </p:spPr>
        <p:txBody>
          <a:bodyPr wrap="square" rtlCol="0">
            <a:spAutoFit/>
          </a:bodyPr>
          <a:lstStyle/>
          <a:p>
            <a:pPr algn="just"/>
            <a:r>
              <a:rPr lang="pt-BR" b="1" u="sng" dirty="0" err="1"/>
              <a:t>Run-length</a:t>
            </a:r>
            <a:r>
              <a:rPr lang="pt-BR" b="1" u="sng" dirty="0"/>
              <a:t>:</a:t>
            </a:r>
            <a:r>
              <a:rPr lang="pt-BR" dirty="0"/>
              <a:t> Para </a:t>
            </a:r>
            <a:r>
              <a:rPr lang="pt-BR" dirty="0" err="1"/>
              <a:t>reducir</a:t>
            </a:r>
            <a:r>
              <a:rPr lang="pt-BR" dirty="0"/>
              <a:t> </a:t>
            </a:r>
            <a:r>
              <a:rPr lang="pt-BR" dirty="0" err="1"/>
              <a:t>la</a:t>
            </a:r>
            <a:r>
              <a:rPr lang="pt-BR" dirty="0"/>
              <a:t> </a:t>
            </a:r>
            <a:r>
              <a:rPr lang="pt-BR" dirty="0" err="1"/>
              <a:t>información</a:t>
            </a:r>
            <a:r>
              <a:rPr lang="pt-BR" dirty="0"/>
              <a:t> </a:t>
            </a:r>
            <a:r>
              <a:rPr lang="pt-BR" dirty="0" err="1"/>
              <a:t>reduntante</a:t>
            </a:r>
            <a:r>
              <a:rPr lang="pt-BR" dirty="0"/>
              <a:t> este método </a:t>
            </a:r>
            <a:r>
              <a:rPr lang="pt-BR" dirty="0" err="1"/>
              <a:t>cuenta</a:t>
            </a:r>
            <a:r>
              <a:rPr lang="pt-BR" dirty="0"/>
              <a:t> </a:t>
            </a:r>
            <a:r>
              <a:rPr lang="pt-BR" dirty="0" err="1"/>
              <a:t>cuántas</a:t>
            </a:r>
            <a:r>
              <a:rPr lang="pt-BR" dirty="0"/>
              <a:t> </a:t>
            </a:r>
            <a:r>
              <a:rPr lang="pt-BR" dirty="0" err="1"/>
              <a:t>veces</a:t>
            </a:r>
            <a:r>
              <a:rPr lang="pt-BR" dirty="0"/>
              <a:t> se </a:t>
            </a:r>
            <a:r>
              <a:rPr lang="pt-BR" dirty="0" err="1"/>
              <a:t>repite</a:t>
            </a:r>
            <a:r>
              <a:rPr lang="pt-BR" dirty="0"/>
              <a:t> </a:t>
            </a:r>
            <a:r>
              <a:rPr lang="pt-BR" dirty="0" err="1"/>
              <a:t>el</a:t>
            </a:r>
            <a:r>
              <a:rPr lang="pt-BR" dirty="0"/>
              <a:t> </a:t>
            </a:r>
            <a:r>
              <a:rPr lang="pt-BR" dirty="0" err="1"/>
              <a:t>mismo</a:t>
            </a:r>
            <a:r>
              <a:rPr lang="pt-BR" dirty="0"/>
              <a:t> </a:t>
            </a:r>
            <a:r>
              <a:rPr lang="pt-BR" dirty="0" err="1"/>
              <a:t>caracter</a:t>
            </a:r>
            <a:r>
              <a:rPr lang="pt-BR" dirty="0"/>
              <a:t> y coloca este número al frente de </a:t>
            </a:r>
            <a:r>
              <a:rPr lang="pt-BR" dirty="0" err="1"/>
              <a:t>la</a:t>
            </a:r>
            <a:r>
              <a:rPr lang="pt-BR" dirty="0"/>
              <a:t> </a:t>
            </a:r>
            <a:r>
              <a:rPr lang="pt-BR" dirty="0" err="1"/>
              <a:t>identificación</a:t>
            </a:r>
            <a:r>
              <a:rPr lang="pt-BR" dirty="0"/>
              <a:t> </a:t>
            </a:r>
            <a:r>
              <a:rPr lang="pt-BR" dirty="0" err="1"/>
              <a:t>del</a:t>
            </a:r>
            <a:r>
              <a:rPr lang="pt-BR" dirty="0"/>
              <a:t> </a:t>
            </a:r>
            <a:r>
              <a:rPr lang="pt-BR" dirty="0" err="1"/>
              <a:t>caracter</a:t>
            </a:r>
            <a:r>
              <a:rPr lang="pt-BR" dirty="0"/>
              <a:t>. Es </a:t>
            </a:r>
            <a:r>
              <a:rPr lang="pt-BR" dirty="0" err="1"/>
              <a:t>decir</a:t>
            </a:r>
            <a:r>
              <a:rPr lang="pt-BR" dirty="0"/>
              <a:t>, si </a:t>
            </a:r>
            <a:r>
              <a:rPr lang="pt-BR" dirty="0" err="1"/>
              <a:t>tenemos</a:t>
            </a:r>
            <a:r>
              <a:rPr lang="pt-BR" dirty="0"/>
              <a:t> 10 </a:t>
            </a:r>
            <a:r>
              <a:rPr lang="pt-BR" dirty="0" err="1"/>
              <a:t>pixeles</a:t>
            </a:r>
            <a:r>
              <a:rPr lang="pt-BR" dirty="0"/>
              <a:t> </a:t>
            </a:r>
            <a:r>
              <a:rPr lang="pt-BR" dirty="0" err="1"/>
              <a:t>blancos</a:t>
            </a:r>
            <a:r>
              <a:rPr lang="pt-BR" dirty="0"/>
              <a:t> seguidos, y </a:t>
            </a:r>
            <a:r>
              <a:rPr lang="pt-BR" dirty="0" err="1"/>
              <a:t>suponiendo</a:t>
            </a:r>
            <a:r>
              <a:rPr lang="pt-BR" dirty="0"/>
              <a:t> que este color se representa </a:t>
            </a:r>
            <a:r>
              <a:rPr lang="pt-BR" dirty="0" err="1"/>
              <a:t>con</a:t>
            </a:r>
            <a:r>
              <a:rPr lang="pt-BR" dirty="0"/>
              <a:t> B, </a:t>
            </a:r>
            <a:r>
              <a:rPr lang="pt-BR" dirty="0" err="1"/>
              <a:t>en</a:t>
            </a:r>
            <a:r>
              <a:rPr lang="pt-BR" dirty="0"/>
              <a:t> vez de </a:t>
            </a:r>
            <a:r>
              <a:rPr lang="pt-BR" dirty="0" err="1"/>
              <a:t>tener</a:t>
            </a:r>
            <a:r>
              <a:rPr lang="pt-BR" dirty="0"/>
              <a:t> B, B, B, B, B, B, B, B, B, B, vamos a </a:t>
            </a:r>
            <a:r>
              <a:rPr lang="pt-BR" dirty="0" err="1"/>
              <a:t>tener</a:t>
            </a:r>
            <a:r>
              <a:rPr lang="pt-BR" dirty="0"/>
              <a:t> 10B.</a:t>
            </a:r>
          </a:p>
        </p:txBody>
      </p:sp>
      <p:sp>
        <p:nvSpPr>
          <p:cNvPr id="4" name="CuadroTexto 3"/>
          <p:cNvSpPr txBox="1"/>
          <p:nvPr/>
        </p:nvSpPr>
        <p:spPr>
          <a:xfrm>
            <a:off x="6389194" y="3349747"/>
            <a:ext cx="5359331" cy="2462213"/>
          </a:xfrm>
          <a:prstGeom prst="rect">
            <a:avLst/>
          </a:prstGeom>
          <a:noFill/>
        </p:spPr>
        <p:txBody>
          <a:bodyPr wrap="square" rtlCol="0">
            <a:spAutoFit/>
          </a:bodyPr>
          <a:lstStyle/>
          <a:p>
            <a:pPr algn="just"/>
            <a:r>
              <a:rPr lang="es-CO" b="1" u="sng" dirty="0"/>
              <a:t>Codificación de </a:t>
            </a:r>
            <a:r>
              <a:rPr lang="es-CO" b="1" u="sng" dirty="0" err="1"/>
              <a:t>Huffman</a:t>
            </a:r>
            <a:r>
              <a:rPr lang="es-CO" b="1" u="sng" dirty="0"/>
              <a:t>:</a:t>
            </a:r>
            <a:r>
              <a:rPr lang="es-CO" dirty="0"/>
              <a:t> Según la frecuencia o probabilidad en la que salga un carácter se ira organizando en un árbol binario con las siguientes características: cogemos los 2 caracteres que tengan la menor frecuencia, se suman y cada uno es una nueva rama del árbol, se sigue este proceso hasta que hayamos juntado todos los caracteres y en cada rama la izquierda es 0 y la derecha 1. </a:t>
            </a:r>
          </a:p>
          <a:p>
            <a:pPr algn="just"/>
            <a:endParaRPr lang="es-CO" dirty="0"/>
          </a:p>
          <a:p>
            <a:pPr algn="just"/>
            <a:r>
              <a:rPr lang="es-CO" dirty="0"/>
              <a:t>Finalmente se crea un diccionario en donde se guarda el carácter con el código de la ruta de 0 y 1 hasta llegar a este, dejando así al de mayor frecuencia con un código de 0 (el menor de todos).</a:t>
            </a:r>
          </a:p>
        </p:txBody>
      </p:sp>
      <p:sp>
        <p:nvSpPr>
          <p:cNvPr id="8" name="Google Shape;200;p2"/>
          <p:cNvSpPr/>
          <p:nvPr/>
        </p:nvSpPr>
        <p:spPr>
          <a:xfrm>
            <a:off x="493380" y="358601"/>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Métodos compresión LossLess</a:t>
            </a:r>
            <a:endParaRPr lang="es-CO" sz="2200" b="0" i="0" u="none" strike="noStrike" cap="none" dirty="0">
              <a:solidFill>
                <a:srgbClr val="000000"/>
              </a:solidFill>
              <a:latin typeface="Arial"/>
              <a:ea typeface="Arial"/>
              <a:cs typeface="Arial"/>
              <a:sym typeface="Arial"/>
            </a:endParaRPr>
          </a:p>
        </p:txBody>
      </p:sp>
      <p:pic>
        <p:nvPicPr>
          <p:cNvPr id="5" name="Imagen 4"/>
          <p:cNvPicPr>
            <a:picLocks noChangeAspect="1"/>
          </p:cNvPicPr>
          <p:nvPr/>
        </p:nvPicPr>
        <p:blipFill rotWithShape="1">
          <a:blip r:embed="rId6"/>
          <a:srcRect l="1706" t="43425" r="70535" b="1981"/>
          <a:stretch/>
        </p:blipFill>
        <p:spPr>
          <a:xfrm>
            <a:off x="2930837" y="3099640"/>
            <a:ext cx="2689872" cy="2524057"/>
          </a:xfrm>
          <a:prstGeom prst="rect">
            <a:avLst/>
          </a:prstGeom>
        </p:spPr>
      </p:pic>
      <p:sp>
        <p:nvSpPr>
          <p:cNvPr id="6" name="CuadroTexto 5"/>
          <p:cNvSpPr txBox="1"/>
          <p:nvPr/>
        </p:nvSpPr>
        <p:spPr>
          <a:xfrm>
            <a:off x="390618" y="3245949"/>
            <a:ext cx="1551709" cy="523220"/>
          </a:xfrm>
          <a:prstGeom prst="rect">
            <a:avLst/>
          </a:prstGeom>
          <a:noFill/>
          <a:ln>
            <a:solidFill>
              <a:schemeClr val="accent5">
                <a:lumMod val="75000"/>
              </a:schemeClr>
            </a:solidFill>
          </a:ln>
        </p:spPr>
        <p:txBody>
          <a:bodyPr wrap="square" rtlCol="0">
            <a:spAutoFit/>
          </a:bodyPr>
          <a:lstStyle/>
          <a:p>
            <a:pPr algn="ctr"/>
            <a:r>
              <a:rPr lang="es-CO" dirty="0"/>
              <a:t>WWWBBWWW</a:t>
            </a:r>
          </a:p>
          <a:p>
            <a:pPr algn="ctr"/>
            <a:r>
              <a:rPr lang="es-CO" dirty="0"/>
              <a:t>WWBBBBWW</a:t>
            </a:r>
          </a:p>
        </p:txBody>
      </p:sp>
      <p:sp>
        <p:nvSpPr>
          <p:cNvPr id="11" name="CuadroTexto 10"/>
          <p:cNvSpPr txBox="1"/>
          <p:nvPr/>
        </p:nvSpPr>
        <p:spPr>
          <a:xfrm>
            <a:off x="547855" y="4500740"/>
            <a:ext cx="1228216" cy="1169551"/>
          </a:xfrm>
          <a:prstGeom prst="rect">
            <a:avLst/>
          </a:prstGeom>
          <a:noFill/>
          <a:ln>
            <a:solidFill>
              <a:schemeClr val="accent5">
                <a:lumMod val="60000"/>
                <a:lumOff val="40000"/>
              </a:schemeClr>
            </a:solidFill>
          </a:ln>
        </p:spPr>
        <p:txBody>
          <a:bodyPr wrap="square" rtlCol="0">
            <a:spAutoFit/>
          </a:bodyPr>
          <a:lstStyle/>
          <a:p>
            <a:pPr algn="ctr"/>
            <a:r>
              <a:rPr lang="es-CO" dirty="0"/>
              <a:t>3W2B3W</a:t>
            </a:r>
          </a:p>
          <a:p>
            <a:pPr algn="ctr"/>
            <a:r>
              <a:rPr lang="es-CO" dirty="0"/>
              <a:t>2W4B2W</a:t>
            </a:r>
          </a:p>
          <a:p>
            <a:pPr algn="ctr"/>
            <a:endParaRPr lang="es-CO" dirty="0"/>
          </a:p>
          <a:p>
            <a:pPr algn="ctr"/>
            <a:r>
              <a:rPr lang="es-CO" dirty="0"/>
              <a:t>3,2,3</a:t>
            </a:r>
          </a:p>
          <a:p>
            <a:pPr algn="ctr"/>
            <a:r>
              <a:rPr lang="es-CO" dirty="0"/>
              <a:t>2.4.2</a:t>
            </a:r>
          </a:p>
        </p:txBody>
      </p:sp>
      <p:sp>
        <p:nvSpPr>
          <p:cNvPr id="7" name="Flecha abajo 6"/>
          <p:cNvSpPr/>
          <p:nvPr/>
        </p:nvSpPr>
        <p:spPr>
          <a:xfrm>
            <a:off x="1139103" y="3925416"/>
            <a:ext cx="45719" cy="406894"/>
          </a:xfrm>
          <a:prstGeom prst="downArrow">
            <a:avLst/>
          </a:prstGeom>
          <a:ln w="76200">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 name="Flecha derecha 9"/>
          <p:cNvSpPr/>
          <p:nvPr/>
        </p:nvSpPr>
        <p:spPr>
          <a:xfrm rot="10800000">
            <a:off x="2097146" y="3484699"/>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Señal de prohibido 11"/>
          <p:cNvSpPr/>
          <p:nvPr/>
        </p:nvSpPr>
        <p:spPr>
          <a:xfrm>
            <a:off x="842118" y="3178185"/>
            <a:ext cx="639687" cy="658748"/>
          </a:xfrm>
          <a:prstGeom prst="noSmoking">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chemeClr val="tx1"/>
              </a:solidFill>
            </a:endParaRPr>
          </a:p>
        </p:txBody>
      </p:sp>
      <p:pic>
        <p:nvPicPr>
          <p:cNvPr id="13" name="Imagen 12"/>
          <p:cNvPicPr>
            <a:picLocks noChangeAspect="1"/>
          </p:cNvPicPr>
          <p:nvPr/>
        </p:nvPicPr>
        <p:blipFill>
          <a:blip r:embed="rId7"/>
          <a:stretch>
            <a:fillRect/>
          </a:stretch>
        </p:blipFill>
        <p:spPr>
          <a:xfrm>
            <a:off x="6604002" y="984328"/>
            <a:ext cx="2252555" cy="2183815"/>
          </a:xfrm>
          <a:prstGeom prst="rect">
            <a:avLst/>
          </a:prstGeom>
        </p:spPr>
      </p:pic>
      <p:sp>
        <p:nvSpPr>
          <p:cNvPr id="16" name="Flecha derecha 15"/>
          <p:cNvSpPr/>
          <p:nvPr/>
        </p:nvSpPr>
        <p:spPr>
          <a:xfrm>
            <a:off x="8720242" y="1886497"/>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Nube 13"/>
          <p:cNvSpPr/>
          <p:nvPr/>
        </p:nvSpPr>
        <p:spPr>
          <a:xfrm>
            <a:off x="9645727" y="1362728"/>
            <a:ext cx="2216727" cy="1427018"/>
          </a:xfrm>
          <a:prstGeom prst="cloud">
            <a:avLst/>
          </a:prstGeom>
          <a:noFill/>
          <a:ln>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p:cNvSpPr txBox="1"/>
          <p:nvPr/>
        </p:nvSpPr>
        <p:spPr>
          <a:xfrm>
            <a:off x="9848201" y="1691516"/>
            <a:ext cx="1634837" cy="769441"/>
          </a:xfrm>
          <a:prstGeom prst="rect">
            <a:avLst/>
          </a:prstGeom>
          <a:noFill/>
        </p:spPr>
        <p:txBody>
          <a:bodyPr wrap="square" rtlCol="0">
            <a:spAutoFit/>
          </a:bodyPr>
          <a:lstStyle/>
          <a:p>
            <a:pPr algn="just"/>
            <a:r>
              <a:rPr lang="es-CO" sz="1100" dirty="0"/>
              <a:t>La letra con más frecuencia es la a, por ende tiene el código más pequeño.</a:t>
            </a:r>
          </a:p>
        </p:txBody>
      </p:sp>
      <p:cxnSp>
        <p:nvCxnSpPr>
          <p:cNvPr id="17" name="Conector recto 16"/>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97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446919" y="1181212"/>
            <a:ext cx="5218608" cy="2031325"/>
          </a:xfrm>
          <a:prstGeom prst="rect">
            <a:avLst/>
          </a:prstGeom>
          <a:noFill/>
        </p:spPr>
        <p:txBody>
          <a:bodyPr wrap="square" rtlCol="0">
            <a:spAutoFit/>
          </a:bodyPr>
          <a:lstStyle/>
          <a:p>
            <a:pPr algn="just"/>
            <a:r>
              <a:rPr lang="es-CO" b="1" u="sng" dirty="0"/>
              <a:t>DCT:</a:t>
            </a:r>
            <a:r>
              <a:rPr lang="es-CO" dirty="0"/>
              <a:t> Es un proceso que utiliza la herramienta matemática de la </a:t>
            </a:r>
            <a:r>
              <a:rPr lang="es-CO" i="1" dirty="0"/>
              <a:t>transformada discreta de coseno</a:t>
            </a:r>
            <a:r>
              <a:rPr lang="es-CO" dirty="0"/>
              <a:t>, con la finalidad de hacer corresponder la imagen con un conjunto de coeficiente de la transformada. Un número significativo de coeficientes tendrá valores pequeños que son poco significativos, de los cuales prescindiremos para reducir el tamaño de la imagen. Los coeficientes de esta técnica se dan a partir de la siguiente ecuación: </a:t>
            </a:r>
          </a:p>
          <a:p>
            <a:pPr algn="just"/>
            <a:endParaRPr lang="es-CO" dirty="0"/>
          </a:p>
        </p:txBody>
      </p:sp>
      <p:sp>
        <p:nvSpPr>
          <p:cNvPr id="7" name="CuadroTexto 6"/>
          <p:cNvSpPr txBox="1"/>
          <p:nvPr/>
        </p:nvSpPr>
        <p:spPr>
          <a:xfrm>
            <a:off x="604216" y="4283839"/>
            <a:ext cx="5048438" cy="1384995"/>
          </a:xfrm>
          <a:prstGeom prst="rect">
            <a:avLst/>
          </a:prstGeom>
          <a:noFill/>
        </p:spPr>
        <p:txBody>
          <a:bodyPr wrap="square" rtlCol="0">
            <a:spAutoFit/>
          </a:bodyPr>
          <a:lstStyle/>
          <a:p>
            <a:pPr algn="just"/>
            <a:r>
              <a:rPr lang="es-CO" b="1" u="sng" dirty="0"/>
              <a:t>Compresión fractal: </a:t>
            </a:r>
            <a:r>
              <a:rPr lang="es-CO" dirty="0"/>
              <a:t>Este método consiste en identificar una figura que al reproducirse reiteradas veces genere una imagen muy similar a la original. Entre las diferentes técnicas de este método encontramos la IFS (Sistema de Funciones Iteradas) que genera un conjunto de transformaciones que lleva la figura completa en cada una de sus partes.</a:t>
            </a: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Métodos compresión </a:t>
            </a:r>
            <a:r>
              <a:rPr lang="es-CO" sz="2200" b="1" dirty="0" err="1">
                <a:solidFill>
                  <a:srgbClr val="FFFFFF"/>
                </a:solidFill>
              </a:rPr>
              <a:t>Lossy</a:t>
            </a:r>
            <a:endParaRPr lang="es-CO" sz="2200" b="0" i="0" u="none" strike="noStrike" cap="none" dirty="0">
              <a:solidFill>
                <a:srgbClr val="000000"/>
              </a:solidFill>
              <a:latin typeface="Arial"/>
              <a:ea typeface="Arial"/>
              <a:cs typeface="Arial"/>
              <a:sym typeface="Arial"/>
            </a:endParaRPr>
          </a:p>
        </p:txBody>
      </p:sp>
      <p:pic>
        <p:nvPicPr>
          <p:cNvPr id="3" name="Imagen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460239" y="2767839"/>
            <a:ext cx="2744532" cy="674215"/>
          </a:xfrm>
          <a:prstGeom prst="rect">
            <a:avLst/>
          </a:prstGeom>
        </p:spPr>
      </p:pic>
      <p:pic>
        <p:nvPicPr>
          <p:cNvPr id="1026" name="Picture 2" descr="Fractal"/>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04958" y="1151896"/>
            <a:ext cx="2046953" cy="2855500"/>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n 3"/>
          <p:cNvPicPr>
            <a:picLocks noChangeAspect="1"/>
          </p:cNvPicPr>
          <p:nvPr/>
        </p:nvPicPr>
        <p:blipFill>
          <a:blip r:embed="rId8"/>
          <a:stretch>
            <a:fillRect/>
          </a:stretch>
        </p:blipFill>
        <p:spPr>
          <a:xfrm>
            <a:off x="7145161" y="3710510"/>
            <a:ext cx="3822123" cy="1895224"/>
          </a:xfrm>
          <a:prstGeom prst="rect">
            <a:avLst/>
          </a:prstGeom>
        </p:spPr>
      </p:pic>
      <p:cxnSp>
        <p:nvCxnSpPr>
          <p:cNvPr id="11" name="Conector recto 10"/>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444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¿Qué es el aprendizaje automático?</a:t>
            </a:r>
            <a:endParaRPr lang="es-CO" sz="2200" b="0" i="0" u="none" strike="noStrike" cap="none" dirty="0">
              <a:solidFill>
                <a:srgbClr val="000000"/>
              </a:solidFill>
              <a:latin typeface="Arial"/>
              <a:ea typeface="Arial"/>
              <a:cs typeface="Arial"/>
              <a:sym typeface="Arial"/>
            </a:endParaRPr>
          </a:p>
        </p:txBody>
      </p:sp>
      <p:pic>
        <p:nvPicPr>
          <p:cNvPr id="14" name="Picture 4" descr="Inteligencia artificial (IA) y Machine Learning as a Service - OVHcloud">
            <a:extLst>
              <a:ext uri="{FF2B5EF4-FFF2-40B4-BE49-F238E27FC236}">
                <a16:creationId xmlns:a16="http://schemas.microsoft.com/office/drawing/2014/main" id="{8FD59224-300E-429B-B4E1-A2ADACECF3C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021"/>
          <a:stretch/>
        </p:blipFill>
        <p:spPr bwMode="auto">
          <a:xfrm>
            <a:off x="8807654" y="4130946"/>
            <a:ext cx="2986240" cy="183064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El Machine learning en la industria | ATRIA Innovation">
            <a:extLst>
              <a:ext uri="{FF2B5EF4-FFF2-40B4-BE49-F238E27FC236}">
                <a16:creationId xmlns:a16="http://schemas.microsoft.com/office/drawing/2014/main" id="{1768DE04-E274-4E74-9095-DA51F0C7915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19549" y="4101494"/>
            <a:ext cx="2595203" cy="1787797"/>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16" name="Rectángulo redondeado 15"/>
          <p:cNvSpPr/>
          <p:nvPr/>
        </p:nvSpPr>
        <p:spPr>
          <a:xfrm>
            <a:off x="2165831" y="1281919"/>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CuadroTexto 16"/>
          <p:cNvSpPr txBox="1"/>
          <p:nvPr/>
        </p:nvSpPr>
        <p:spPr>
          <a:xfrm>
            <a:off x="2473500" y="1320484"/>
            <a:ext cx="7235376" cy="1169551"/>
          </a:xfrm>
          <a:prstGeom prst="rect">
            <a:avLst/>
          </a:prstGeom>
          <a:noFill/>
        </p:spPr>
        <p:txBody>
          <a:bodyPr wrap="square" rtlCol="0">
            <a:spAutoFit/>
          </a:bodyPr>
          <a:lstStyle/>
          <a:p>
            <a:pPr algn="ctr"/>
            <a:r>
              <a:rPr lang="es-CO" dirty="0">
                <a:solidFill>
                  <a:schemeClr val="bg1"/>
                </a:solidFill>
              </a:rPr>
              <a:t>Es el área de la informática que permite acceder a datos e interpretarlos, automatizando las respuestas de </a:t>
            </a:r>
            <a:r>
              <a:rPr lang="es-CO" dirty="0" err="1">
                <a:solidFill>
                  <a:schemeClr val="bg1"/>
                </a:solidFill>
              </a:rPr>
              <a:t>big</a:t>
            </a:r>
            <a:r>
              <a:rPr lang="es-CO" dirty="0">
                <a:solidFill>
                  <a:schemeClr val="bg1"/>
                </a:solidFill>
              </a:rPr>
              <a:t> data e inteligencia artificial. A través de la inteligencia artificial del machine </a:t>
            </a:r>
            <a:r>
              <a:rPr lang="es-CO" dirty="0" err="1">
                <a:solidFill>
                  <a:schemeClr val="bg1"/>
                </a:solidFill>
              </a:rPr>
              <a:t>learning</a:t>
            </a:r>
            <a:r>
              <a:rPr lang="es-CO" dirty="0">
                <a:solidFill>
                  <a:schemeClr val="bg1"/>
                </a:solidFill>
              </a:rPr>
              <a:t> (AA), las máquinas son capaces de identificar patrones de datos, entender conexiones y generar respuestas a partir de estas.</a:t>
            </a:r>
          </a:p>
          <a:p>
            <a:pPr algn="ctr"/>
            <a:endParaRPr lang="es-CO" dirty="0">
              <a:solidFill>
                <a:schemeClr val="bg1"/>
              </a:solidFill>
            </a:endParaRPr>
          </a:p>
        </p:txBody>
      </p:sp>
      <p:sp>
        <p:nvSpPr>
          <p:cNvPr id="18" name="CuadroTexto 17"/>
          <p:cNvSpPr txBox="1"/>
          <p:nvPr/>
        </p:nvSpPr>
        <p:spPr>
          <a:xfrm>
            <a:off x="242586" y="3593248"/>
            <a:ext cx="3846490" cy="307777"/>
          </a:xfrm>
          <a:prstGeom prst="rect">
            <a:avLst/>
          </a:prstGeom>
          <a:noFill/>
        </p:spPr>
        <p:txBody>
          <a:bodyPr wrap="square" rtlCol="0">
            <a:spAutoFit/>
          </a:bodyPr>
          <a:lstStyle/>
          <a:p>
            <a:pPr algn="ctr"/>
            <a:r>
              <a:rPr lang="es-CO" b="1" dirty="0"/>
              <a:t>APRENDIZAJE SUPERVISADO</a:t>
            </a:r>
            <a:endParaRPr lang="pt-BR" dirty="0"/>
          </a:p>
        </p:txBody>
      </p:sp>
      <p:cxnSp>
        <p:nvCxnSpPr>
          <p:cNvPr id="20" name="Conector recto de flecha 19"/>
          <p:cNvCxnSpPr>
            <a:stCxn id="16" idx="2"/>
          </p:cNvCxnSpPr>
          <p:nvPr/>
        </p:nvCxnSpPr>
        <p:spPr>
          <a:xfrm flipH="1">
            <a:off x="2092964" y="2311329"/>
            <a:ext cx="3998225" cy="110653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ector recto de flecha 20"/>
          <p:cNvCxnSpPr/>
          <p:nvPr/>
        </p:nvCxnSpPr>
        <p:spPr>
          <a:xfrm>
            <a:off x="6091189" y="2310990"/>
            <a:ext cx="3998223" cy="1087735"/>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Rectángulo redondeado 21"/>
          <p:cNvSpPr/>
          <p:nvPr/>
        </p:nvSpPr>
        <p:spPr>
          <a:xfrm>
            <a:off x="242586" y="3474920"/>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CuadroTexto 23"/>
          <p:cNvSpPr txBox="1"/>
          <p:nvPr/>
        </p:nvSpPr>
        <p:spPr>
          <a:xfrm>
            <a:off x="4167944" y="4699806"/>
            <a:ext cx="3846490" cy="307777"/>
          </a:xfrm>
          <a:prstGeom prst="rect">
            <a:avLst/>
          </a:prstGeom>
          <a:noFill/>
        </p:spPr>
        <p:txBody>
          <a:bodyPr wrap="square" rtlCol="0">
            <a:spAutoFit/>
          </a:bodyPr>
          <a:lstStyle/>
          <a:p>
            <a:pPr algn="ctr"/>
            <a:r>
              <a:rPr lang="es-CO" b="1" dirty="0"/>
              <a:t>APRENDIZAJE NO SUPERVISADO</a:t>
            </a:r>
            <a:endParaRPr lang="pt-BR" dirty="0"/>
          </a:p>
        </p:txBody>
      </p:sp>
      <p:sp>
        <p:nvSpPr>
          <p:cNvPr id="25" name="Rectángulo redondeado 24"/>
          <p:cNvSpPr/>
          <p:nvPr/>
        </p:nvSpPr>
        <p:spPr>
          <a:xfrm>
            <a:off x="4167944" y="4581478"/>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6" name="CuadroTexto 25"/>
          <p:cNvSpPr txBox="1"/>
          <p:nvPr/>
        </p:nvSpPr>
        <p:spPr>
          <a:xfrm>
            <a:off x="8093301" y="3589880"/>
            <a:ext cx="3846490" cy="307777"/>
          </a:xfrm>
          <a:prstGeom prst="rect">
            <a:avLst/>
          </a:prstGeom>
          <a:noFill/>
        </p:spPr>
        <p:txBody>
          <a:bodyPr wrap="square" rtlCol="0">
            <a:spAutoFit/>
          </a:bodyPr>
          <a:lstStyle/>
          <a:p>
            <a:pPr algn="ctr"/>
            <a:r>
              <a:rPr lang="es-CO" b="1" dirty="0"/>
              <a:t>APRENDIZAJE REFORZADO</a:t>
            </a:r>
            <a:endParaRPr lang="pt-BR" dirty="0"/>
          </a:p>
        </p:txBody>
      </p:sp>
      <p:sp>
        <p:nvSpPr>
          <p:cNvPr id="27" name="Rectángulo redondeado 26"/>
          <p:cNvSpPr/>
          <p:nvPr/>
        </p:nvSpPr>
        <p:spPr>
          <a:xfrm>
            <a:off x="8093301" y="3471552"/>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0" name="Conector recto de flecha 29"/>
          <p:cNvCxnSpPr/>
          <p:nvPr/>
        </p:nvCxnSpPr>
        <p:spPr>
          <a:xfrm flipH="1">
            <a:off x="6091188" y="2291287"/>
            <a:ext cx="6852" cy="223102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00121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446919" y="1053478"/>
            <a:ext cx="5218608" cy="1815882"/>
          </a:xfrm>
          <a:prstGeom prst="rect">
            <a:avLst/>
          </a:prstGeom>
          <a:noFill/>
        </p:spPr>
        <p:txBody>
          <a:bodyPr wrap="square" rtlCol="0">
            <a:spAutoFit/>
          </a:bodyPr>
          <a:lstStyle/>
          <a:p>
            <a:r>
              <a:rPr lang="es-CO" b="1" u="sng" dirty="0"/>
              <a:t>Aprendizaje no supervisado:</a:t>
            </a:r>
            <a:r>
              <a:rPr lang="es-CO" dirty="0"/>
              <a:t> </a:t>
            </a:r>
          </a:p>
          <a:p>
            <a:endParaRPr lang="es-CO" dirty="0"/>
          </a:p>
          <a:p>
            <a:r>
              <a:rPr lang="es-CO" dirty="0"/>
              <a:t>-&gt;  </a:t>
            </a:r>
            <a:r>
              <a:rPr lang="es-ES" dirty="0"/>
              <a:t>Es un aprendizaje inductivo.</a:t>
            </a:r>
          </a:p>
          <a:p>
            <a:r>
              <a:rPr lang="es-ES" dirty="0"/>
              <a:t>-&gt;  Parte sin conocimiento previo.</a:t>
            </a:r>
          </a:p>
          <a:p>
            <a:r>
              <a:rPr lang="es-ES" dirty="0"/>
              <a:t>-&gt;  Es capaz de manejar datos más complejos.</a:t>
            </a:r>
          </a:p>
          <a:p>
            <a:r>
              <a:rPr lang="es-ES" dirty="0"/>
              <a:t>-&gt;  Su objetivo es hallar una función que a partir de un dominio de entrada defina un dominio de salida.</a:t>
            </a:r>
            <a:endParaRPr lang="es-CO" dirty="0"/>
          </a:p>
          <a:p>
            <a:pPr algn="just"/>
            <a:endParaRPr lang="es-CO" dirty="0"/>
          </a:p>
        </p:txBody>
      </p:sp>
      <p:sp>
        <p:nvSpPr>
          <p:cNvPr id="7" name="CuadroTexto 6"/>
          <p:cNvSpPr txBox="1"/>
          <p:nvPr/>
        </p:nvSpPr>
        <p:spPr>
          <a:xfrm>
            <a:off x="365843" y="1053478"/>
            <a:ext cx="5093394" cy="4401205"/>
          </a:xfrm>
          <a:prstGeom prst="rect">
            <a:avLst/>
          </a:prstGeom>
          <a:noFill/>
        </p:spPr>
        <p:txBody>
          <a:bodyPr wrap="square" rtlCol="0">
            <a:spAutoFit/>
          </a:bodyPr>
          <a:lstStyle/>
          <a:p>
            <a:r>
              <a:rPr lang="es-CO" b="1" u="sng" dirty="0"/>
              <a:t>Aprendizaje supervisado:</a:t>
            </a:r>
            <a:r>
              <a:rPr lang="es-CO" b="1" dirty="0"/>
              <a:t> </a:t>
            </a:r>
          </a:p>
          <a:p>
            <a:endParaRPr lang="es-CO" b="1" dirty="0"/>
          </a:p>
          <a:p>
            <a:r>
              <a:rPr lang="es-CO" dirty="0"/>
              <a:t>-&gt;</a:t>
            </a:r>
            <a:r>
              <a:rPr lang="es-CO" b="1" dirty="0"/>
              <a:t>  </a:t>
            </a:r>
            <a:r>
              <a:rPr lang="es-ES" dirty="0"/>
              <a:t>Es un aprendizaje deductivo.</a:t>
            </a:r>
          </a:p>
          <a:p>
            <a:r>
              <a:rPr lang="es-ES" dirty="0"/>
              <a:t>-&gt; Parte de conocimiento previo, es decir de situaciones y                respuestas ya conocidas.</a:t>
            </a:r>
          </a:p>
          <a:p>
            <a:endParaRPr lang="es-ES" dirty="0"/>
          </a:p>
          <a:p>
            <a:r>
              <a:rPr lang="es-ES" dirty="0"/>
              <a:t>-&gt; </a:t>
            </a:r>
            <a:r>
              <a:rPr lang="es-ES" b="1" dirty="0"/>
              <a:t>Tipos: </a:t>
            </a:r>
          </a:p>
          <a:p>
            <a:r>
              <a:rPr lang="es-ES" b="1" dirty="0"/>
              <a:t>	</a:t>
            </a:r>
            <a:r>
              <a:rPr lang="es-ES" i="1" dirty="0"/>
              <a:t>REGRESIÓN:</a:t>
            </a:r>
          </a:p>
          <a:p>
            <a:r>
              <a:rPr lang="es-CO" dirty="0"/>
              <a:t>	Responde a preguntas de “</a:t>
            </a:r>
            <a:r>
              <a:rPr lang="es-CO" b="1" dirty="0"/>
              <a:t>cuánto</a:t>
            </a:r>
            <a:r>
              <a:rPr lang="es-CO" dirty="0"/>
              <a:t>” o que 	devuelve datos más puntuales ante diferentes 	situaciones.</a:t>
            </a:r>
          </a:p>
          <a:p>
            <a:endParaRPr lang="es-CO" dirty="0"/>
          </a:p>
          <a:p>
            <a:endParaRPr lang="es-CO" dirty="0"/>
          </a:p>
          <a:p>
            <a:endParaRPr lang="es-CO" dirty="0"/>
          </a:p>
          <a:p>
            <a:endParaRPr lang="es-CO" dirty="0"/>
          </a:p>
          <a:p>
            <a:r>
              <a:rPr lang="es-CO" dirty="0"/>
              <a:t>	</a:t>
            </a:r>
            <a:r>
              <a:rPr lang="es-ES" i="1" dirty="0"/>
              <a:t>CLASIFICACIÓN:</a:t>
            </a:r>
          </a:p>
          <a:p>
            <a:r>
              <a:rPr lang="es-CO" dirty="0"/>
              <a:t>	Responde a preguntas de “</a:t>
            </a:r>
            <a:r>
              <a:rPr lang="es-CO" b="1" dirty="0"/>
              <a:t>sí o no</a:t>
            </a:r>
            <a:r>
              <a:rPr lang="es-CO" dirty="0"/>
              <a:t>” o que agrupa 	en clases particulares</a:t>
            </a:r>
          </a:p>
          <a:p>
            <a:endParaRPr lang="es-CO" dirty="0"/>
          </a:p>
          <a:p>
            <a:endParaRPr lang="es-CO" b="1" dirty="0"/>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Tipos de machine  </a:t>
            </a:r>
            <a:r>
              <a:rPr lang="es-CO" sz="2200" b="1" dirty="0" err="1">
                <a:solidFill>
                  <a:srgbClr val="FFFFFF"/>
                </a:solidFill>
              </a:rPr>
              <a:t>learning</a:t>
            </a:r>
            <a:endParaRPr lang="es-CO" sz="2200" b="0" i="0" u="none" strike="noStrike" cap="none" dirty="0">
              <a:solidFill>
                <a:srgbClr val="000000"/>
              </a:solidFill>
              <a:latin typeface="Arial"/>
              <a:ea typeface="Arial"/>
              <a:cs typeface="Arial"/>
              <a:sym typeface="Arial"/>
            </a:endParaRPr>
          </a:p>
        </p:txBody>
      </p:sp>
      <p:cxnSp>
        <p:nvCxnSpPr>
          <p:cNvPr id="11" name="Conector recto 10"/>
          <p:cNvCxnSpPr/>
          <p:nvPr/>
        </p:nvCxnSpPr>
        <p:spPr>
          <a:xfrm>
            <a:off x="6098040" y="1181212"/>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
        <p:nvSpPr>
          <p:cNvPr id="12" name="CuadroTexto 11"/>
          <p:cNvSpPr txBox="1"/>
          <p:nvPr/>
        </p:nvSpPr>
        <p:spPr>
          <a:xfrm>
            <a:off x="6446919" y="3409302"/>
            <a:ext cx="5218608" cy="1384995"/>
          </a:xfrm>
          <a:prstGeom prst="rect">
            <a:avLst/>
          </a:prstGeom>
          <a:noFill/>
        </p:spPr>
        <p:txBody>
          <a:bodyPr wrap="square" rtlCol="0">
            <a:spAutoFit/>
          </a:bodyPr>
          <a:lstStyle/>
          <a:p>
            <a:r>
              <a:rPr lang="es-CO" b="1" u="sng" dirty="0"/>
              <a:t>Aprendizaje reforzado:</a:t>
            </a:r>
            <a:r>
              <a:rPr lang="es-CO" dirty="0"/>
              <a:t> </a:t>
            </a:r>
          </a:p>
          <a:p>
            <a:endParaRPr lang="es-CO" dirty="0"/>
          </a:p>
          <a:p>
            <a:r>
              <a:rPr lang="es-CO" dirty="0"/>
              <a:t>-&gt; </a:t>
            </a:r>
            <a:r>
              <a:rPr lang="es-ES" dirty="0"/>
              <a:t>Se entiende como un proceso de “enseñanza” mediante estímulos(recompensas y castigos otorgados por el entorno).</a:t>
            </a:r>
          </a:p>
          <a:p>
            <a:r>
              <a:rPr lang="es-ES" dirty="0"/>
              <a:t>-&gt; Se genera mediante pruebas de ensayo y error.</a:t>
            </a:r>
            <a:endParaRPr lang="es-CO" dirty="0"/>
          </a:p>
          <a:p>
            <a:endParaRPr lang="es-CO" dirty="0"/>
          </a:p>
        </p:txBody>
      </p:sp>
      <p:pic>
        <p:nvPicPr>
          <p:cNvPr id="15" name="Picture 2" descr="Regression vs Classification in Machine Learning - Javatpoint">
            <a:extLst>
              <a:ext uri="{FF2B5EF4-FFF2-40B4-BE49-F238E27FC236}">
                <a16:creationId xmlns:a16="http://schemas.microsoft.com/office/drawing/2014/main" id="{516B3BE5-8DA6-4595-8B25-9AF9EDAE7E7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48751" b="15545"/>
          <a:stretch/>
        </p:blipFill>
        <p:spPr bwMode="auto">
          <a:xfrm>
            <a:off x="3201382" y="3293970"/>
            <a:ext cx="1250404" cy="114735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4" descr="Regression vs Classification in Machine Learning - Javatpoint">
            <a:extLst>
              <a:ext uri="{FF2B5EF4-FFF2-40B4-BE49-F238E27FC236}">
                <a16:creationId xmlns:a16="http://schemas.microsoft.com/office/drawing/2014/main" id="{0B63D918-3439-4032-9200-5AF397B458B9}"/>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50000" b="13918"/>
          <a:stretch/>
        </p:blipFill>
        <p:spPr bwMode="auto">
          <a:xfrm>
            <a:off x="3587963" y="4794297"/>
            <a:ext cx="1202268" cy="115250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Eight ways machine learning is assisting medicine | Nature Medicin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740003" y="2452306"/>
            <a:ext cx="1925524" cy="12763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prendizaje por Refuerzo | Aprende Machine Learning"/>
          <p:cNvPicPr>
            <a:picLocks noChangeAspect="1" noChangeArrowheads="1"/>
          </p:cNvPicPr>
          <p:nvPr/>
        </p:nvPicPr>
        <p:blipFill rotWithShape="1">
          <a:blip r:embed="rId8">
            <a:extLst>
              <a:ext uri="{28A0092B-C50C-407E-A947-70E740481C1C}">
                <a14:useLocalDpi xmlns:a14="http://schemas.microsoft.com/office/drawing/2010/main" val="0"/>
              </a:ext>
            </a:extLst>
          </a:blip>
          <a:srcRect t="8219" b="16100"/>
          <a:stretch/>
        </p:blipFill>
        <p:spPr bwMode="auto">
          <a:xfrm>
            <a:off x="8080644" y="4573133"/>
            <a:ext cx="2130156" cy="13514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24587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216" name="Google Shape;216;p2"/>
          <p:cNvPicPr preferRelativeResize="0"/>
          <p:nvPr/>
        </p:nvPicPr>
        <p:blipFill rotWithShape="1">
          <a:blip r:embed="rId3">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425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001E33"/>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http://github.com/yourUserName/proyecto/.</a:t>
            </a:r>
            <a:r>
              <a:rPr lang="en-US" sz="2200" b="1" i="0" u="none" strike="noStrike" cap="none">
                <a:solidFill>
                  <a:srgbClr val="001E33"/>
                </a:solidFill>
                <a:latin typeface="Arial"/>
                <a:ea typeface="Arial"/>
                <a:cs typeface="Arial"/>
                <a:sym typeface="Arial"/>
              </a:rPr>
              <a:t>..</a:t>
            </a:r>
            <a:endParaRPr sz="2200" b="1" i="0" u="none" strike="noStrike" cap="none">
              <a:solidFill>
                <a:srgbClr val="001E33"/>
              </a:solidFill>
              <a:latin typeface="Arial"/>
              <a:ea typeface="Arial"/>
              <a:cs typeface="Arial"/>
              <a:sym typeface="Arial"/>
            </a:endParaRPr>
          </a:p>
        </p:txBody>
      </p:sp>
      <p:sp>
        <p:nvSpPr>
          <p:cNvPr id="222" name="Google Shape;222;p2"/>
          <p:cNvSpPr/>
          <p:nvPr/>
        </p:nvSpPr>
        <p:spPr>
          <a:xfrm>
            <a:off x="7692600" y="6184200"/>
            <a:ext cx="2932500" cy="5160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1" u="none" strike="noStrike" cap="none">
                <a:solidFill>
                  <a:schemeClr val="accent2"/>
                </a:solidFill>
                <a:latin typeface="Arial"/>
                <a:ea typeface="Arial"/>
                <a:cs typeface="Arial"/>
                <a:sym typeface="Arial"/>
              </a:rPr>
              <a:t>Incluya el URL donde</a:t>
            </a:r>
            <a:br>
              <a:rPr lang="en-US" sz="1400" b="0" i="1" u="none" strike="noStrike" cap="none">
                <a:solidFill>
                  <a:schemeClr val="accent2"/>
                </a:solidFill>
                <a:latin typeface="Arial"/>
                <a:ea typeface="Arial"/>
                <a:cs typeface="Arial"/>
                <a:sym typeface="Arial"/>
              </a:rPr>
            </a:br>
            <a:r>
              <a:rPr lang="en-US" sz="1400" b="0" i="1" u="none" strike="noStrike" cap="none">
                <a:solidFill>
                  <a:schemeClr val="accent2"/>
                </a:solidFill>
                <a:latin typeface="Arial"/>
                <a:ea typeface="Arial"/>
                <a:cs typeface="Arial"/>
                <a:sym typeface="Arial"/>
              </a:rPr>
              <a:t>su proyecto se encuentra</a:t>
            </a:r>
            <a:endParaRPr sz="1400" b="0" i="0" u="none" strike="noStrike" cap="none">
              <a:solidFill>
                <a:schemeClr val="accent2"/>
              </a:solidFill>
              <a:latin typeface="Arial"/>
              <a:ea typeface="Arial"/>
              <a:cs typeface="Arial"/>
              <a:sym typeface="Arial"/>
            </a:endParaRPr>
          </a:p>
        </p:txBody>
      </p:sp>
      <p:sp>
        <p:nvSpPr>
          <p:cNvPr id="223" name="Google Shape;223;p2"/>
          <p:cNvSpPr/>
          <p:nvPr/>
        </p:nvSpPr>
        <p:spPr>
          <a:xfrm>
            <a:off x="6996626" y="6335156"/>
            <a:ext cx="1009314" cy="97794"/>
          </a:xfrm>
          <a:custGeom>
            <a:avLst/>
            <a:gdLst/>
            <a:ahLst/>
            <a:cxnLst/>
            <a:rect l="l" t="t" r="r" b="b"/>
            <a:pathLst>
              <a:path w="21600" h="21600" extrusionOk="0">
                <a:moveTo>
                  <a:pt x="0" y="0"/>
                </a:moveTo>
                <a:lnTo>
                  <a:pt x="21600" y="21600"/>
                </a:lnTo>
              </a:path>
            </a:pathLst>
          </a:custGeom>
          <a:noFill/>
          <a:ln w="76300" cap="flat" cmpd="sng">
            <a:solidFill>
              <a:schemeClr val="accent2"/>
            </a:solidFill>
            <a:prstDash val="solid"/>
            <a:round/>
            <a:headEnd type="none" w="sm" len="sm"/>
            <a:tailEnd type="triangle" w="med" len="med"/>
          </a:ln>
        </p:spPr>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38554"/>
          </a:xfrm>
          <a:prstGeom prst="rect">
            <a:avLst/>
          </a:prstGeom>
          <a:noFill/>
        </p:spPr>
        <p:txBody>
          <a:bodyPr wrap="square" rtlCol="0">
            <a:spAutoFit/>
          </a:bodyPr>
          <a:lstStyle/>
          <a:p>
            <a:r>
              <a:rPr lang="es-ES" sz="1600" b="0" i="0" dirty="0">
                <a:solidFill>
                  <a:srgbClr val="202122"/>
                </a:solidFill>
                <a:effectLst/>
                <a:latin typeface="Arial" panose="020B0604020202020204" pitchFamily="34" charset="0"/>
              </a:rPr>
              <a:t> </a:t>
            </a:r>
            <a:r>
              <a:rPr lang="es-ES" sz="1600" b="1" i="0" dirty="0">
                <a:solidFill>
                  <a:srgbClr val="202122"/>
                </a:solidFill>
                <a:effectLst/>
                <a:latin typeface="Arial" panose="020B0604020202020204" pitchFamily="34" charset="0"/>
              </a:rPr>
              <a:t>Como se aplica las redes neuronales para el reconocimiento de imágenes</a:t>
            </a:r>
            <a:endParaRPr lang="es-CO" sz="1600" b="1" dirty="0"/>
          </a:p>
        </p:txBody>
      </p:sp>
      <p:sp>
        <p:nvSpPr>
          <p:cNvPr id="3" name="CuadroTexto 2">
            <a:extLst>
              <a:ext uri="{FF2B5EF4-FFF2-40B4-BE49-F238E27FC236}">
                <a16:creationId xmlns:a16="http://schemas.microsoft.com/office/drawing/2014/main" id="{D1B12756-2313-4E80-B84F-9DA1D75C8203}"/>
              </a:ext>
            </a:extLst>
          </p:cNvPr>
          <p:cNvSpPr txBox="1"/>
          <p:nvPr/>
        </p:nvSpPr>
        <p:spPr>
          <a:xfrm>
            <a:off x="1389914" y="2077213"/>
            <a:ext cx="10650129" cy="954107"/>
          </a:xfrm>
          <a:prstGeom prst="rect">
            <a:avLst/>
          </a:prstGeom>
          <a:noFill/>
        </p:spPr>
        <p:txBody>
          <a:bodyPr wrap="square" rtlCol="0">
            <a:spAutoFit/>
          </a:bodyPr>
          <a:lstStyle/>
          <a:p>
            <a:r>
              <a:rPr lang="es-CO" dirty="0">
                <a:hlinkClick r:id="rId5"/>
              </a:rPr>
              <a:t>https://www.youtube.com/watch?v=jKCQsndqEGQ&amp;ab_channel=3Blue1BrownEspa%C3%B1ol</a:t>
            </a:r>
            <a:r>
              <a:rPr lang="es-CO" dirty="0"/>
              <a:t>  minuto 1 al  12</a:t>
            </a:r>
          </a:p>
          <a:p>
            <a:endParaRPr lang="es-CO" dirty="0"/>
          </a:p>
          <a:p>
            <a:r>
              <a:rPr lang="es-CO" dirty="0"/>
              <a:t>https://www.youtube.com/watch?v=AwTH_0yW9_I&amp;ab_channel=RingaTech</a:t>
            </a:r>
          </a:p>
          <a:p>
            <a:endParaRPr lang="es-CO" dirty="0"/>
          </a:p>
        </p:txBody>
      </p:sp>
      <p:pic>
        <p:nvPicPr>
          <p:cNvPr id="9" name="Google Shape;199;p2"/>
          <p:cNvPicPr preferRelativeResize="0"/>
          <p:nvPr/>
        </p:nvPicPr>
        <p:blipFill rotWithShape="1">
          <a:blip r:embed="rId6">
            <a:alphaModFix/>
          </a:blip>
          <a:srcRect/>
          <a:stretch/>
        </p:blipFill>
        <p:spPr>
          <a:xfrm>
            <a:off x="0" y="1938"/>
            <a:ext cx="12196080" cy="6855840"/>
          </a:xfrm>
          <a:prstGeom prst="rect">
            <a:avLst/>
          </a:prstGeom>
          <a:noFill/>
          <a:ln>
            <a:noFill/>
          </a:ln>
        </p:spPr>
      </p:pic>
    </p:spTree>
    <p:extLst>
      <p:ext uri="{BB962C8B-B14F-4D97-AF65-F5344CB8AC3E}">
        <p14:creationId xmlns:p14="http://schemas.microsoft.com/office/powerpoint/2010/main" val="16455177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216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marL="0" marR="0" lvl="0" indent="0" algn="l" rtl="0">
              <a:lnSpc>
                <a:spcPct val="100000"/>
              </a:lnSpc>
              <a:spcBef>
                <a:spcPts val="0"/>
              </a:spcBef>
              <a:spcAft>
                <a:spcPts val="0"/>
              </a:spcAft>
              <a:buClr>
                <a:srgbClr val="000000"/>
              </a:buClr>
              <a:buSzPts val="2200"/>
              <a:buFont typeface="Arial"/>
              <a:buNone/>
            </a:pPr>
            <a:endParaRPr sz="2200" b="1" i="0" u="none" strike="noStrike" cap="none" dirty="0">
              <a:solidFill>
                <a:srgbClr val="001E33"/>
              </a:solidFill>
              <a:latin typeface="Arial"/>
              <a:ea typeface="Arial"/>
              <a:cs typeface="Arial"/>
              <a:sym typeface="Arial"/>
            </a:endParaRPr>
          </a:p>
        </p:txBody>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endParaRPr lang="es-CO" dirty="0"/>
          </a:p>
        </p:txBody>
      </p:sp>
      <p:sp>
        <p:nvSpPr>
          <p:cNvPr id="4" name="CuadroTexto 3">
            <a:extLst>
              <a:ext uri="{FF2B5EF4-FFF2-40B4-BE49-F238E27FC236}">
                <a16:creationId xmlns:a16="http://schemas.microsoft.com/office/drawing/2014/main" id="{BB619CF4-8257-459C-9281-5AA5F336422E}"/>
              </a:ext>
            </a:extLst>
          </p:cNvPr>
          <p:cNvSpPr txBox="1"/>
          <p:nvPr/>
        </p:nvSpPr>
        <p:spPr>
          <a:xfrm>
            <a:off x="701862" y="1228397"/>
            <a:ext cx="4901184" cy="4401205"/>
          </a:xfrm>
          <a:prstGeom prst="rect">
            <a:avLst/>
          </a:prstGeom>
          <a:noFill/>
        </p:spPr>
        <p:txBody>
          <a:bodyPr wrap="square" rtlCol="0">
            <a:spAutoFit/>
          </a:bodyPr>
          <a:lstStyle/>
          <a:p>
            <a:r>
              <a:rPr lang="es-MX" b="1" i="1" dirty="0"/>
              <a:t>Set de entrenamiento:</a:t>
            </a:r>
          </a:p>
          <a:p>
            <a:endParaRPr lang="es-MX" dirty="0"/>
          </a:p>
          <a:p>
            <a:r>
              <a:rPr lang="es-MX" dirty="0"/>
              <a:t>Funciona como el conjunto de datos que utilizamos para entrenar nuestro modelo de aprendizaje. El objetivo de este entrenamiento es que la maquina encuentre los patrones o características importantes de cada problema para lograr dar una solución representativa. Es importante mencionar que en esta etapa de entrenamiento el algoritmo dispondrá tanto de las entradas como de las salidas correctas, estas últimas le servirán como punto de apoyo para saber que responder ante diferentes pruebas (generalización). Algo interesante es que puede darse el caso de que el algoritmo solo aprenda a ver los patrones en los datos del conjunto de entrenamiento, mas no en lo datos del conjunto de prueba, a esto se le llama overfitting o sobreajuste en español. Caso contrario es que no sepa identificar los patrones en los datos del conjunto de entrenamiento, y, por ende, no tenga la capacidad de dar soluciones representativas, a esto se le llama underfitting o subajuste en español.</a:t>
            </a:r>
            <a:endParaRPr lang="es-CO" dirty="0"/>
          </a:p>
        </p:txBody>
      </p:sp>
      <p:pic>
        <p:nvPicPr>
          <p:cNvPr id="1030" name="Picture 6" descr="Introducción a la Teoría de Aprendizaje de Máquina y sus Aplicaciones: Un  Tutorial Visual con Ejemplos | Toptal">
            <a:extLst>
              <a:ext uri="{FF2B5EF4-FFF2-40B4-BE49-F238E27FC236}">
                <a16:creationId xmlns:a16="http://schemas.microsoft.com/office/drawing/2014/main" id="{F1F24D8B-621B-4D95-88A1-2F159649657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00674" y="1507297"/>
            <a:ext cx="3843406" cy="38434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01144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2299"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marL="0" marR="0" lvl="0" indent="0" algn="l" rtl="0">
              <a:lnSpc>
                <a:spcPct val="100000"/>
              </a:lnSpc>
              <a:spcBef>
                <a:spcPts val="0"/>
              </a:spcBef>
              <a:spcAft>
                <a:spcPts val="0"/>
              </a:spcAft>
              <a:buClr>
                <a:srgbClr val="000000"/>
              </a:buClr>
              <a:buSzPts val="2200"/>
              <a:buFont typeface="Arial"/>
              <a:buNone/>
            </a:pPr>
            <a:endParaRPr sz="2200" b="1" i="0" u="none" strike="noStrike" cap="none" dirty="0">
              <a:solidFill>
                <a:srgbClr val="001E33"/>
              </a:solidFill>
              <a:latin typeface="Arial"/>
              <a:ea typeface="Arial"/>
              <a:cs typeface="Arial"/>
              <a:sym typeface="Arial"/>
            </a:endParaRPr>
          </a:p>
        </p:txBody>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endParaRPr lang="es-CO" dirty="0"/>
          </a:p>
        </p:txBody>
      </p:sp>
      <p:sp>
        <p:nvSpPr>
          <p:cNvPr id="5" name="CuadroTexto 4">
            <a:extLst>
              <a:ext uri="{FF2B5EF4-FFF2-40B4-BE49-F238E27FC236}">
                <a16:creationId xmlns:a16="http://schemas.microsoft.com/office/drawing/2014/main" id="{44490BD1-AA69-413F-9C09-ECE2B512CC83}"/>
              </a:ext>
            </a:extLst>
          </p:cNvPr>
          <p:cNvSpPr txBox="1"/>
          <p:nvPr/>
        </p:nvSpPr>
        <p:spPr>
          <a:xfrm>
            <a:off x="493380" y="1363901"/>
            <a:ext cx="4681728" cy="1815882"/>
          </a:xfrm>
          <a:prstGeom prst="rect">
            <a:avLst/>
          </a:prstGeom>
          <a:noFill/>
        </p:spPr>
        <p:txBody>
          <a:bodyPr wrap="square" rtlCol="0">
            <a:spAutoFit/>
          </a:bodyPr>
          <a:lstStyle/>
          <a:p>
            <a:r>
              <a:rPr lang="es-MX" b="1" i="1" dirty="0"/>
              <a:t>Set de prueba:</a:t>
            </a:r>
          </a:p>
          <a:p>
            <a:endParaRPr lang="es-MX" dirty="0"/>
          </a:p>
          <a:p>
            <a:r>
              <a:rPr lang="es-MX" dirty="0"/>
              <a:t>Es un conjunto de datos más pequeño que el de entrenamiento el cual nos ayudará a evaluar el aprendizaje que haya tenido nuestro algoritmo de aprendizaje. De este sacaremos las conclusiones y nos servirá también para cuestionar que cambios hacer en caso de ser necesario.</a:t>
            </a:r>
          </a:p>
        </p:txBody>
      </p:sp>
      <p:sp>
        <p:nvSpPr>
          <p:cNvPr id="6" name="CuadroTexto 5">
            <a:extLst>
              <a:ext uri="{FF2B5EF4-FFF2-40B4-BE49-F238E27FC236}">
                <a16:creationId xmlns:a16="http://schemas.microsoft.com/office/drawing/2014/main" id="{B51EE3DF-BEFF-447E-AAA0-39A9B9730E89}"/>
              </a:ext>
            </a:extLst>
          </p:cNvPr>
          <p:cNvSpPr txBox="1"/>
          <p:nvPr/>
        </p:nvSpPr>
        <p:spPr>
          <a:xfrm>
            <a:off x="493380" y="3475927"/>
            <a:ext cx="4913078" cy="2246769"/>
          </a:xfrm>
          <a:prstGeom prst="rect">
            <a:avLst/>
          </a:prstGeom>
          <a:noFill/>
        </p:spPr>
        <p:txBody>
          <a:bodyPr wrap="square" rtlCol="0">
            <a:spAutoFit/>
          </a:bodyPr>
          <a:lstStyle/>
          <a:p>
            <a:r>
              <a:rPr lang="es-MX" b="1" i="1" dirty="0"/>
              <a:t>Set de validación:</a:t>
            </a:r>
          </a:p>
          <a:p>
            <a:endParaRPr lang="es-CO" dirty="0"/>
          </a:p>
          <a:p>
            <a:r>
              <a:rPr lang="es-CO" dirty="0"/>
              <a:t>El set de validación es una porción del set de entrenamiento que nos sirve para identificar los cambios necesarios en los hiperparametros, con el objetivo de evitar todo tipo de problemas como el underfitting o el overfitting. Muchas veces no es considerado un set en si mismo, sino uno que surge mediante la realización del entrenamiento. El tamaño de los datos es este conjunto tiene generalmente la misma proporción que el set de prueba.</a:t>
            </a:r>
          </a:p>
        </p:txBody>
      </p:sp>
      <p:pic>
        <p:nvPicPr>
          <p:cNvPr id="2050" name="Picture 2" descr="Deepmind AlphaGo - AI&amp;#39;s On It&amp;#39;s Way To Superiority">
            <a:extLst>
              <a:ext uri="{FF2B5EF4-FFF2-40B4-BE49-F238E27FC236}">
                <a16:creationId xmlns:a16="http://schemas.microsoft.com/office/drawing/2014/main" id="{C3100B0C-D490-47A6-839D-206301FABC4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030437" y="1096721"/>
            <a:ext cx="3298014" cy="234578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Cómo funcionan los captcha de &amp;#39;No soy un robot&amp;#39; que no nos piden resolver  nada? | recaptcha | pc | internet | Google | Fotos | Video | Tecnología |  La República">
            <a:extLst>
              <a:ext uri="{FF2B5EF4-FFF2-40B4-BE49-F238E27FC236}">
                <a16:creationId xmlns:a16="http://schemas.microsoft.com/office/drawing/2014/main" id="{713DB346-0E64-4713-92DE-7557DDFE73A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999594" y="3755136"/>
            <a:ext cx="3347729" cy="18260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4569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069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425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001E33"/>
                </a:solidFill>
                <a:uFill>
                  <a:noFill/>
                </a:uFill>
                <a:latin typeface="Arial"/>
                <a:ea typeface="Arial"/>
                <a:cs typeface="Arial"/>
                <a:sym typeface="Arial"/>
                <a:hlinkClick r:id="rId5">
                  <a:extLst>
                    <a:ext uri="{A12FA001-AC4F-418D-AE19-62706E023703}">
                      <ahyp:hlinkClr xmlns:ahyp="http://schemas.microsoft.com/office/drawing/2018/hyperlinkcolor" val="tx"/>
                    </a:ext>
                  </a:extLst>
                </a:hlinkClick>
              </a:rPr>
              <a:t>http://github.com/yourUserName/proyecto/.</a:t>
            </a:r>
            <a:r>
              <a:rPr lang="en-US" sz="2200" b="1" i="0" u="none" strike="noStrike" cap="none">
                <a:solidFill>
                  <a:srgbClr val="001E33"/>
                </a:solidFill>
                <a:latin typeface="Arial"/>
                <a:ea typeface="Arial"/>
                <a:cs typeface="Arial"/>
                <a:sym typeface="Arial"/>
              </a:rPr>
              <a:t>..</a:t>
            </a:r>
            <a:endParaRPr sz="2200" b="1" i="0" u="none" strike="noStrike" cap="none">
              <a:solidFill>
                <a:srgbClr val="001E33"/>
              </a:solidFill>
              <a:latin typeface="Arial"/>
              <a:ea typeface="Arial"/>
              <a:cs typeface="Arial"/>
              <a:sym typeface="Arial"/>
            </a:endParaRPr>
          </a:p>
        </p:txBody>
      </p:sp>
      <p:sp>
        <p:nvSpPr>
          <p:cNvPr id="222" name="Google Shape;222;p2"/>
          <p:cNvSpPr/>
          <p:nvPr/>
        </p:nvSpPr>
        <p:spPr>
          <a:xfrm>
            <a:off x="7692600" y="6184200"/>
            <a:ext cx="2932500" cy="5160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1" u="none" strike="noStrike" cap="none">
                <a:solidFill>
                  <a:schemeClr val="accent2"/>
                </a:solidFill>
                <a:latin typeface="Arial"/>
                <a:ea typeface="Arial"/>
                <a:cs typeface="Arial"/>
                <a:sym typeface="Arial"/>
              </a:rPr>
              <a:t>Incluya el URL donde</a:t>
            </a:r>
            <a:br>
              <a:rPr lang="en-US" sz="1400" b="0" i="1" u="none" strike="noStrike" cap="none">
                <a:solidFill>
                  <a:schemeClr val="accent2"/>
                </a:solidFill>
                <a:latin typeface="Arial"/>
                <a:ea typeface="Arial"/>
                <a:cs typeface="Arial"/>
                <a:sym typeface="Arial"/>
              </a:rPr>
            </a:br>
            <a:r>
              <a:rPr lang="en-US" sz="1400" b="0" i="1" u="none" strike="noStrike" cap="none">
                <a:solidFill>
                  <a:schemeClr val="accent2"/>
                </a:solidFill>
                <a:latin typeface="Arial"/>
                <a:ea typeface="Arial"/>
                <a:cs typeface="Arial"/>
                <a:sym typeface="Arial"/>
              </a:rPr>
              <a:t>su proyecto se encuentra</a:t>
            </a:r>
            <a:endParaRPr sz="1400" b="0" i="0" u="none" strike="noStrike" cap="none">
              <a:solidFill>
                <a:schemeClr val="accent2"/>
              </a:solidFill>
              <a:latin typeface="Arial"/>
              <a:ea typeface="Arial"/>
              <a:cs typeface="Arial"/>
              <a:sym typeface="Arial"/>
            </a:endParaRPr>
          </a:p>
        </p:txBody>
      </p:sp>
      <p:sp>
        <p:nvSpPr>
          <p:cNvPr id="223" name="Google Shape;223;p2"/>
          <p:cNvSpPr/>
          <p:nvPr/>
        </p:nvSpPr>
        <p:spPr>
          <a:xfrm>
            <a:off x="6996626" y="6335156"/>
            <a:ext cx="1009314" cy="97794"/>
          </a:xfrm>
          <a:custGeom>
            <a:avLst/>
            <a:gdLst/>
            <a:ahLst/>
            <a:cxnLst/>
            <a:rect l="l" t="t" r="r" b="b"/>
            <a:pathLst>
              <a:path w="21600" h="21600" extrusionOk="0">
                <a:moveTo>
                  <a:pt x="0" y="0"/>
                </a:moveTo>
                <a:lnTo>
                  <a:pt x="21600" y="21600"/>
                </a:lnTo>
              </a:path>
            </a:pathLst>
          </a:custGeom>
          <a:noFill/>
          <a:ln w="76300" cap="flat" cmpd="sng">
            <a:solidFill>
              <a:schemeClr val="accent2"/>
            </a:solidFill>
            <a:prstDash val="solid"/>
            <a:round/>
            <a:headEnd type="none" w="sm" len="sm"/>
            <a:tailEnd type="triangle" w="med" len="med"/>
          </a:ln>
        </p:spPr>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endParaRPr lang="es-CO" dirty="0"/>
          </a:p>
        </p:txBody>
      </p:sp>
      <p:sp>
        <p:nvSpPr>
          <p:cNvPr id="4" name="CuadroTexto 3">
            <a:extLst>
              <a:ext uri="{FF2B5EF4-FFF2-40B4-BE49-F238E27FC236}">
                <a16:creationId xmlns:a16="http://schemas.microsoft.com/office/drawing/2014/main" id="{A2D86EE8-BF55-4F35-A8B5-69743B8E6095}"/>
              </a:ext>
            </a:extLst>
          </p:cNvPr>
          <p:cNvSpPr txBox="1"/>
          <p:nvPr/>
        </p:nvSpPr>
        <p:spPr>
          <a:xfrm>
            <a:off x="803880" y="1571348"/>
            <a:ext cx="10630559" cy="1815882"/>
          </a:xfrm>
          <a:prstGeom prst="rect">
            <a:avLst/>
          </a:prstGeom>
          <a:noFill/>
        </p:spPr>
        <p:txBody>
          <a:bodyPr wrap="square" rtlCol="0">
            <a:spAutoFit/>
          </a:bodyPr>
          <a:lstStyle/>
          <a:p>
            <a:endParaRPr lang="es-ES" dirty="0"/>
          </a:p>
          <a:p>
            <a:r>
              <a:rPr lang="es-ES" dirty="0"/>
              <a:t>Especifique los pasos</a:t>
            </a:r>
          </a:p>
          <a:p>
            <a:r>
              <a:rPr lang="es-ES" dirty="0"/>
              <a:t>Para abrir un archivo en </a:t>
            </a:r>
            <a:r>
              <a:rPr lang="es-ES" dirty="0" err="1"/>
              <a:t>cvs</a:t>
            </a:r>
            <a:r>
              <a:rPr lang="es-ES" dirty="0"/>
              <a:t> con datos de imágenes y convertirlo en matriz</a:t>
            </a:r>
          </a:p>
          <a:p>
            <a:r>
              <a:rPr lang="es-ES" dirty="0"/>
              <a:t>Intente con </a:t>
            </a:r>
            <a:r>
              <a:rPr lang="es-ES" dirty="0" err="1"/>
              <a:t>almenos</a:t>
            </a:r>
            <a:r>
              <a:rPr lang="es-ES" dirty="0"/>
              <a:t> un archivo de cada una de las carpetas</a:t>
            </a:r>
          </a:p>
          <a:p>
            <a:r>
              <a:rPr lang="es-CO" dirty="0">
                <a:hlinkClick r:id="rId6"/>
              </a:rPr>
              <a:t>ST0245-Eafit/proyecto/</a:t>
            </a:r>
            <a:r>
              <a:rPr lang="es-CO" dirty="0" err="1">
                <a:hlinkClick r:id="rId6"/>
              </a:rPr>
              <a:t>datasets</a:t>
            </a:r>
            <a:r>
              <a:rPr lang="es-CO" dirty="0">
                <a:hlinkClick r:id="rId6"/>
              </a:rPr>
              <a:t>/</a:t>
            </a:r>
            <a:r>
              <a:rPr lang="es-CO" dirty="0" err="1">
                <a:hlinkClick r:id="rId6"/>
              </a:rPr>
              <a:t>csv</a:t>
            </a:r>
            <a:r>
              <a:rPr lang="es-CO" dirty="0">
                <a:hlinkClick r:id="rId6"/>
              </a:rPr>
              <a:t>/</a:t>
            </a:r>
            <a:r>
              <a:rPr lang="es-CO" dirty="0" err="1">
                <a:hlinkClick r:id="rId6"/>
              </a:rPr>
              <a:t>paraEntrenarYProbarLaIA</a:t>
            </a:r>
            <a:r>
              <a:rPr lang="es-CO" dirty="0">
                <a:hlinkClick r:id="rId6"/>
              </a:rPr>
              <a:t> at master · </a:t>
            </a:r>
            <a:r>
              <a:rPr lang="es-CO" dirty="0" err="1">
                <a:hlinkClick r:id="rId6"/>
              </a:rPr>
              <a:t>mauriciotoro</a:t>
            </a:r>
            <a:r>
              <a:rPr lang="es-CO" dirty="0">
                <a:hlinkClick r:id="rId6"/>
              </a:rPr>
              <a:t>/ST0245-Eafit (github.com)</a:t>
            </a:r>
            <a:endParaRPr lang="es-ES" dirty="0"/>
          </a:p>
          <a:p>
            <a:endParaRPr lang="es-ES" dirty="0"/>
          </a:p>
          <a:p>
            <a:endParaRPr lang="es-ES" dirty="0"/>
          </a:p>
          <a:p>
            <a:endParaRPr lang="es-CO" dirty="0"/>
          </a:p>
        </p:txBody>
      </p:sp>
    </p:spTree>
    <p:extLst>
      <p:ext uri="{BB962C8B-B14F-4D97-AF65-F5344CB8AC3E}">
        <p14:creationId xmlns:p14="http://schemas.microsoft.com/office/powerpoint/2010/main" val="200808834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742</TotalTime>
  <Words>1272</Words>
  <Application>Microsoft Office PowerPoint</Application>
  <PresentationFormat>Panorámica</PresentationFormat>
  <Paragraphs>95</Paragraphs>
  <Slides>12</Slides>
  <Notes>12</Notes>
  <HiddenSlides>0</HiddenSlides>
  <MMClips>0</MMClips>
  <ScaleCrop>false</ScaleCrop>
  <HeadingPairs>
    <vt:vector size="6" baseType="variant">
      <vt:variant>
        <vt:lpstr>Fuentes usadas</vt:lpstr>
      </vt:variant>
      <vt:variant>
        <vt:i4>3</vt:i4>
      </vt:variant>
      <vt:variant>
        <vt:lpstr>Tema</vt:lpstr>
      </vt:variant>
      <vt:variant>
        <vt:i4>2</vt:i4>
      </vt:variant>
      <vt:variant>
        <vt:lpstr>Títulos de diapositiva</vt:lpstr>
      </vt:variant>
      <vt:variant>
        <vt:i4>12</vt:i4>
      </vt:variant>
    </vt:vector>
  </HeadingPairs>
  <TitlesOfParts>
    <vt:vector size="17" baseType="lpstr">
      <vt:lpstr>Arial</vt:lpstr>
      <vt:lpstr>Calibri</vt:lpstr>
      <vt:lpstr>Times New Roman</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DeepL Translator</dc:creator>
  <cp:lastModifiedBy>Gian Paul Sánchez Aristizabal</cp:lastModifiedBy>
  <cp:revision>34</cp:revision>
  <dcterms:created xsi:type="dcterms:W3CDTF">2020-06-26T14:36:07Z</dcterms:created>
  <dcterms:modified xsi:type="dcterms:W3CDTF">2021-11-19T22:30:19Z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Panorámica</vt:lpwstr>
  </property>
  <property fmtid="{D5CDD505-2E9C-101B-9397-08002B2CF9AE}" pid="9" name="ScaleCrop">
    <vt:bool>false</vt:bool>
  </property>
  <property fmtid="{D5CDD505-2E9C-101B-9397-08002B2CF9AE}" pid="10" name="ShareDoc">
    <vt:bool>false</vt:bool>
  </property>
  <property fmtid="{D5CDD505-2E9C-101B-9397-08002B2CF9AE}" pid="11" name="Slides">
    <vt:i4>2</vt:i4>
  </property>
</Properties>
</file>