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17"/>
  </p:notesMasterIdLst>
  <p:sldIdLst>
    <p:sldId id="256" r:id="rId3"/>
    <p:sldId id="257" r:id="rId4"/>
    <p:sldId id="258" r:id="rId5"/>
    <p:sldId id="259" r:id="rId6"/>
    <p:sldId id="260" r:id="rId7"/>
    <p:sldId id="261" r:id="rId8"/>
    <p:sldId id="271" r:id="rId9"/>
    <p:sldId id="273" r:id="rId10"/>
    <p:sldId id="275" r:id="rId11"/>
    <p:sldId id="278" r:id="rId12"/>
    <p:sldId id="277" r:id="rId13"/>
    <p:sldId id="265" r:id="rId14"/>
    <p:sldId id="274" r:id="rId15"/>
    <p:sldId id="266" r:id="rId16"/>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82519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66654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14654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73523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88693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60690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97745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023967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5"/>
        <p:cNvGrpSpPr/>
        <p:nvPr/>
      </p:nvGrpSpPr>
      <p:grpSpPr>
        <a:xfrm>
          <a:off x="0" y="0"/>
          <a:ext cx="0" cy="0"/>
          <a:chOff x="0" y="0"/>
          <a:chExt cx="0" cy="0"/>
        </a:xfrm>
      </p:grpSpPr>
      <p:sp>
        <p:nvSpPr>
          <p:cNvPr id="76" name="Google Shape;76;p34"/>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7" r:id="rId2"/>
    <p:sldLayoutId id="2147483668" r:id="rId3"/>
    <p:sldLayoutId id="2147483669" r:id="rId4"/>
    <p:sldLayoutId id="2147483670" r:id="rId5"/>
    <p:sldLayoutId id="2147483671" r:id="rId6"/>
    <p:sldLayoutId id="2147483672" r:id="rId7"/>
    <p:sldLayoutId id="2147483673"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5.jpe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6.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2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23.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3.xml"/><Relationship Id="rId6" Type="http://schemas.openxmlformats.org/officeDocument/2006/relationships/hyperlink" Target="https://github.com/mauriciotoro/ST0245-Eafit/tree/master/proyecto/datasets/csv/paraEntrenarYProbarLaIA"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764418" y="2153018"/>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s-CO" sz="3600" b="1" i="0" u="none" strike="noStrike" cap="none" dirty="0">
                <a:solidFill>
                  <a:srgbClr val="000000"/>
                </a:solidFill>
                <a:latin typeface="Arial"/>
                <a:ea typeface="Arial"/>
                <a:cs typeface="Arial"/>
                <a:sym typeface="Arial"/>
              </a:rPr>
              <a:t>Investigación para la compresión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i="0" u="none" strike="noStrike" cap="none" dirty="0">
                <a:solidFill>
                  <a:srgbClr val="FFFFFF"/>
                </a:solidFill>
                <a:latin typeface="Arial"/>
                <a:ea typeface="Arial"/>
                <a:cs typeface="Arial"/>
                <a:sym typeface="Arial"/>
              </a:rPr>
              <a:t>Presentación del equipo</a:t>
            </a:r>
            <a:endParaRPr lang="es-CO" sz="2200" b="0" i="0" u="none" strike="noStrike" cap="none" dirty="0">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7"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sp>
        <p:nvSpPr>
          <p:cNvPr id="5" name="Rectángulo redondeado 4"/>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2480352" y="1427292"/>
            <a:ext cx="7235376" cy="738664"/>
          </a:xfrm>
          <a:prstGeom prst="rect">
            <a:avLst/>
          </a:prstGeom>
          <a:noFill/>
        </p:spPr>
        <p:txBody>
          <a:bodyPr wrap="square" rtlCol="0">
            <a:spAutoFit/>
          </a:bodyPr>
          <a:lstStyle/>
          <a:p>
            <a:pPr algn="ctr"/>
            <a:r>
              <a:rPr lang="es-CO" dirty="0">
                <a:solidFill>
                  <a:schemeClr val="bg1"/>
                </a:solidFill>
              </a:rPr>
              <a:t>La compresión de imágenes es el proceso de reducir el tamaño de estas usando técnicas para simplificar la información redundante y así volverla más óptima para los objetivos que se tengan con esta.</a:t>
            </a:r>
          </a:p>
        </p:txBody>
      </p:sp>
      <p:sp>
        <p:nvSpPr>
          <p:cNvPr id="4" name="CuadroTexto 3"/>
          <p:cNvSpPr txBox="1"/>
          <p:nvPr/>
        </p:nvSpPr>
        <p:spPr>
          <a:xfrm>
            <a:off x="798802" y="3598173"/>
            <a:ext cx="4160129" cy="1815882"/>
          </a:xfrm>
          <a:prstGeom prst="rect">
            <a:avLst/>
          </a:prstGeom>
          <a:noFill/>
        </p:spPr>
        <p:txBody>
          <a:bodyPr wrap="square" rtlCol="0">
            <a:spAutoFit/>
          </a:bodyPr>
          <a:lstStyle/>
          <a:p>
            <a:pPr algn="ctr"/>
            <a:r>
              <a:rPr lang="es-CO" b="1" dirty="0"/>
              <a:t>Compresión</a:t>
            </a:r>
            <a:r>
              <a:rPr lang="pt-BR" b="1" dirty="0"/>
              <a:t> Lossy</a:t>
            </a:r>
          </a:p>
          <a:p>
            <a:pPr algn="ctr"/>
            <a:endParaRPr lang="pt-BR" b="1" dirty="0"/>
          </a:p>
          <a:p>
            <a:pPr algn="just"/>
            <a:r>
              <a:rPr lang="pt-BR" dirty="0"/>
              <a:t>Es un </a:t>
            </a:r>
            <a:r>
              <a:rPr lang="es-CO" dirty="0"/>
              <a:t>proceso</a:t>
            </a:r>
            <a:r>
              <a:rPr lang="pt-BR" dirty="0"/>
              <a:t> de </a:t>
            </a:r>
            <a:r>
              <a:rPr lang="pt-BR" dirty="0" err="1"/>
              <a:t>co</a:t>
            </a:r>
            <a:r>
              <a:rPr lang="es-CO" dirty="0" err="1"/>
              <a:t>mpresión</a:t>
            </a:r>
            <a:r>
              <a:rPr lang="es-CO" dirty="0"/>
              <a:t> </a:t>
            </a:r>
            <a:r>
              <a:rPr lang="pt-BR" dirty="0"/>
              <a:t>de </a:t>
            </a:r>
            <a:r>
              <a:rPr lang="pt-BR" dirty="0" err="1"/>
              <a:t>imagen</a:t>
            </a:r>
            <a:r>
              <a:rPr lang="pt-BR" dirty="0"/>
              <a:t> que se </a:t>
            </a:r>
            <a:r>
              <a:rPr lang="pt-BR" dirty="0" err="1"/>
              <a:t>basa</a:t>
            </a:r>
            <a:r>
              <a:rPr lang="pt-BR" dirty="0"/>
              <a:t> </a:t>
            </a:r>
            <a:r>
              <a:rPr lang="pt-BR" dirty="0" err="1"/>
              <a:t>en</a:t>
            </a:r>
            <a:r>
              <a:rPr lang="pt-BR" dirty="0"/>
              <a:t> </a:t>
            </a:r>
            <a:r>
              <a:rPr lang="pt-BR" dirty="0" err="1"/>
              <a:t>la</a:t>
            </a:r>
            <a:r>
              <a:rPr lang="pt-BR" dirty="0"/>
              <a:t> </a:t>
            </a:r>
            <a:r>
              <a:rPr lang="pt-BR" dirty="0" err="1"/>
              <a:t>eliminación</a:t>
            </a:r>
            <a:r>
              <a:rPr lang="pt-BR" dirty="0"/>
              <a:t> de </a:t>
            </a:r>
            <a:r>
              <a:rPr lang="pt-BR" dirty="0" err="1"/>
              <a:t>información</a:t>
            </a:r>
            <a:r>
              <a:rPr lang="pt-BR" dirty="0"/>
              <a:t> de </a:t>
            </a:r>
            <a:r>
              <a:rPr lang="pt-BR" dirty="0" err="1"/>
              <a:t>la</a:t>
            </a:r>
            <a:r>
              <a:rPr lang="pt-BR" dirty="0"/>
              <a:t> </a:t>
            </a:r>
            <a:r>
              <a:rPr lang="pt-BR" dirty="0" err="1"/>
              <a:t>cual</a:t>
            </a:r>
            <a:r>
              <a:rPr lang="pt-BR" dirty="0"/>
              <a:t> </a:t>
            </a:r>
            <a:r>
              <a:rPr lang="pt-BR" dirty="0" err="1"/>
              <a:t>el</a:t>
            </a:r>
            <a:r>
              <a:rPr lang="pt-BR" dirty="0"/>
              <a:t> ser humano </a:t>
            </a:r>
            <a:r>
              <a:rPr lang="pt-BR" dirty="0" err="1"/>
              <a:t>puede</a:t>
            </a:r>
            <a:r>
              <a:rPr lang="pt-BR" dirty="0"/>
              <a:t> </a:t>
            </a:r>
            <a:r>
              <a:rPr lang="es-CO" dirty="0"/>
              <a:t>prescindir</a:t>
            </a:r>
            <a:r>
              <a:rPr lang="pt-BR" dirty="0"/>
              <a:t> </a:t>
            </a:r>
            <a:r>
              <a:rPr lang="pt-BR" dirty="0" err="1"/>
              <a:t>sin</a:t>
            </a:r>
            <a:r>
              <a:rPr lang="pt-BR" dirty="0"/>
              <a:t> cambiar </a:t>
            </a:r>
            <a:r>
              <a:rPr lang="pt-BR" dirty="0" err="1"/>
              <a:t>el</a:t>
            </a:r>
            <a:r>
              <a:rPr lang="pt-BR" dirty="0"/>
              <a:t> resultado o </a:t>
            </a:r>
            <a:r>
              <a:rPr lang="pt-BR" dirty="0" err="1"/>
              <a:t>el</a:t>
            </a:r>
            <a:r>
              <a:rPr lang="pt-BR" dirty="0"/>
              <a:t> significado de </a:t>
            </a:r>
            <a:r>
              <a:rPr lang="pt-BR" dirty="0" err="1"/>
              <a:t>la</a:t>
            </a:r>
            <a:r>
              <a:rPr lang="pt-BR" dirty="0"/>
              <a:t> </a:t>
            </a:r>
            <a:r>
              <a:rPr lang="es-CO" dirty="0"/>
              <a:t>imagen</a:t>
            </a:r>
            <a:r>
              <a:rPr lang="pt-BR" dirty="0"/>
              <a:t>. La perdida de </a:t>
            </a:r>
            <a:r>
              <a:rPr lang="es-CO" dirty="0"/>
              <a:t>información</a:t>
            </a:r>
            <a:r>
              <a:rPr lang="pt-BR" dirty="0"/>
              <a:t> </a:t>
            </a:r>
            <a:r>
              <a:rPr lang="pt-BR" dirty="0" err="1"/>
              <a:t>en</a:t>
            </a:r>
            <a:r>
              <a:rPr lang="pt-BR" dirty="0"/>
              <a:t> este </a:t>
            </a:r>
            <a:r>
              <a:rPr lang="pt-BR" dirty="0" err="1"/>
              <a:t>proceso</a:t>
            </a:r>
            <a:r>
              <a:rPr lang="pt-BR" dirty="0"/>
              <a:t> es </a:t>
            </a:r>
            <a:r>
              <a:rPr lang="pt-BR" dirty="0" err="1"/>
              <a:t>irre</a:t>
            </a:r>
            <a:r>
              <a:rPr lang="es-CO" dirty="0" err="1"/>
              <a:t>versible</a:t>
            </a:r>
            <a:r>
              <a:rPr lang="es-CO" dirty="0"/>
              <a:t> y compromete la calidad de la imagen.</a:t>
            </a:r>
            <a:endParaRPr lang="pt-BR" dirty="0"/>
          </a:p>
        </p:txBody>
      </p:sp>
      <p:sp>
        <p:nvSpPr>
          <p:cNvPr id="9" name="CuadroTexto 8"/>
          <p:cNvSpPr txBox="1"/>
          <p:nvPr/>
        </p:nvSpPr>
        <p:spPr>
          <a:xfrm>
            <a:off x="7245127" y="3813616"/>
            <a:ext cx="4160129" cy="1384995"/>
          </a:xfrm>
          <a:prstGeom prst="rect">
            <a:avLst/>
          </a:prstGeom>
          <a:noFill/>
        </p:spPr>
        <p:txBody>
          <a:bodyPr wrap="square" rtlCol="0">
            <a:spAutoFit/>
          </a:bodyPr>
          <a:lstStyle/>
          <a:p>
            <a:pPr algn="ctr"/>
            <a:r>
              <a:rPr lang="pt-BR" b="1" dirty="0" err="1"/>
              <a:t>Compresión</a:t>
            </a:r>
            <a:r>
              <a:rPr lang="pt-BR" b="1" dirty="0"/>
              <a:t> </a:t>
            </a:r>
            <a:r>
              <a:rPr lang="pt-BR" b="1" dirty="0" err="1"/>
              <a:t>LossLess</a:t>
            </a:r>
            <a:endParaRPr lang="pt-BR" b="1" dirty="0"/>
          </a:p>
          <a:p>
            <a:pPr algn="ctr"/>
            <a:endParaRPr lang="pt-BR" b="1" dirty="0"/>
          </a:p>
          <a:p>
            <a:pPr algn="just"/>
            <a:r>
              <a:rPr lang="pt-BR" dirty="0"/>
              <a:t>Es un </a:t>
            </a:r>
            <a:r>
              <a:rPr lang="pt-BR" dirty="0" err="1"/>
              <a:t>proceso</a:t>
            </a:r>
            <a:r>
              <a:rPr lang="pt-BR" dirty="0"/>
              <a:t> de </a:t>
            </a:r>
            <a:r>
              <a:rPr lang="pt-BR" dirty="0" err="1"/>
              <a:t>compresión</a:t>
            </a:r>
            <a:r>
              <a:rPr lang="pt-BR" dirty="0"/>
              <a:t> de </a:t>
            </a:r>
            <a:r>
              <a:rPr lang="pt-BR" dirty="0" err="1"/>
              <a:t>imagen</a:t>
            </a:r>
            <a:r>
              <a:rPr lang="pt-BR" dirty="0"/>
              <a:t> que se </a:t>
            </a:r>
            <a:r>
              <a:rPr lang="pt-BR" dirty="0" err="1"/>
              <a:t>basa</a:t>
            </a:r>
            <a:r>
              <a:rPr lang="pt-BR" dirty="0"/>
              <a:t> </a:t>
            </a:r>
            <a:r>
              <a:rPr lang="pt-BR" dirty="0" err="1"/>
              <a:t>en</a:t>
            </a:r>
            <a:r>
              <a:rPr lang="pt-BR" dirty="0"/>
              <a:t> </a:t>
            </a:r>
            <a:r>
              <a:rPr lang="pt-BR" dirty="0" err="1"/>
              <a:t>la</a:t>
            </a:r>
            <a:r>
              <a:rPr lang="pt-BR" dirty="0"/>
              <a:t> </a:t>
            </a:r>
            <a:r>
              <a:rPr lang="pt-BR" dirty="0" err="1"/>
              <a:t>reestructuración</a:t>
            </a:r>
            <a:r>
              <a:rPr lang="pt-BR" dirty="0"/>
              <a:t> de </a:t>
            </a:r>
            <a:r>
              <a:rPr lang="pt-BR" dirty="0" err="1"/>
              <a:t>la</a:t>
            </a:r>
            <a:r>
              <a:rPr lang="pt-BR" dirty="0"/>
              <a:t> </a:t>
            </a:r>
            <a:r>
              <a:rPr lang="pt-BR" dirty="0" err="1"/>
              <a:t>información</a:t>
            </a:r>
            <a:r>
              <a:rPr lang="pt-BR" dirty="0"/>
              <a:t> para que esta ocupe menos memoria. No se </a:t>
            </a:r>
            <a:r>
              <a:rPr lang="pt-BR" dirty="0" err="1"/>
              <a:t>pierde</a:t>
            </a:r>
            <a:r>
              <a:rPr lang="pt-BR" dirty="0"/>
              <a:t> </a:t>
            </a:r>
            <a:r>
              <a:rPr lang="pt-BR" dirty="0" err="1"/>
              <a:t>calidad</a:t>
            </a:r>
            <a:r>
              <a:rPr lang="pt-BR" dirty="0"/>
              <a:t> </a:t>
            </a:r>
            <a:r>
              <a:rPr lang="pt-BR" dirty="0" err="1"/>
              <a:t>ni</a:t>
            </a:r>
            <a:r>
              <a:rPr lang="pt-BR" dirty="0"/>
              <a:t> </a:t>
            </a:r>
            <a:r>
              <a:rPr lang="pt-BR" dirty="0" err="1"/>
              <a:t>datos</a:t>
            </a:r>
            <a:r>
              <a:rPr lang="pt-BR" dirty="0"/>
              <a:t> de </a:t>
            </a:r>
            <a:r>
              <a:rPr lang="pt-BR" dirty="0" err="1"/>
              <a:t>la</a:t>
            </a:r>
            <a:r>
              <a:rPr lang="pt-BR" dirty="0"/>
              <a:t> </a:t>
            </a:r>
            <a:r>
              <a:rPr lang="pt-BR" dirty="0" err="1"/>
              <a:t>imagen</a:t>
            </a:r>
            <a:r>
              <a:rPr lang="pt-BR" dirty="0"/>
              <a:t> original.</a:t>
            </a:r>
          </a:p>
        </p:txBody>
      </p:sp>
      <p:sp>
        <p:nvSpPr>
          <p:cNvPr id="10" name="Google Shape;200;p2"/>
          <p:cNvSpPr/>
          <p:nvPr/>
        </p:nvSpPr>
        <p:spPr>
          <a:xfrm>
            <a:off x="468335" y="371520"/>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¿Qué es la compresión de imágenes?</a:t>
            </a:r>
            <a:endParaRPr lang="es-CO" sz="2200" b="0" i="0" u="none" strike="noStrike" cap="none" dirty="0">
              <a:solidFill>
                <a:srgbClr val="000000"/>
              </a:solidFill>
              <a:latin typeface="Arial"/>
              <a:ea typeface="Arial"/>
              <a:cs typeface="Arial"/>
              <a:sym typeface="Arial"/>
            </a:endParaRPr>
          </a:p>
        </p:txBody>
      </p:sp>
      <p:cxnSp>
        <p:nvCxnSpPr>
          <p:cNvPr id="7" name="Conector recto de flecha 6"/>
          <p:cNvCxnSpPr>
            <a:stCxn id="5" idx="2"/>
          </p:cNvCxnSpPr>
          <p:nvPr/>
        </p:nvCxnSpPr>
        <p:spPr>
          <a:xfrm flipH="1">
            <a:off x="2854036" y="2311329"/>
            <a:ext cx="3237153" cy="1084652"/>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p:cNvCxnSpPr/>
          <p:nvPr/>
        </p:nvCxnSpPr>
        <p:spPr>
          <a:xfrm>
            <a:off x="6091189" y="2310990"/>
            <a:ext cx="3260629" cy="1084991"/>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ángulo redondeado 12"/>
          <p:cNvSpPr/>
          <p:nvPr/>
        </p:nvSpPr>
        <p:spPr>
          <a:xfrm>
            <a:off x="468335"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Rectángulo redondeado 15"/>
          <p:cNvSpPr/>
          <p:nvPr/>
        </p:nvSpPr>
        <p:spPr>
          <a:xfrm>
            <a:off x="6914658"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657680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490960" y="1278422"/>
            <a:ext cx="5129749" cy="1384995"/>
          </a:xfrm>
          <a:prstGeom prst="rect">
            <a:avLst/>
          </a:prstGeom>
          <a:noFill/>
        </p:spPr>
        <p:txBody>
          <a:bodyPr wrap="square" rtlCol="0">
            <a:spAutoFit/>
          </a:bodyPr>
          <a:lstStyle/>
          <a:p>
            <a:pPr algn="just"/>
            <a:r>
              <a:rPr lang="pt-BR" b="1" u="sng" dirty="0" err="1"/>
              <a:t>Run-length</a:t>
            </a:r>
            <a:r>
              <a:rPr lang="pt-BR" b="1" u="sng" dirty="0"/>
              <a:t>:</a:t>
            </a:r>
            <a:r>
              <a:rPr lang="pt-BR" dirty="0"/>
              <a:t> Para </a:t>
            </a:r>
            <a:r>
              <a:rPr lang="pt-BR" dirty="0" err="1"/>
              <a:t>reducir</a:t>
            </a:r>
            <a:r>
              <a:rPr lang="pt-BR" dirty="0"/>
              <a:t> </a:t>
            </a:r>
            <a:r>
              <a:rPr lang="pt-BR" dirty="0" err="1"/>
              <a:t>la</a:t>
            </a:r>
            <a:r>
              <a:rPr lang="pt-BR" dirty="0"/>
              <a:t> </a:t>
            </a:r>
            <a:r>
              <a:rPr lang="pt-BR" dirty="0" err="1"/>
              <a:t>información</a:t>
            </a:r>
            <a:r>
              <a:rPr lang="pt-BR" dirty="0"/>
              <a:t> </a:t>
            </a:r>
            <a:r>
              <a:rPr lang="pt-BR" dirty="0" err="1"/>
              <a:t>reduntante</a:t>
            </a:r>
            <a:r>
              <a:rPr lang="pt-BR" dirty="0"/>
              <a:t> este método </a:t>
            </a:r>
            <a:r>
              <a:rPr lang="pt-BR" dirty="0" err="1"/>
              <a:t>cuenta</a:t>
            </a:r>
            <a:r>
              <a:rPr lang="pt-BR" dirty="0"/>
              <a:t> </a:t>
            </a:r>
            <a:r>
              <a:rPr lang="pt-BR" dirty="0" err="1"/>
              <a:t>cuántas</a:t>
            </a:r>
            <a:r>
              <a:rPr lang="pt-BR" dirty="0"/>
              <a:t> </a:t>
            </a:r>
            <a:r>
              <a:rPr lang="pt-BR" dirty="0" err="1"/>
              <a:t>veces</a:t>
            </a:r>
            <a:r>
              <a:rPr lang="pt-BR" dirty="0"/>
              <a:t> se </a:t>
            </a:r>
            <a:r>
              <a:rPr lang="pt-BR" dirty="0" err="1"/>
              <a:t>repite</a:t>
            </a:r>
            <a:r>
              <a:rPr lang="pt-BR" dirty="0"/>
              <a:t> </a:t>
            </a:r>
            <a:r>
              <a:rPr lang="pt-BR" dirty="0" err="1"/>
              <a:t>el</a:t>
            </a:r>
            <a:r>
              <a:rPr lang="pt-BR" dirty="0"/>
              <a:t> </a:t>
            </a:r>
            <a:r>
              <a:rPr lang="pt-BR" dirty="0" err="1"/>
              <a:t>mismo</a:t>
            </a:r>
            <a:r>
              <a:rPr lang="pt-BR" dirty="0"/>
              <a:t> </a:t>
            </a:r>
            <a:r>
              <a:rPr lang="pt-BR" dirty="0" err="1"/>
              <a:t>caracter</a:t>
            </a:r>
            <a:r>
              <a:rPr lang="pt-BR" dirty="0"/>
              <a:t> y coloca este número al frente de </a:t>
            </a:r>
            <a:r>
              <a:rPr lang="pt-BR" dirty="0" err="1"/>
              <a:t>la</a:t>
            </a:r>
            <a:r>
              <a:rPr lang="pt-BR" dirty="0"/>
              <a:t> </a:t>
            </a:r>
            <a:r>
              <a:rPr lang="pt-BR" dirty="0" err="1"/>
              <a:t>identificación</a:t>
            </a:r>
            <a:r>
              <a:rPr lang="pt-BR" dirty="0"/>
              <a:t> </a:t>
            </a:r>
            <a:r>
              <a:rPr lang="pt-BR" dirty="0" err="1"/>
              <a:t>del</a:t>
            </a:r>
            <a:r>
              <a:rPr lang="pt-BR" dirty="0"/>
              <a:t> </a:t>
            </a:r>
            <a:r>
              <a:rPr lang="pt-BR" dirty="0" err="1"/>
              <a:t>caracter</a:t>
            </a:r>
            <a:r>
              <a:rPr lang="pt-BR" dirty="0"/>
              <a:t>. Es </a:t>
            </a:r>
            <a:r>
              <a:rPr lang="pt-BR" dirty="0" err="1"/>
              <a:t>decir</a:t>
            </a:r>
            <a:r>
              <a:rPr lang="pt-BR" dirty="0"/>
              <a:t>, si </a:t>
            </a:r>
            <a:r>
              <a:rPr lang="pt-BR" dirty="0" err="1"/>
              <a:t>tenemos</a:t>
            </a:r>
            <a:r>
              <a:rPr lang="pt-BR" dirty="0"/>
              <a:t> 10 </a:t>
            </a:r>
            <a:r>
              <a:rPr lang="pt-BR" dirty="0" err="1"/>
              <a:t>pixeles</a:t>
            </a:r>
            <a:r>
              <a:rPr lang="pt-BR" dirty="0"/>
              <a:t> </a:t>
            </a:r>
            <a:r>
              <a:rPr lang="pt-BR" dirty="0" err="1"/>
              <a:t>blancos</a:t>
            </a:r>
            <a:r>
              <a:rPr lang="pt-BR" dirty="0"/>
              <a:t> seguidos, y </a:t>
            </a:r>
            <a:r>
              <a:rPr lang="pt-BR" dirty="0" err="1"/>
              <a:t>suponiendo</a:t>
            </a:r>
            <a:r>
              <a:rPr lang="pt-BR" dirty="0"/>
              <a:t> que este color se representa </a:t>
            </a:r>
            <a:r>
              <a:rPr lang="pt-BR" dirty="0" err="1"/>
              <a:t>con</a:t>
            </a:r>
            <a:r>
              <a:rPr lang="pt-BR" dirty="0"/>
              <a:t> B, </a:t>
            </a:r>
            <a:r>
              <a:rPr lang="pt-BR" dirty="0" err="1"/>
              <a:t>en</a:t>
            </a:r>
            <a:r>
              <a:rPr lang="pt-BR" dirty="0"/>
              <a:t> vez de </a:t>
            </a:r>
            <a:r>
              <a:rPr lang="pt-BR" dirty="0" err="1"/>
              <a:t>tener</a:t>
            </a:r>
            <a:r>
              <a:rPr lang="pt-BR" dirty="0"/>
              <a:t> B, B, B, B, B, B, B, B, B, B, vamos a </a:t>
            </a:r>
            <a:r>
              <a:rPr lang="pt-BR" dirty="0" err="1"/>
              <a:t>tener</a:t>
            </a:r>
            <a:r>
              <a:rPr lang="pt-BR" dirty="0"/>
              <a:t> 10B.</a:t>
            </a:r>
          </a:p>
        </p:txBody>
      </p:sp>
      <p:sp>
        <p:nvSpPr>
          <p:cNvPr id="4" name="CuadroTexto 3"/>
          <p:cNvSpPr txBox="1"/>
          <p:nvPr/>
        </p:nvSpPr>
        <p:spPr>
          <a:xfrm>
            <a:off x="6389194" y="3349747"/>
            <a:ext cx="5359331" cy="2462213"/>
          </a:xfrm>
          <a:prstGeom prst="rect">
            <a:avLst/>
          </a:prstGeom>
          <a:noFill/>
        </p:spPr>
        <p:txBody>
          <a:bodyPr wrap="square" rtlCol="0">
            <a:spAutoFit/>
          </a:bodyPr>
          <a:lstStyle/>
          <a:p>
            <a:pPr algn="just"/>
            <a:r>
              <a:rPr lang="es-CO" b="1" u="sng" dirty="0"/>
              <a:t>Codificación de </a:t>
            </a:r>
            <a:r>
              <a:rPr lang="es-CO" b="1" u="sng" dirty="0" err="1"/>
              <a:t>Huffman</a:t>
            </a:r>
            <a:r>
              <a:rPr lang="es-CO" b="1" u="sng" dirty="0"/>
              <a:t>:</a:t>
            </a:r>
            <a:r>
              <a:rPr lang="es-CO" dirty="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pPr algn="just"/>
            <a:endParaRPr lang="es-CO" dirty="0"/>
          </a:p>
          <a:p>
            <a:pPr algn="just"/>
            <a:r>
              <a:rPr lang="es-CO" dirty="0"/>
              <a:t>Finalmente se crea un diccionario en donde se guarda el carácter con el código de la ruta de 0 y 1 hasta llegar a este, dejando así al de mayor frecuencia con un código de 0 (el menor de todos).</a:t>
            </a:r>
          </a:p>
        </p:txBody>
      </p:sp>
      <p:sp>
        <p:nvSpPr>
          <p:cNvPr id="8" name="Google Shape;200;p2"/>
          <p:cNvSpPr/>
          <p:nvPr/>
        </p:nvSpPr>
        <p:spPr>
          <a:xfrm>
            <a:off x="493380" y="358601"/>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Métodos compresión LossLess</a:t>
            </a:r>
            <a:endParaRPr lang="es-CO" sz="2200" b="0" i="0" u="none" strike="noStrike" cap="none" dirty="0">
              <a:solidFill>
                <a:srgbClr val="000000"/>
              </a:solidFill>
              <a:latin typeface="Arial"/>
              <a:ea typeface="Arial"/>
              <a:cs typeface="Arial"/>
              <a:sym typeface="Arial"/>
            </a:endParaRPr>
          </a:p>
        </p:txBody>
      </p:sp>
      <p:pic>
        <p:nvPicPr>
          <p:cNvPr id="5" name="Imagen 4"/>
          <p:cNvPicPr>
            <a:picLocks noChangeAspect="1"/>
          </p:cNvPicPr>
          <p:nvPr/>
        </p:nvPicPr>
        <p:blipFill rotWithShape="1">
          <a:blip r:embed="rId6"/>
          <a:srcRect l="1706" t="43425" r="70535" b="1981"/>
          <a:stretch/>
        </p:blipFill>
        <p:spPr>
          <a:xfrm>
            <a:off x="2930837" y="3099640"/>
            <a:ext cx="2689872" cy="2524057"/>
          </a:xfrm>
          <a:prstGeom prst="rect">
            <a:avLst/>
          </a:prstGeom>
        </p:spPr>
      </p:pic>
      <p:sp>
        <p:nvSpPr>
          <p:cNvPr id="6" name="CuadroTexto 5"/>
          <p:cNvSpPr txBox="1"/>
          <p:nvPr/>
        </p:nvSpPr>
        <p:spPr>
          <a:xfrm>
            <a:off x="390618" y="3245949"/>
            <a:ext cx="1551709" cy="523220"/>
          </a:xfrm>
          <a:prstGeom prst="rect">
            <a:avLst/>
          </a:prstGeom>
          <a:noFill/>
          <a:ln>
            <a:solidFill>
              <a:schemeClr val="accent5">
                <a:lumMod val="75000"/>
              </a:schemeClr>
            </a:solidFill>
          </a:ln>
        </p:spPr>
        <p:txBody>
          <a:bodyPr wrap="square" rtlCol="0">
            <a:spAutoFit/>
          </a:bodyPr>
          <a:lstStyle/>
          <a:p>
            <a:pPr algn="ctr"/>
            <a:r>
              <a:rPr lang="es-CO" dirty="0"/>
              <a:t>WWWBBWWW</a:t>
            </a:r>
          </a:p>
          <a:p>
            <a:pPr algn="ctr"/>
            <a:r>
              <a:rPr lang="es-CO" dirty="0"/>
              <a:t>WWBBBBWW</a:t>
            </a:r>
          </a:p>
        </p:txBody>
      </p:sp>
      <p:sp>
        <p:nvSpPr>
          <p:cNvPr id="11" name="CuadroTexto 10"/>
          <p:cNvSpPr txBox="1"/>
          <p:nvPr/>
        </p:nvSpPr>
        <p:spPr>
          <a:xfrm>
            <a:off x="547855" y="4500740"/>
            <a:ext cx="1228216" cy="1169551"/>
          </a:xfrm>
          <a:prstGeom prst="rect">
            <a:avLst/>
          </a:prstGeom>
          <a:noFill/>
          <a:ln>
            <a:solidFill>
              <a:schemeClr val="accent5">
                <a:lumMod val="60000"/>
                <a:lumOff val="40000"/>
              </a:schemeClr>
            </a:solidFill>
          </a:ln>
        </p:spPr>
        <p:txBody>
          <a:bodyPr wrap="square" rtlCol="0">
            <a:spAutoFit/>
          </a:bodyPr>
          <a:lstStyle/>
          <a:p>
            <a:pPr algn="ctr"/>
            <a:r>
              <a:rPr lang="es-CO" dirty="0"/>
              <a:t>3W2B3W</a:t>
            </a:r>
          </a:p>
          <a:p>
            <a:pPr algn="ctr"/>
            <a:r>
              <a:rPr lang="es-CO" dirty="0"/>
              <a:t>2W4B2W</a:t>
            </a:r>
          </a:p>
          <a:p>
            <a:pPr algn="ctr"/>
            <a:endParaRPr lang="es-CO" dirty="0"/>
          </a:p>
          <a:p>
            <a:pPr algn="ctr"/>
            <a:r>
              <a:rPr lang="es-CO" dirty="0"/>
              <a:t>3,2,3</a:t>
            </a:r>
          </a:p>
          <a:p>
            <a:pPr algn="ctr"/>
            <a:r>
              <a:rPr lang="es-CO" dirty="0"/>
              <a:t>2.4.2</a:t>
            </a:r>
          </a:p>
        </p:txBody>
      </p:sp>
      <p:sp>
        <p:nvSpPr>
          <p:cNvPr id="7" name="Flecha abajo 6"/>
          <p:cNvSpPr/>
          <p:nvPr/>
        </p:nvSpPr>
        <p:spPr>
          <a:xfrm>
            <a:off x="1139103" y="3925416"/>
            <a:ext cx="45719" cy="406894"/>
          </a:xfrm>
          <a:prstGeom prst="downArrow">
            <a:avLst/>
          </a:prstGeom>
          <a:ln w="762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 name="Flecha derecha 9"/>
          <p:cNvSpPr/>
          <p:nvPr/>
        </p:nvSpPr>
        <p:spPr>
          <a:xfrm rot="10800000">
            <a:off x="2097146" y="3484699"/>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Señal de prohibido 11"/>
          <p:cNvSpPr/>
          <p:nvPr/>
        </p:nvSpPr>
        <p:spPr>
          <a:xfrm>
            <a:off x="842118" y="3178185"/>
            <a:ext cx="639687" cy="658748"/>
          </a:xfrm>
          <a:prstGeom prst="noSmoking">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endParaRPr>
          </a:p>
        </p:txBody>
      </p:sp>
      <p:pic>
        <p:nvPicPr>
          <p:cNvPr id="13" name="Imagen 12"/>
          <p:cNvPicPr>
            <a:picLocks noChangeAspect="1"/>
          </p:cNvPicPr>
          <p:nvPr/>
        </p:nvPicPr>
        <p:blipFill>
          <a:blip r:embed="rId7"/>
          <a:stretch>
            <a:fillRect/>
          </a:stretch>
        </p:blipFill>
        <p:spPr>
          <a:xfrm>
            <a:off x="6604002" y="984328"/>
            <a:ext cx="2252555" cy="2183815"/>
          </a:xfrm>
          <a:prstGeom prst="rect">
            <a:avLst/>
          </a:prstGeom>
        </p:spPr>
      </p:pic>
      <p:sp>
        <p:nvSpPr>
          <p:cNvPr id="16" name="Flecha derecha 15"/>
          <p:cNvSpPr/>
          <p:nvPr/>
        </p:nvSpPr>
        <p:spPr>
          <a:xfrm>
            <a:off x="8720242" y="1886497"/>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Nube 13"/>
          <p:cNvSpPr/>
          <p:nvPr/>
        </p:nvSpPr>
        <p:spPr>
          <a:xfrm>
            <a:off x="9645727" y="1362728"/>
            <a:ext cx="2216727" cy="1427018"/>
          </a:xfrm>
          <a:prstGeom prst="cloud">
            <a:avLst/>
          </a:prstGeom>
          <a:no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p:cNvSpPr txBox="1"/>
          <p:nvPr/>
        </p:nvSpPr>
        <p:spPr>
          <a:xfrm>
            <a:off x="9848201" y="1691516"/>
            <a:ext cx="1634837" cy="769441"/>
          </a:xfrm>
          <a:prstGeom prst="rect">
            <a:avLst/>
          </a:prstGeom>
          <a:noFill/>
        </p:spPr>
        <p:txBody>
          <a:bodyPr wrap="square" rtlCol="0">
            <a:spAutoFit/>
          </a:bodyPr>
          <a:lstStyle/>
          <a:p>
            <a:pPr algn="just"/>
            <a:r>
              <a:rPr lang="es-CO" sz="1100" dirty="0"/>
              <a:t>La letra con más frecuencia es la a, por ende tiene el código más pequeño.</a:t>
            </a:r>
          </a:p>
        </p:txBody>
      </p:sp>
      <p:cxnSp>
        <p:nvCxnSpPr>
          <p:cNvPr id="17" name="Conector recto 16"/>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97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181212"/>
            <a:ext cx="5218608" cy="2031325"/>
          </a:xfrm>
          <a:prstGeom prst="rect">
            <a:avLst/>
          </a:prstGeom>
          <a:noFill/>
        </p:spPr>
        <p:txBody>
          <a:bodyPr wrap="square" rtlCol="0">
            <a:spAutoFit/>
          </a:bodyPr>
          <a:lstStyle/>
          <a:p>
            <a:pPr algn="just"/>
            <a:r>
              <a:rPr lang="es-CO" b="1" u="sng" dirty="0"/>
              <a:t>DCT:</a:t>
            </a:r>
            <a:r>
              <a:rPr lang="es-CO" dirty="0"/>
              <a:t> Es un proceso que utiliza la herramienta matemática de la </a:t>
            </a:r>
            <a:r>
              <a:rPr lang="es-CO" i="1" dirty="0"/>
              <a:t>transformada discreta de coseno</a:t>
            </a:r>
            <a:r>
              <a:rPr lang="es-CO" dirty="0"/>
              <a:t>,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pPr algn="just"/>
            <a:endParaRPr lang="es-CO" dirty="0"/>
          </a:p>
        </p:txBody>
      </p:sp>
      <p:sp>
        <p:nvSpPr>
          <p:cNvPr id="7" name="CuadroTexto 6"/>
          <p:cNvSpPr txBox="1"/>
          <p:nvPr/>
        </p:nvSpPr>
        <p:spPr>
          <a:xfrm>
            <a:off x="604216" y="4283839"/>
            <a:ext cx="5048438" cy="1384995"/>
          </a:xfrm>
          <a:prstGeom prst="rect">
            <a:avLst/>
          </a:prstGeom>
          <a:noFill/>
        </p:spPr>
        <p:txBody>
          <a:bodyPr wrap="square" rtlCol="0">
            <a:spAutoFit/>
          </a:bodyPr>
          <a:lstStyle/>
          <a:p>
            <a:pPr algn="just"/>
            <a:r>
              <a:rPr lang="es-CO" b="1" u="sng" dirty="0"/>
              <a:t>Compresión fractal: </a:t>
            </a:r>
            <a:r>
              <a:rPr lang="es-CO" dirty="0"/>
              <a:t>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Métodos compresión </a:t>
            </a:r>
            <a:r>
              <a:rPr lang="es-CO" sz="2200" b="1" dirty="0" err="1">
                <a:solidFill>
                  <a:srgbClr val="FFFFFF"/>
                </a:solidFill>
              </a:rPr>
              <a:t>Lossy</a:t>
            </a:r>
            <a:endParaRPr lang="es-CO" sz="2200" b="0" i="0" u="none" strike="noStrike" cap="none" dirty="0">
              <a:solidFill>
                <a:srgbClr val="000000"/>
              </a:solidFill>
              <a:latin typeface="Arial"/>
              <a:ea typeface="Arial"/>
              <a:cs typeface="Arial"/>
              <a:sym typeface="Arial"/>
            </a:endParaRPr>
          </a:p>
        </p:txBody>
      </p:sp>
      <p:pic>
        <p:nvPicPr>
          <p:cNvPr id="3" name="Imagen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60239" y="2767839"/>
            <a:ext cx="2744532" cy="674215"/>
          </a:xfrm>
          <a:prstGeom prst="rect">
            <a:avLst/>
          </a:prstGeom>
        </p:spPr>
      </p:pic>
      <p:pic>
        <p:nvPicPr>
          <p:cNvPr id="1026" name="Picture 2" descr="Fract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04958" y="1151896"/>
            <a:ext cx="2046953" cy="285550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p:cNvPicPr>
            <a:picLocks noChangeAspect="1"/>
          </p:cNvPicPr>
          <p:nvPr/>
        </p:nvPicPr>
        <p:blipFill>
          <a:blip r:embed="rId8"/>
          <a:stretch>
            <a:fillRect/>
          </a:stretch>
        </p:blipFill>
        <p:spPr>
          <a:xfrm>
            <a:off x="7145161" y="3710510"/>
            <a:ext cx="3822123" cy="1895224"/>
          </a:xfrm>
          <a:prstGeom prst="rect">
            <a:avLst/>
          </a:prstGeom>
        </p:spPr>
      </p:pic>
      <p:cxnSp>
        <p:nvCxnSpPr>
          <p:cNvPr id="11" name="Conector recto 10"/>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444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¿Qué es el aprendizaje automático?</a:t>
            </a:r>
            <a:endParaRPr lang="es-CO" sz="2200" b="0" i="0" u="none" strike="noStrike" cap="none" dirty="0">
              <a:solidFill>
                <a:srgbClr val="000000"/>
              </a:solidFill>
              <a:latin typeface="Arial"/>
              <a:ea typeface="Arial"/>
              <a:cs typeface="Arial"/>
              <a:sym typeface="Arial"/>
            </a:endParaRPr>
          </a:p>
        </p:txBody>
      </p:sp>
      <p:pic>
        <p:nvPicPr>
          <p:cNvPr id="14" name="Picture 4" descr="Inteligencia artificial (IA) y Machine Learning as a Service - OVHcloud">
            <a:extLst>
              <a:ext uri="{FF2B5EF4-FFF2-40B4-BE49-F238E27FC236}">
                <a16:creationId xmlns:a16="http://schemas.microsoft.com/office/drawing/2014/main" id="{8FD59224-300E-429B-B4E1-A2ADACECF3C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021"/>
          <a:stretch/>
        </p:blipFill>
        <p:spPr bwMode="auto">
          <a:xfrm>
            <a:off x="8807654" y="4130946"/>
            <a:ext cx="2986240" cy="18306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El Machine learning en la industria | ATRIA Innovation">
            <a:extLst>
              <a:ext uri="{FF2B5EF4-FFF2-40B4-BE49-F238E27FC236}">
                <a16:creationId xmlns:a16="http://schemas.microsoft.com/office/drawing/2014/main" id="{1768DE04-E274-4E74-9095-DA51F0C791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19549" y="4101494"/>
            <a:ext cx="2595203" cy="1787797"/>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16" name="Rectángulo redondeado 15"/>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uadroTexto 16"/>
          <p:cNvSpPr txBox="1"/>
          <p:nvPr/>
        </p:nvSpPr>
        <p:spPr>
          <a:xfrm>
            <a:off x="2473500" y="1320484"/>
            <a:ext cx="7235376" cy="1169551"/>
          </a:xfrm>
          <a:prstGeom prst="rect">
            <a:avLst/>
          </a:prstGeom>
          <a:noFill/>
        </p:spPr>
        <p:txBody>
          <a:bodyPr wrap="square" rtlCol="0">
            <a:spAutoFit/>
          </a:bodyPr>
          <a:lstStyle/>
          <a:p>
            <a:pPr algn="ctr"/>
            <a:r>
              <a:rPr lang="es-CO" dirty="0">
                <a:solidFill>
                  <a:schemeClr val="bg1"/>
                </a:solidFill>
              </a:rPr>
              <a:t>Es el área de la informática que permite acceder a datos e interpretarlos, automatizando las respuestas de </a:t>
            </a:r>
            <a:r>
              <a:rPr lang="es-CO" dirty="0" err="1">
                <a:solidFill>
                  <a:schemeClr val="bg1"/>
                </a:solidFill>
              </a:rPr>
              <a:t>big</a:t>
            </a:r>
            <a:r>
              <a:rPr lang="es-CO" dirty="0">
                <a:solidFill>
                  <a:schemeClr val="bg1"/>
                </a:solidFill>
              </a:rPr>
              <a:t> data e inteligencia artificial. A través de la inteligencia artificial del machine </a:t>
            </a:r>
            <a:r>
              <a:rPr lang="es-CO" dirty="0" err="1">
                <a:solidFill>
                  <a:schemeClr val="bg1"/>
                </a:solidFill>
              </a:rPr>
              <a:t>learning</a:t>
            </a:r>
            <a:r>
              <a:rPr lang="es-CO" dirty="0">
                <a:solidFill>
                  <a:schemeClr val="bg1"/>
                </a:solidFill>
              </a:rPr>
              <a:t> (AA), las máquinas son capaces de identificar patrones de datos, entender conexiones y generar respuestas a partir de estas.</a:t>
            </a:r>
          </a:p>
          <a:p>
            <a:pPr algn="ctr"/>
            <a:endParaRPr lang="es-CO" dirty="0">
              <a:solidFill>
                <a:schemeClr val="bg1"/>
              </a:solidFill>
            </a:endParaRPr>
          </a:p>
        </p:txBody>
      </p:sp>
      <p:sp>
        <p:nvSpPr>
          <p:cNvPr id="18" name="CuadroTexto 17"/>
          <p:cNvSpPr txBox="1"/>
          <p:nvPr/>
        </p:nvSpPr>
        <p:spPr>
          <a:xfrm>
            <a:off x="242586" y="3593248"/>
            <a:ext cx="3846490" cy="307777"/>
          </a:xfrm>
          <a:prstGeom prst="rect">
            <a:avLst/>
          </a:prstGeom>
          <a:noFill/>
        </p:spPr>
        <p:txBody>
          <a:bodyPr wrap="square" rtlCol="0">
            <a:spAutoFit/>
          </a:bodyPr>
          <a:lstStyle/>
          <a:p>
            <a:pPr algn="ctr"/>
            <a:r>
              <a:rPr lang="es-CO" b="1" dirty="0"/>
              <a:t>APRENDIZAJE SUPERVISADO</a:t>
            </a:r>
            <a:endParaRPr lang="pt-BR" dirty="0"/>
          </a:p>
        </p:txBody>
      </p:sp>
      <p:cxnSp>
        <p:nvCxnSpPr>
          <p:cNvPr id="20" name="Conector recto de flecha 19"/>
          <p:cNvCxnSpPr>
            <a:stCxn id="16" idx="2"/>
          </p:cNvCxnSpPr>
          <p:nvPr/>
        </p:nvCxnSpPr>
        <p:spPr>
          <a:xfrm flipH="1">
            <a:off x="2092964" y="2311329"/>
            <a:ext cx="3998225" cy="110653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recto de flecha 20"/>
          <p:cNvCxnSpPr/>
          <p:nvPr/>
        </p:nvCxnSpPr>
        <p:spPr>
          <a:xfrm>
            <a:off x="6091189" y="2310990"/>
            <a:ext cx="3998223" cy="1087735"/>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Rectángulo redondeado 21"/>
          <p:cNvSpPr/>
          <p:nvPr/>
        </p:nvSpPr>
        <p:spPr>
          <a:xfrm>
            <a:off x="242586" y="3474920"/>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CuadroTexto 23"/>
          <p:cNvSpPr txBox="1"/>
          <p:nvPr/>
        </p:nvSpPr>
        <p:spPr>
          <a:xfrm>
            <a:off x="4167944" y="4699806"/>
            <a:ext cx="3846490" cy="307777"/>
          </a:xfrm>
          <a:prstGeom prst="rect">
            <a:avLst/>
          </a:prstGeom>
          <a:noFill/>
        </p:spPr>
        <p:txBody>
          <a:bodyPr wrap="square" rtlCol="0">
            <a:spAutoFit/>
          </a:bodyPr>
          <a:lstStyle/>
          <a:p>
            <a:pPr algn="ctr"/>
            <a:r>
              <a:rPr lang="es-CO" b="1" dirty="0"/>
              <a:t>APRENDIZAJE NO SUPERVISADO</a:t>
            </a:r>
            <a:endParaRPr lang="pt-BR" dirty="0"/>
          </a:p>
        </p:txBody>
      </p:sp>
      <p:sp>
        <p:nvSpPr>
          <p:cNvPr id="25" name="Rectángulo redondeado 24"/>
          <p:cNvSpPr/>
          <p:nvPr/>
        </p:nvSpPr>
        <p:spPr>
          <a:xfrm>
            <a:off x="4167944" y="4581478"/>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CuadroTexto 25"/>
          <p:cNvSpPr txBox="1"/>
          <p:nvPr/>
        </p:nvSpPr>
        <p:spPr>
          <a:xfrm>
            <a:off x="8093301" y="3589880"/>
            <a:ext cx="3846490" cy="307777"/>
          </a:xfrm>
          <a:prstGeom prst="rect">
            <a:avLst/>
          </a:prstGeom>
          <a:noFill/>
        </p:spPr>
        <p:txBody>
          <a:bodyPr wrap="square" rtlCol="0">
            <a:spAutoFit/>
          </a:bodyPr>
          <a:lstStyle/>
          <a:p>
            <a:pPr algn="ctr"/>
            <a:r>
              <a:rPr lang="es-CO" b="1" dirty="0"/>
              <a:t>APRENDIZAJE REFORZADO</a:t>
            </a:r>
            <a:endParaRPr lang="pt-BR" dirty="0"/>
          </a:p>
        </p:txBody>
      </p:sp>
      <p:sp>
        <p:nvSpPr>
          <p:cNvPr id="27" name="Rectángulo redondeado 26"/>
          <p:cNvSpPr/>
          <p:nvPr/>
        </p:nvSpPr>
        <p:spPr>
          <a:xfrm>
            <a:off x="8093301" y="3471552"/>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0" name="Conector recto de flecha 29"/>
          <p:cNvCxnSpPr/>
          <p:nvPr/>
        </p:nvCxnSpPr>
        <p:spPr>
          <a:xfrm flipH="1">
            <a:off x="6091188" y="2291287"/>
            <a:ext cx="6852" cy="223102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001219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053478"/>
            <a:ext cx="5218608" cy="1815882"/>
          </a:xfrm>
          <a:prstGeom prst="rect">
            <a:avLst/>
          </a:prstGeom>
          <a:noFill/>
        </p:spPr>
        <p:txBody>
          <a:bodyPr wrap="square" rtlCol="0">
            <a:spAutoFit/>
          </a:bodyPr>
          <a:lstStyle/>
          <a:p>
            <a:r>
              <a:rPr lang="es-CO" b="1" u="sng" dirty="0"/>
              <a:t>Aprendizaje no supervisado:</a:t>
            </a:r>
            <a:r>
              <a:rPr lang="es-CO" dirty="0"/>
              <a:t> </a:t>
            </a:r>
          </a:p>
          <a:p>
            <a:endParaRPr lang="es-CO" dirty="0"/>
          </a:p>
          <a:p>
            <a:r>
              <a:rPr lang="es-CO" dirty="0"/>
              <a:t>-&gt;  </a:t>
            </a:r>
            <a:r>
              <a:rPr lang="es-ES" dirty="0"/>
              <a:t>Es un aprendizaje inductivo.</a:t>
            </a:r>
          </a:p>
          <a:p>
            <a:r>
              <a:rPr lang="es-ES" dirty="0"/>
              <a:t>-&gt;  Parte sin conocimiento previo.</a:t>
            </a:r>
          </a:p>
          <a:p>
            <a:r>
              <a:rPr lang="es-ES" dirty="0"/>
              <a:t>-&gt;  Es capaz de manejar datos más complejos.</a:t>
            </a:r>
          </a:p>
          <a:p>
            <a:r>
              <a:rPr lang="es-ES" dirty="0"/>
              <a:t>-&gt;  Su objetivo es hallar una función que a partir de un dominio de entrada defina un dominio de salida.</a:t>
            </a:r>
            <a:endParaRPr lang="es-CO" dirty="0"/>
          </a:p>
          <a:p>
            <a:pPr algn="just"/>
            <a:endParaRPr lang="es-CO" dirty="0"/>
          </a:p>
        </p:txBody>
      </p:sp>
      <p:sp>
        <p:nvSpPr>
          <p:cNvPr id="7" name="CuadroTexto 6"/>
          <p:cNvSpPr txBox="1"/>
          <p:nvPr/>
        </p:nvSpPr>
        <p:spPr>
          <a:xfrm>
            <a:off x="365843" y="1053478"/>
            <a:ext cx="5093394" cy="4401205"/>
          </a:xfrm>
          <a:prstGeom prst="rect">
            <a:avLst/>
          </a:prstGeom>
          <a:noFill/>
        </p:spPr>
        <p:txBody>
          <a:bodyPr wrap="square" rtlCol="0">
            <a:spAutoFit/>
          </a:bodyPr>
          <a:lstStyle/>
          <a:p>
            <a:r>
              <a:rPr lang="es-CO" b="1" u="sng" dirty="0"/>
              <a:t>Aprendizaje supervisado:</a:t>
            </a:r>
            <a:r>
              <a:rPr lang="es-CO" b="1" dirty="0"/>
              <a:t> </a:t>
            </a:r>
          </a:p>
          <a:p>
            <a:endParaRPr lang="es-CO" b="1" dirty="0"/>
          </a:p>
          <a:p>
            <a:r>
              <a:rPr lang="es-CO" dirty="0"/>
              <a:t>-&gt;</a:t>
            </a:r>
            <a:r>
              <a:rPr lang="es-CO" b="1" dirty="0"/>
              <a:t>  </a:t>
            </a:r>
            <a:r>
              <a:rPr lang="es-ES" dirty="0"/>
              <a:t>Es un aprendizaje deductivo.</a:t>
            </a:r>
          </a:p>
          <a:p>
            <a:r>
              <a:rPr lang="es-ES" dirty="0"/>
              <a:t>-&gt; Parte de conocimiento previo, es decir de situaciones y                respuestas ya conocidas.</a:t>
            </a:r>
          </a:p>
          <a:p>
            <a:endParaRPr lang="es-ES" dirty="0"/>
          </a:p>
          <a:p>
            <a:r>
              <a:rPr lang="es-ES" dirty="0"/>
              <a:t>-&gt; </a:t>
            </a:r>
            <a:r>
              <a:rPr lang="es-ES" b="1" dirty="0"/>
              <a:t>Tipos: </a:t>
            </a:r>
          </a:p>
          <a:p>
            <a:r>
              <a:rPr lang="es-ES" b="1" dirty="0"/>
              <a:t>	</a:t>
            </a:r>
            <a:r>
              <a:rPr lang="es-ES" i="1" dirty="0"/>
              <a:t>REGRESIÓN:</a:t>
            </a:r>
          </a:p>
          <a:p>
            <a:r>
              <a:rPr lang="es-CO" dirty="0"/>
              <a:t>	Responde a preguntas de “</a:t>
            </a:r>
            <a:r>
              <a:rPr lang="es-CO" b="1" dirty="0"/>
              <a:t>cuánto</a:t>
            </a:r>
            <a:r>
              <a:rPr lang="es-CO" dirty="0"/>
              <a:t>” o que 	devuelve datos más puntuales ante diferentes 	situaciones.</a:t>
            </a:r>
          </a:p>
          <a:p>
            <a:endParaRPr lang="es-CO" dirty="0"/>
          </a:p>
          <a:p>
            <a:endParaRPr lang="es-CO" dirty="0"/>
          </a:p>
          <a:p>
            <a:endParaRPr lang="es-CO" dirty="0"/>
          </a:p>
          <a:p>
            <a:endParaRPr lang="es-CO" dirty="0"/>
          </a:p>
          <a:p>
            <a:r>
              <a:rPr lang="es-CO" dirty="0"/>
              <a:t>	</a:t>
            </a:r>
            <a:r>
              <a:rPr lang="es-ES" i="1" dirty="0"/>
              <a:t>CLASIFICACIÓN:</a:t>
            </a:r>
          </a:p>
          <a:p>
            <a:r>
              <a:rPr lang="es-CO" dirty="0"/>
              <a:t>	Responde a preguntas de “</a:t>
            </a:r>
            <a:r>
              <a:rPr lang="es-CO" b="1" dirty="0"/>
              <a:t>sí o no</a:t>
            </a:r>
            <a:r>
              <a:rPr lang="es-CO" dirty="0"/>
              <a:t>” o que agrupa 	en clases particulares</a:t>
            </a:r>
          </a:p>
          <a:p>
            <a:endParaRPr lang="es-CO" dirty="0"/>
          </a:p>
          <a:p>
            <a:endParaRPr lang="es-CO" b="1"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Tipos de machine  </a:t>
            </a:r>
            <a:r>
              <a:rPr lang="es-CO" sz="2200" b="1" dirty="0" err="1">
                <a:solidFill>
                  <a:srgbClr val="FFFFFF"/>
                </a:solidFill>
              </a:rPr>
              <a:t>learning</a:t>
            </a:r>
            <a:endParaRPr lang="es-CO" sz="2200" b="0" i="0" u="none" strike="noStrike" cap="none" dirty="0">
              <a:solidFill>
                <a:srgbClr val="000000"/>
              </a:solidFill>
              <a:latin typeface="Arial"/>
              <a:ea typeface="Arial"/>
              <a:cs typeface="Arial"/>
              <a:sym typeface="Arial"/>
            </a:endParaRPr>
          </a:p>
        </p:txBody>
      </p:sp>
      <p:cxnSp>
        <p:nvCxnSpPr>
          <p:cNvPr id="11" name="Conector recto 10"/>
          <p:cNvCxnSpPr/>
          <p:nvPr/>
        </p:nvCxnSpPr>
        <p:spPr>
          <a:xfrm>
            <a:off x="6098040" y="1181212"/>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
        <p:nvSpPr>
          <p:cNvPr id="12" name="CuadroTexto 11"/>
          <p:cNvSpPr txBox="1"/>
          <p:nvPr/>
        </p:nvSpPr>
        <p:spPr>
          <a:xfrm>
            <a:off x="6446919" y="3409302"/>
            <a:ext cx="5218608" cy="1384995"/>
          </a:xfrm>
          <a:prstGeom prst="rect">
            <a:avLst/>
          </a:prstGeom>
          <a:noFill/>
        </p:spPr>
        <p:txBody>
          <a:bodyPr wrap="square" rtlCol="0">
            <a:spAutoFit/>
          </a:bodyPr>
          <a:lstStyle/>
          <a:p>
            <a:r>
              <a:rPr lang="es-CO" b="1" u="sng" dirty="0"/>
              <a:t>Aprendizaje reforzado:</a:t>
            </a:r>
            <a:r>
              <a:rPr lang="es-CO" dirty="0"/>
              <a:t> </a:t>
            </a:r>
          </a:p>
          <a:p>
            <a:endParaRPr lang="es-CO" dirty="0"/>
          </a:p>
          <a:p>
            <a:r>
              <a:rPr lang="es-CO" dirty="0"/>
              <a:t>-&gt; </a:t>
            </a:r>
            <a:r>
              <a:rPr lang="es-ES" dirty="0"/>
              <a:t>Se entiende como un proceso de “enseñanza” mediante estímulos(recompensas y castigos otorgados por el entorno).</a:t>
            </a:r>
          </a:p>
          <a:p>
            <a:r>
              <a:rPr lang="es-ES" dirty="0"/>
              <a:t>-&gt; Se genera mediante pruebas de ensayo y error.</a:t>
            </a:r>
            <a:endParaRPr lang="es-CO" dirty="0"/>
          </a:p>
          <a:p>
            <a:endParaRPr lang="es-CO" dirty="0"/>
          </a:p>
        </p:txBody>
      </p:sp>
      <p:pic>
        <p:nvPicPr>
          <p:cNvPr id="15" name="Picture 2" descr="Regression vs Classification in Machine Learning - Javatpoint">
            <a:extLst>
              <a:ext uri="{FF2B5EF4-FFF2-40B4-BE49-F238E27FC236}">
                <a16:creationId xmlns:a16="http://schemas.microsoft.com/office/drawing/2014/main" id="{516B3BE5-8DA6-4595-8B25-9AF9EDAE7E7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48751" b="15545"/>
          <a:stretch/>
        </p:blipFill>
        <p:spPr bwMode="auto">
          <a:xfrm>
            <a:off x="3201382" y="3293970"/>
            <a:ext cx="1250404" cy="114735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4" descr="Regression vs Classification in Machine Learning - Javatpoint">
            <a:extLst>
              <a:ext uri="{FF2B5EF4-FFF2-40B4-BE49-F238E27FC236}">
                <a16:creationId xmlns:a16="http://schemas.microsoft.com/office/drawing/2014/main" id="{0B63D918-3439-4032-9200-5AF397B458B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50000" b="13918"/>
          <a:stretch/>
        </p:blipFill>
        <p:spPr bwMode="auto">
          <a:xfrm>
            <a:off x="3587963" y="4794297"/>
            <a:ext cx="1202268" cy="115250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Eight ways machine learning is assisting medicine | Nature Medic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740003" y="2452306"/>
            <a:ext cx="1925524" cy="12763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prendizaje por Refuerzo | Aprende Machine Learning"/>
          <p:cNvPicPr>
            <a:picLocks noChangeAspect="1" noChangeArrowheads="1"/>
          </p:cNvPicPr>
          <p:nvPr/>
        </p:nvPicPr>
        <p:blipFill rotWithShape="1">
          <a:blip r:embed="rId8">
            <a:extLst>
              <a:ext uri="{28A0092B-C50C-407E-A947-70E740481C1C}">
                <a14:useLocalDpi xmlns:a14="http://schemas.microsoft.com/office/drawing/2010/main" val="0"/>
              </a:ext>
            </a:extLst>
          </a:blip>
          <a:srcRect t="8219" b="16100"/>
          <a:stretch/>
        </p:blipFill>
        <p:spPr bwMode="auto">
          <a:xfrm>
            <a:off x="8080644" y="4573133"/>
            <a:ext cx="2130156" cy="13514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45873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sp>
        <p:nvSpPr>
          <p:cNvPr id="3" name="Rectángulo redondeado 2"/>
          <p:cNvSpPr/>
          <p:nvPr/>
        </p:nvSpPr>
        <p:spPr>
          <a:xfrm>
            <a:off x="345368" y="1078986"/>
            <a:ext cx="5389418" cy="2097266"/>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7" name="CuadroTexto 6"/>
          <p:cNvSpPr txBox="1"/>
          <p:nvPr/>
        </p:nvSpPr>
        <p:spPr>
          <a:xfrm>
            <a:off x="493380" y="1199190"/>
            <a:ext cx="5093394" cy="1846659"/>
          </a:xfrm>
          <a:prstGeom prst="rect">
            <a:avLst/>
          </a:prstGeom>
          <a:noFill/>
        </p:spPr>
        <p:txBody>
          <a:bodyPr wrap="square" rtlCol="0">
            <a:spAutoFit/>
          </a:bodyPr>
          <a:lstStyle/>
          <a:p>
            <a:pPr algn="ctr"/>
            <a:r>
              <a:rPr lang="es-CO" sz="1600" b="1" u="sng" dirty="0" smtClean="0">
                <a:solidFill>
                  <a:schemeClr val="bg1"/>
                </a:solidFill>
              </a:rPr>
              <a:t>¿Qué es?</a:t>
            </a:r>
          </a:p>
          <a:p>
            <a:endParaRPr lang="es-CO" b="1" u="sng" dirty="0">
              <a:solidFill>
                <a:schemeClr val="bg1"/>
              </a:solidFill>
            </a:endParaRPr>
          </a:p>
          <a:p>
            <a:r>
              <a:rPr lang="es-CO" dirty="0" smtClean="0">
                <a:solidFill>
                  <a:schemeClr val="bg1"/>
                </a:solidFill>
              </a:rPr>
              <a:t>Es un método de machine </a:t>
            </a:r>
            <a:r>
              <a:rPr lang="es-CO" dirty="0" err="1" smtClean="0">
                <a:solidFill>
                  <a:schemeClr val="bg1"/>
                </a:solidFill>
              </a:rPr>
              <a:t>learning</a:t>
            </a:r>
            <a:r>
              <a:rPr lang="es-CO" dirty="0" smtClean="0">
                <a:solidFill>
                  <a:schemeClr val="bg1"/>
                </a:solidFill>
              </a:rPr>
              <a:t> que resolvió el problema de reconocimiento de imágenes para las máquinas.</a:t>
            </a:r>
          </a:p>
          <a:p>
            <a:endParaRPr lang="es-CO" dirty="0">
              <a:solidFill>
                <a:schemeClr val="bg1"/>
              </a:solidFill>
            </a:endParaRPr>
          </a:p>
          <a:p>
            <a:r>
              <a:rPr lang="es-CO" dirty="0" smtClean="0">
                <a:solidFill>
                  <a:schemeClr val="bg1"/>
                </a:solidFill>
              </a:rPr>
              <a:t>Es un procesamiento en cascada que reconoce patrones, no solo para imágenes sino para textos, sonidos, números, entre otros. </a:t>
            </a:r>
            <a:endParaRPr lang="es-CO" dirty="0">
              <a:solidFill>
                <a:schemeClr val="bg1"/>
              </a:solidFil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Red neuronal</a:t>
            </a:r>
            <a:endParaRPr lang="es-CO" sz="2200" b="0" i="0" u="none" strike="noStrike" cap="none" dirty="0">
              <a:solidFill>
                <a:srgbClr val="000000"/>
              </a:solidFill>
              <a:latin typeface="Arial"/>
              <a:ea typeface="Arial"/>
              <a:cs typeface="Arial"/>
              <a:sym typeface="Arial"/>
            </a:endParaRPr>
          </a:p>
        </p:txBody>
      </p:sp>
      <p:pic>
        <p:nvPicPr>
          <p:cNvPr id="1026" name="Picture 2" descr="Red Neuronal Artificial Ana - Imagen gratis en Pixabay"/>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36072" y="3463748"/>
            <a:ext cx="4157359" cy="233851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Definición de red neuronal artificial - Diego Calvo"/>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79303" y="871101"/>
            <a:ext cx="2892425" cy="2521758"/>
          </a:xfrm>
          <a:prstGeom prst="rect">
            <a:avLst/>
          </a:prstGeom>
          <a:noFill/>
          <a:extLst>
            <a:ext uri="{909E8E84-426E-40DD-AFC4-6F175D3DCCD1}">
              <a14:hiddenFill xmlns:a14="http://schemas.microsoft.com/office/drawing/2010/main">
                <a:solidFill>
                  <a:srgbClr val="FFFFFF"/>
                </a:solidFill>
              </a14:hiddenFill>
            </a:ext>
          </a:extLst>
        </p:spPr>
      </p:pic>
      <p:sp>
        <p:nvSpPr>
          <p:cNvPr id="17" name="CuadroTexto 16"/>
          <p:cNvSpPr txBox="1"/>
          <p:nvPr/>
        </p:nvSpPr>
        <p:spPr>
          <a:xfrm>
            <a:off x="6064553" y="3494231"/>
            <a:ext cx="5721927" cy="2277547"/>
          </a:xfrm>
          <a:prstGeom prst="rect">
            <a:avLst/>
          </a:prstGeom>
          <a:noFill/>
        </p:spPr>
        <p:txBody>
          <a:bodyPr wrap="square" rtlCol="0">
            <a:spAutoFit/>
          </a:bodyPr>
          <a:lstStyle/>
          <a:p>
            <a:pPr algn="ctr"/>
            <a:r>
              <a:rPr lang="es-CO" sz="1600" b="1" u="sng" dirty="0" smtClean="0"/>
              <a:t>¿Cómo funciona?</a:t>
            </a:r>
          </a:p>
          <a:p>
            <a:pPr algn="ctr"/>
            <a:endParaRPr lang="es-CO" b="1" dirty="0"/>
          </a:p>
          <a:p>
            <a:r>
              <a:rPr lang="es-CO" dirty="0" smtClean="0"/>
              <a:t>La capa de entrada recibe información de los pixeles y la guarda en cada neurona como un número entre 0 y 1. Luego se pasa a las capas ocultas, cada una tiene un peso, el cual se multiplica por los valores de las neuronas anteriore</a:t>
            </a:r>
            <a:r>
              <a:rPr lang="es-CO" dirty="0" smtClean="0"/>
              <a:t>s que evalúa y la suma de estas es el valor que se guarda en la neurona de dicha capa. Cada capa oculta se enfoca en partes específicas del archivo. Finalmente en la capa de salida también se multiplica por los pesos y el valor que de en cada neurona representa la probabilidad que sea ese objeto.</a:t>
            </a:r>
            <a:endParaRPr lang="pt-BR" dirty="0"/>
          </a:p>
        </p:txBody>
      </p:sp>
      <p:sp>
        <p:nvSpPr>
          <p:cNvPr id="18" name="Rectángulo redondeado 17"/>
          <p:cNvSpPr/>
          <p:nvPr/>
        </p:nvSpPr>
        <p:spPr>
          <a:xfrm>
            <a:off x="5936125" y="3463748"/>
            <a:ext cx="5978784" cy="2338515"/>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42462316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Proceso de convolución</a:t>
            </a:r>
            <a:endParaRPr lang="es-CO" sz="2200" b="0" i="0" u="none" strike="noStrike" cap="none" dirty="0">
              <a:solidFill>
                <a:srgbClr val="000000"/>
              </a:solidFill>
              <a:latin typeface="Arial"/>
              <a:ea typeface="Arial"/>
              <a:cs typeface="Arial"/>
              <a:sym typeface="Arial"/>
            </a:endParaRPr>
          </a:p>
        </p:txBody>
      </p:sp>
      <p:sp>
        <p:nvSpPr>
          <p:cNvPr id="14" name="CuadroTexto 13"/>
          <p:cNvSpPr txBox="1"/>
          <p:nvPr/>
        </p:nvSpPr>
        <p:spPr>
          <a:xfrm>
            <a:off x="493379" y="1172407"/>
            <a:ext cx="11379965" cy="954107"/>
          </a:xfrm>
          <a:prstGeom prst="rect">
            <a:avLst/>
          </a:prstGeom>
          <a:noFill/>
        </p:spPr>
        <p:txBody>
          <a:bodyPr wrap="square" rtlCol="0">
            <a:spAutoFit/>
          </a:bodyPr>
          <a:lstStyle/>
          <a:p>
            <a:r>
              <a:rPr lang="es-CO" dirty="0" smtClean="0"/>
              <a:t>Se crea un núcleo, o kernel, el cual es una cuadricula del tamaño que se prefiera, 3x3 pixeles, por ejemplo. Este núcleo se sitúa encima del pixel que vamos a analizar, este se pone en la mitad de la cuadrícula. Cada casilla de este núcleo tiene un valor específico, el cual se va a multiplicar con el valor del pixel de la imagen. Estos resultados se suman y ese nuevo valor se guarda en la misma posición del pixel central en una nueva imagen. Dependiendo de los valores que tenga el núcleo se le van a dar efectos diferentes a las imágenes. </a:t>
            </a:r>
          </a:p>
        </p:txBody>
      </p:sp>
      <p:grpSp>
        <p:nvGrpSpPr>
          <p:cNvPr id="6" name="Grupo 5"/>
          <p:cNvGrpSpPr/>
          <p:nvPr/>
        </p:nvGrpSpPr>
        <p:grpSpPr>
          <a:xfrm>
            <a:off x="8496073" y="2567280"/>
            <a:ext cx="1633843" cy="1587774"/>
            <a:chOff x="655051" y="2497032"/>
            <a:chExt cx="1633843" cy="1587774"/>
          </a:xfrm>
        </p:grpSpPr>
        <p:sp>
          <p:nvSpPr>
            <p:cNvPr id="3" name="Rectángulo 2"/>
            <p:cNvSpPr/>
            <p:nvPr/>
          </p:nvSpPr>
          <p:spPr>
            <a:xfrm>
              <a:off x="655053" y="2497032"/>
              <a:ext cx="1633841" cy="1587774"/>
            </a:xfrm>
            <a:prstGeom prst="rect">
              <a:avLst/>
            </a:prstGeom>
            <a:no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4" name="Conector recto 3"/>
            <p:cNvCxnSpPr/>
            <p:nvPr/>
          </p:nvCxnSpPr>
          <p:spPr>
            <a:xfrm>
              <a:off x="1163782"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ector recto 11"/>
            <p:cNvCxnSpPr/>
            <p:nvPr/>
          </p:nvCxnSpPr>
          <p:spPr>
            <a:xfrm>
              <a:off x="1759527"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Conector recto 12"/>
            <p:cNvCxnSpPr/>
            <p:nvPr/>
          </p:nvCxnSpPr>
          <p:spPr>
            <a:xfrm flipV="1">
              <a:off x="655052" y="3037046"/>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Conector recto 14"/>
            <p:cNvCxnSpPr/>
            <p:nvPr/>
          </p:nvCxnSpPr>
          <p:spPr>
            <a:xfrm flipV="1">
              <a:off x="655051" y="3577060"/>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upo 23"/>
          <p:cNvGrpSpPr/>
          <p:nvPr/>
        </p:nvGrpSpPr>
        <p:grpSpPr>
          <a:xfrm>
            <a:off x="3902530" y="2567280"/>
            <a:ext cx="1633843" cy="1587774"/>
            <a:chOff x="655051" y="2497032"/>
            <a:chExt cx="1633843" cy="1587774"/>
          </a:xfrm>
        </p:grpSpPr>
        <p:sp>
          <p:nvSpPr>
            <p:cNvPr id="25" name="Rectángulo 24"/>
            <p:cNvSpPr/>
            <p:nvPr/>
          </p:nvSpPr>
          <p:spPr>
            <a:xfrm>
              <a:off x="655053" y="2497032"/>
              <a:ext cx="1633841" cy="1587774"/>
            </a:xfrm>
            <a:prstGeom prst="rect">
              <a:avLst/>
            </a:prstGeom>
            <a:no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6" name="Conector recto 25"/>
            <p:cNvCxnSpPr/>
            <p:nvPr/>
          </p:nvCxnSpPr>
          <p:spPr>
            <a:xfrm>
              <a:off x="1163782"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7" name="Conector recto 26"/>
            <p:cNvCxnSpPr/>
            <p:nvPr/>
          </p:nvCxnSpPr>
          <p:spPr>
            <a:xfrm>
              <a:off x="1759527"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Conector recto 27"/>
            <p:cNvCxnSpPr/>
            <p:nvPr/>
          </p:nvCxnSpPr>
          <p:spPr>
            <a:xfrm flipV="1">
              <a:off x="655052" y="3037046"/>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Conector recto 28"/>
            <p:cNvCxnSpPr/>
            <p:nvPr/>
          </p:nvCxnSpPr>
          <p:spPr>
            <a:xfrm flipV="1">
              <a:off x="655051" y="3577060"/>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 name="Grupo 29"/>
          <p:cNvGrpSpPr/>
          <p:nvPr/>
        </p:nvGrpSpPr>
        <p:grpSpPr>
          <a:xfrm>
            <a:off x="395174" y="2546719"/>
            <a:ext cx="1633843" cy="1587774"/>
            <a:chOff x="655051" y="2497032"/>
            <a:chExt cx="1633843" cy="1587774"/>
          </a:xfrm>
        </p:grpSpPr>
        <p:sp>
          <p:nvSpPr>
            <p:cNvPr id="31" name="Rectángulo 30"/>
            <p:cNvSpPr/>
            <p:nvPr/>
          </p:nvSpPr>
          <p:spPr>
            <a:xfrm>
              <a:off x="655053" y="2497032"/>
              <a:ext cx="1633841" cy="1587774"/>
            </a:xfrm>
            <a:prstGeom prst="rect">
              <a:avLst/>
            </a:prstGeom>
            <a:no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2" name="Conector recto 31"/>
            <p:cNvCxnSpPr/>
            <p:nvPr/>
          </p:nvCxnSpPr>
          <p:spPr>
            <a:xfrm>
              <a:off x="1163782"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Conector recto 32"/>
            <p:cNvCxnSpPr/>
            <p:nvPr/>
          </p:nvCxnSpPr>
          <p:spPr>
            <a:xfrm>
              <a:off x="1759527"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Conector recto 33"/>
            <p:cNvCxnSpPr/>
            <p:nvPr/>
          </p:nvCxnSpPr>
          <p:spPr>
            <a:xfrm flipV="1">
              <a:off x="655052" y="3037046"/>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Conector recto 34"/>
            <p:cNvCxnSpPr/>
            <p:nvPr/>
          </p:nvCxnSpPr>
          <p:spPr>
            <a:xfrm flipV="1">
              <a:off x="655051" y="3577060"/>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1" name="CuadroTexto 10"/>
          <p:cNvSpPr txBox="1"/>
          <p:nvPr/>
        </p:nvSpPr>
        <p:spPr>
          <a:xfrm>
            <a:off x="395174" y="256803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6" name="CuadroTexto 35"/>
          <p:cNvSpPr txBox="1"/>
          <p:nvPr/>
        </p:nvSpPr>
        <p:spPr>
          <a:xfrm>
            <a:off x="405490" y="309480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7" name="CuadroTexto 36"/>
          <p:cNvSpPr txBox="1"/>
          <p:nvPr/>
        </p:nvSpPr>
        <p:spPr>
          <a:xfrm>
            <a:off x="395174" y="361806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8" name="CuadroTexto 37"/>
          <p:cNvSpPr txBox="1"/>
          <p:nvPr/>
        </p:nvSpPr>
        <p:spPr>
          <a:xfrm>
            <a:off x="948528" y="2539929"/>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9" name="CuadroTexto 38"/>
          <p:cNvSpPr txBox="1"/>
          <p:nvPr/>
        </p:nvSpPr>
        <p:spPr>
          <a:xfrm>
            <a:off x="1500766" y="2555116"/>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0" name="CuadroTexto 39"/>
          <p:cNvSpPr txBox="1"/>
          <p:nvPr/>
        </p:nvSpPr>
        <p:spPr>
          <a:xfrm>
            <a:off x="1500766" y="309480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1" name="CuadroTexto 40"/>
          <p:cNvSpPr txBox="1"/>
          <p:nvPr/>
        </p:nvSpPr>
        <p:spPr>
          <a:xfrm>
            <a:off x="1500765" y="3608647"/>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2" name="CuadroTexto 41"/>
          <p:cNvSpPr txBox="1"/>
          <p:nvPr/>
        </p:nvSpPr>
        <p:spPr>
          <a:xfrm>
            <a:off x="952570" y="3620377"/>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3" name="CuadroTexto 42"/>
          <p:cNvSpPr txBox="1"/>
          <p:nvPr/>
        </p:nvSpPr>
        <p:spPr>
          <a:xfrm>
            <a:off x="948528" y="3094423"/>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53" name="CuadroTexto 52"/>
          <p:cNvSpPr txBox="1"/>
          <p:nvPr/>
        </p:nvSpPr>
        <p:spPr>
          <a:xfrm>
            <a:off x="3905999" y="2565954"/>
            <a:ext cx="508731" cy="523220"/>
          </a:xfrm>
          <a:prstGeom prst="rect">
            <a:avLst/>
          </a:prstGeom>
          <a:noFill/>
        </p:spPr>
        <p:txBody>
          <a:bodyPr wrap="square" rtlCol="0">
            <a:spAutoFit/>
          </a:bodyPr>
          <a:lstStyle/>
          <a:p>
            <a:pPr algn="ctr"/>
            <a:r>
              <a:rPr lang="es-CO" sz="2800" dirty="0"/>
              <a:t>1</a:t>
            </a:r>
            <a:endParaRPr lang="es-CO" sz="2800" dirty="0"/>
          </a:p>
        </p:txBody>
      </p:sp>
      <p:sp>
        <p:nvSpPr>
          <p:cNvPr id="54" name="CuadroTexto 53"/>
          <p:cNvSpPr txBox="1"/>
          <p:nvPr/>
        </p:nvSpPr>
        <p:spPr>
          <a:xfrm>
            <a:off x="3916315" y="3092724"/>
            <a:ext cx="508731" cy="523220"/>
          </a:xfrm>
          <a:prstGeom prst="rect">
            <a:avLst/>
          </a:prstGeom>
          <a:noFill/>
        </p:spPr>
        <p:txBody>
          <a:bodyPr wrap="square" rtlCol="0">
            <a:spAutoFit/>
          </a:bodyPr>
          <a:lstStyle/>
          <a:p>
            <a:pPr algn="ctr"/>
            <a:r>
              <a:rPr lang="es-CO" sz="2800" dirty="0"/>
              <a:t>1</a:t>
            </a:r>
            <a:endParaRPr lang="es-CO" sz="2800" dirty="0"/>
          </a:p>
        </p:txBody>
      </p:sp>
      <p:sp>
        <p:nvSpPr>
          <p:cNvPr id="55" name="CuadroTexto 54"/>
          <p:cNvSpPr txBox="1"/>
          <p:nvPr/>
        </p:nvSpPr>
        <p:spPr>
          <a:xfrm>
            <a:off x="3905999" y="3615984"/>
            <a:ext cx="508731" cy="523220"/>
          </a:xfrm>
          <a:prstGeom prst="rect">
            <a:avLst/>
          </a:prstGeom>
          <a:noFill/>
        </p:spPr>
        <p:txBody>
          <a:bodyPr wrap="square" rtlCol="0">
            <a:spAutoFit/>
          </a:bodyPr>
          <a:lstStyle/>
          <a:p>
            <a:pPr algn="ctr"/>
            <a:r>
              <a:rPr lang="es-CO" sz="2800" dirty="0"/>
              <a:t>1</a:t>
            </a:r>
            <a:endParaRPr lang="es-CO" sz="2800" dirty="0"/>
          </a:p>
        </p:txBody>
      </p:sp>
      <p:sp>
        <p:nvSpPr>
          <p:cNvPr id="56" name="CuadroTexto 55"/>
          <p:cNvSpPr txBox="1"/>
          <p:nvPr/>
        </p:nvSpPr>
        <p:spPr>
          <a:xfrm>
            <a:off x="4459353" y="2553037"/>
            <a:ext cx="508731" cy="523220"/>
          </a:xfrm>
          <a:prstGeom prst="rect">
            <a:avLst/>
          </a:prstGeom>
          <a:noFill/>
        </p:spPr>
        <p:txBody>
          <a:bodyPr wrap="square" rtlCol="0">
            <a:spAutoFit/>
          </a:bodyPr>
          <a:lstStyle/>
          <a:p>
            <a:pPr algn="ctr"/>
            <a:r>
              <a:rPr lang="es-CO" sz="2800" dirty="0"/>
              <a:t>1</a:t>
            </a:r>
            <a:endParaRPr lang="es-CO" sz="2800" dirty="0"/>
          </a:p>
        </p:txBody>
      </p:sp>
      <p:sp>
        <p:nvSpPr>
          <p:cNvPr id="57" name="CuadroTexto 56"/>
          <p:cNvSpPr txBox="1"/>
          <p:nvPr/>
        </p:nvSpPr>
        <p:spPr>
          <a:xfrm>
            <a:off x="5011591" y="2553037"/>
            <a:ext cx="508731" cy="523220"/>
          </a:xfrm>
          <a:prstGeom prst="rect">
            <a:avLst/>
          </a:prstGeom>
          <a:noFill/>
        </p:spPr>
        <p:txBody>
          <a:bodyPr wrap="square" rtlCol="0">
            <a:spAutoFit/>
          </a:bodyPr>
          <a:lstStyle/>
          <a:p>
            <a:pPr algn="ctr"/>
            <a:r>
              <a:rPr lang="es-CO" sz="2800" dirty="0"/>
              <a:t>1</a:t>
            </a:r>
            <a:endParaRPr lang="es-CO" sz="2800" dirty="0"/>
          </a:p>
        </p:txBody>
      </p:sp>
      <p:sp>
        <p:nvSpPr>
          <p:cNvPr id="58" name="CuadroTexto 57"/>
          <p:cNvSpPr txBox="1"/>
          <p:nvPr/>
        </p:nvSpPr>
        <p:spPr>
          <a:xfrm>
            <a:off x="5011591" y="3092724"/>
            <a:ext cx="508731" cy="523220"/>
          </a:xfrm>
          <a:prstGeom prst="rect">
            <a:avLst/>
          </a:prstGeom>
          <a:noFill/>
        </p:spPr>
        <p:txBody>
          <a:bodyPr wrap="square" rtlCol="0">
            <a:spAutoFit/>
          </a:bodyPr>
          <a:lstStyle/>
          <a:p>
            <a:pPr algn="ctr"/>
            <a:r>
              <a:rPr lang="es-CO" sz="2800" dirty="0"/>
              <a:t>1</a:t>
            </a:r>
            <a:endParaRPr lang="es-CO" sz="2800" dirty="0"/>
          </a:p>
        </p:txBody>
      </p:sp>
      <p:sp>
        <p:nvSpPr>
          <p:cNvPr id="59" name="CuadroTexto 58"/>
          <p:cNvSpPr txBox="1"/>
          <p:nvPr/>
        </p:nvSpPr>
        <p:spPr>
          <a:xfrm>
            <a:off x="5011590" y="3606568"/>
            <a:ext cx="508731" cy="523220"/>
          </a:xfrm>
          <a:prstGeom prst="rect">
            <a:avLst/>
          </a:prstGeom>
          <a:noFill/>
        </p:spPr>
        <p:txBody>
          <a:bodyPr wrap="square" rtlCol="0">
            <a:spAutoFit/>
          </a:bodyPr>
          <a:lstStyle/>
          <a:p>
            <a:pPr algn="ctr"/>
            <a:r>
              <a:rPr lang="es-CO" sz="2800" dirty="0"/>
              <a:t>1</a:t>
            </a:r>
            <a:endParaRPr lang="es-CO" sz="2800" dirty="0"/>
          </a:p>
        </p:txBody>
      </p:sp>
      <p:sp>
        <p:nvSpPr>
          <p:cNvPr id="60" name="CuadroTexto 59"/>
          <p:cNvSpPr txBox="1"/>
          <p:nvPr/>
        </p:nvSpPr>
        <p:spPr>
          <a:xfrm>
            <a:off x="4463395" y="3618298"/>
            <a:ext cx="508731" cy="523220"/>
          </a:xfrm>
          <a:prstGeom prst="rect">
            <a:avLst/>
          </a:prstGeom>
          <a:noFill/>
        </p:spPr>
        <p:txBody>
          <a:bodyPr wrap="square" rtlCol="0">
            <a:spAutoFit/>
          </a:bodyPr>
          <a:lstStyle/>
          <a:p>
            <a:pPr algn="ctr"/>
            <a:r>
              <a:rPr lang="es-CO" sz="2800" dirty="0"/>
              <a:t>1</a:t>
            </a:r>
            <a:endParaRPr lang="es-CO" sz="2800" dirty="0"/>
          </a:p>
        </p:txBody>
      </p:sp>
      <p:sp>
        <p:nvSpPr>
          <p:cNvPr id="61" name="CuadroTexto 60"/>
          <p:cNvSpPr txBox="1"/>
          <p:nvPr/>
        </p:nvSpPr>
        <p:spPr>
          <a:xfrm>
            <a:off x="4459353" y="309234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2" name="CuadroTexto 61"/>
          <p:cNvSpPr txBox="1"/>
          <p:nvPr/>
        </p:nvSpPr>
        <p:spPr>
          <a:xfrm>
            <a:off x="8476655" y="256595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3" name="CuadroTexto 62"/>
          <p:cNvSpPr txBox="1"/>
          <p:nvPr/>
        </p:nvSpPr>
        <p:spPr>
          <a:xfrm>
            <a:off x="8486971" y="309272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4" name="CuadroTexto 63"/>
          <p:cNvSpPr txBox="1"/>
          <p:nvPr/>
        </p:nvSpPr>
        <p:spPr>
          <a:xfrm>
            <a:off x="8476655" y="361598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5" name="CuadroTexto 64"/>
          <p:cNvSpPr txBox="1"/>
          <p:nvPr/>
        </p:nvSpPr>
        <p:spPr>
          <a:xfrm>
            <a:off x="9043120" y="257954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6" name="CuadroTexto 65"/>
          <p:cNvSpPr txBox="1"/>
          <p:nvPr/>
        </p:nvSpPr>
        <p:spPr>
          <a:xfrm>
            <a:off x="9582247" y="2553037"/>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7" name="CuadroTexto 66"/>
          <p:cNvSpPr txBox="1"/>
          <p:nvPr/>
        </p:nvSpPr>
        <p:spPr>
          <a:xfrm>
            <a:off x="9582247" y="309272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8" name="CuadroTexto 67"/>
          <p:cNvSpPr txBox="1"/>
          <p:nvPr/>
        </p:nvSpPr>
        <p:spPr>
          <a:xfrm>
            <a:off x="9582246" y="3606568"/>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9" name="CuadroTexto 68"/>
          <p:cNvSpPr txBox="1"/>
          <p:nvPr/>
        </p:nvSpPr>
        <p:spPr>
          <a:xfrm>
            <a:off x="9034051" y="3618298"/>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70" name="CuadroTexto 69"/>
          <p:cNvSpPr txBox="1"/>
          <p:nvPr/>
        </p:nvSpPr>
        <p:spPr>
          <a:xfrm>
            <a:off x="9030009" y="3092344"/>
            <a:ext cx="508731" cy="523220"/>
          </a:xfrm>
          <a:prstGeom prst="rect">
            <a:avLst/>
          </a:prstGeom>
          <a:noFill/>
        </p:spPr>
        <p:txBody>
          <a:bodyPr wrap="square" rtlCol="0">
            <a:spAutoFit/>
          </a:bodyPr>
          <a:lstStyle/>
          <a:p>
            <a:pPr algn="ctr"/>
            <a:r>
              <a:rPr lang="es-CO" sz="2800" dirty="0"/>
              <a:t>8</a:t>
            </a:r>
            <a:endParaRPr lang="es-CO" sz="2800" dirty="0"/>
          </a:p>
        </p:txBody>
      </p:sp>
      <p:cxnSp>
        <p:nvCxnSpPr>
          <p:cNvPr id="71" name="Conector recto de flecha 70"/>
          <p:cNvCxnSpPr/>
          <p:nvPr/>
        </p:nvCxnSpPr>
        <p:spPr>
          <a:xfrm>
            <a:off x="1202893" y="4247617"/>
            <a:ext cx="0" cy="588438"/>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ector recto de flecha 73"/>
          <p:cNvCxnSpPr/>
          <p:nvPr/>
        </p:nvCxnSpPr>
        <p:spPr>
          <a:xfrm>
            <a:off x="4734499" y="4262109"/>
            <a:ext cx="0" cy="588438"/>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Conector recto de flecha 74"/>
          <p:cNvCxnSpPr/>
          <p:nvPr/>
        </p:nvCxnSpPr>
        <p:spPr>
          <a:xfrm>
            <a:off x="9383112" y="4247617"/>
            <a:ext cx="0" cy="588438"/>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CuadroTexto 75"/>
          <p:cNvSpPr txBox="1"/>
          <p:nvPr/>
        </p:nvSpPr>
        <p:spPr>
          <a:xfrm>
            <a:off x="395174" y="4975147"/>
            <a:ext cx="1633841" cy="523220"/>
          </a:xfrm>
          <a:prstGeom prst="rect">
            <a:avLst/>
          </a:prstGeom>
          <a:noFill/>
        </p:spPr>
        <p:txBody>
          <a:bodyPr wrap="square" rtlCol="0">
            <a:spAutoFit/>
          </a:bodyPr>
          <a:lstStyle/>
          <a:p>
            <a:pPr algn="ctr"/>
            <a:r>
              <a:rPr lang="es-CO" dirty="0" smtClean="0"/>
              <a:t>La nueva imagen queda igual.</a:t>
            </a:r>
          </a:p>
        </p:txBody>
      </p:sp>
      <p:sp>
        <p:nvSpPr>
          <p:cNvPr id="78" name="CuadroTexto 77"/>
          <p:cNvSpPr txBox="1"/>
          <p:nvPr/>
        </p:nvSpPr>
        <p:spPr>
          <a:xfrm>
            <a:off x="3917578" y="4975147"/>
            <a:ext cx="1633841" cy="523220"/>
          </a:xfrm>
          <a:prstGeom prst="rect">
            <a:avLst/>
          </a:prstGeom>
          <a:noFill/>
        </p:spPr>
        <p:txBody>
          <a:bodyPr wrap="square" rtlCol="0">
            <a:spAutoFit/>
          </a:bodyPr>
          <a:lstStyle/>
          <a:p>
            <a:pPr algn="ctr"/>
            <a:r>
              <a:rPr lang="es-CO" dirty="0" smtClean="0"/>
              <a:t>La nueva imagen queda borrosa.</a:t>
            </a:r>
          </a:p>
        </p:txBody>
      </p:sp>
      <p:sp>
        <p:nvSpPr>
          <p:cNvPr id="79" name="CuadroTexto 78"/>
          <p:cNvSpPr txBox="1"/>
          <p:nvPr/>
        </p:nvSpPr>
        <p:spPr>
          <a:xfrm>
            <a:off x="6574225" y="4943110"/>
            <a:ext cx="5617775" cy="954107"/>
          </a:xfrm>
          <a:prstGeom prst="rect">
            <a:avLst/>
          </a:prstGeom>
          <a:noFill/>
        </p:spPr>
        <p:txBody>
          <a:bodyPr wrap="square" rtlCol="0">
            <a:spAutoFit/>
          </a:bodyPr>
          <a:lstStyle/>
          <a:p>
            <a:pPr algn="ctr"/>
            <a:r>
              <a:rPr lang="es-CO" dirty="0" smtClean="0"/>
              <a:t>Cuando haya mucha diferencia entre los valores dará un resultado muy alto, es decir tonos blancos, y cuando sean muy similares serán valores muy bajos, negros. Entonces en donde hayan bordes se pondrán blancos y el resto de la imagen será negro.</a:t>
            </a:r>
          </a:p>
        </p:txBody>
      </p:sp>
      <p:sp>
        <p:nvSpPr>
          <p:cNvPr id="80" name="Rectángulo redondeado 79"/>
          <p:cNvSpPr/>
          <p:nvPr/>
        </p:nvSpPr>
        <p:spPr>
          <a:xfrm>
            <a:off x="345059" y="1036054"/>
            <a:ext cx="11505962" cy="1224505"/>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1" name="CuadroTexto 80"/>
          <p:cNvSpPr txBox="1"/>
          <p:nvPr/>
        </p:nvSpPr>
        <p:spPr>
          <a:xfrm>
            <a:off x="5657662" y="3170038"/>
            <a:ext cx="752829" cy="523220"/>
          </a:xfrm>
          <a:prstGeom prst="rect">
            <a:avLst/>
          </a:prstGeom>
          <a:noFill/>
        </p:spPr>
        <p:txBody>
          <a:bodyPr wrap="square" rtlCol="0">
            <a:spAutoFit/>
          </a:bodyPr>
          <a:lstStyle/>
          <a:p>
            <a:pPr algn="ctr"/>
            <a:r>
              <a:rPr lang="es-CO" sz="2800" dirty="0" smtClean="0"/>
              <a:t>/ 9</a:t>
            </a:r>
            <a:endParaRPr lang="es-CO" sz="2800" dirty="0"/>
          </a:p>
        </p:txBody>
      </p:sp>
    </p:spTree>
    <p:extLst>
      <p:ext uri="{BB962C8B-B14F-4D97-AF65-F5344CB8AC3E}">
        <p14:creationId xmlns:p14="http://schemas.microsoft.com/office/powerpoint/2010/main" val="327676529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sp>
        <p:nvSpPr>
          <p:cNvPr id="18" name="Rectángulo redondeado 17"/>
          <p:cNvSpPr/>
          <p:nvPr/>
        </p:nvSpPr>
        <p:spPr>
          <a:xfrm>
            <a:off x="3397115" y="1141380"/>
            <a:ext cx="5389418" cy="2097266"/>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7" name="CuadroTexto 6"/>
          <p:cNvSpPr txBox="1"/>
          <p:nvPr/>
        </p:nvSpPr>
        <p:spPr>
          <a:xfrm>
            <a:off x="3423216" y="1389794"/>
            <a:ext cx="5337217" cy="1600438"/>
          </a:xfrm>
          <a:prstGeom prst="rect">
            <a:avLst/>
          </a:prstGeom>
          <a:noFill/>
        </p:spPr>
        <p:txBody>
          <a:bodyPr wrap="square" rtlCol="0">
            <a:spAutoFit/>
          </a:bodyPr>
          <a:lstStyle/>
          <a:p>
            <a:pPr algn="ctr"/>
            <a:r>
              <a:rPr lang="es-CO" dirty="0" smtClean="0">
                <a:solidFill>
                  <a:schemeClr val="bg1"/>
                </a:solidFill>
              </a:rPr>
              <a:t>Este método no evalúa cada pixel como una variable independiente sino que lo compara con los pixeles de alrededor. Para pasar de capa en capa se utiliza el proceso de convolución y la red es la que pone los diferentes valores en cada núcleo. </a:t>
            </a:r>
          </a:p>
          <a:p>
            <a:pPr algn="ctr"/>
            <a:endParaRPr lang="es-CO" dirty="0">
              <a:solidFill>
                <a:schemeClr val="bg1"/>
              </a:solidFill>
            </a:endParaRPr>
          </a:p>
          <a:p>
            <a:pPr algn="ctr"/>
            <a:r>
              <a:rPr lang="es-CO" dirty="0" smtClean="0">
                <a:solidFill>
                  <a:schemeClr val="bg1"/>
                </a:solidFill>
              </a:rPr>
              <a:t>La imagen se va comprimiendo y se van analizando los diferentes patrones para lograr identificar qué es.</a:t>
            </a:r>
            <a:endParaRPr lang="es-CO" dirty="0">
              <a:solidFill>
                <a:schemeClr val="bg1"/>
              </a:solidFil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Red neuronal convolucional</a:t>
            </a:r>
            <a:endParaRPr lang="es-CO" sz="2200" b="0" i="0" u="none" strike="noStrike" cap="none" dirty="0">
              <a:solidFill>
                <a:srgbClr val="000000"/>
              </a:solidFill>
              <a:latin typeface="Arial"/>
              <a:ea typeface="Arial"/>
              <a:cs typeface="Arial"/>
              <a:sym typeface="Arial"/>
            </a:endParaRPr>
          </a:p>
        </p:txBody>
      </p:sp>
      <p:pic>
        <p:nvPicPr>
          <p:cNvPr id="2050" name="Picture 2" descr="Redes neuronales convolucionales - MATLAB &amp;amp; Simulink"/>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45685" y="3578137"/>
            <a:ext cx="6492279" cy="22073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75517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216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marL="0" marR="0" lvl="0" indent="0" algn="l" rtl="0">
              <a:lnSpc>
                <a:spcPct val="100000"/>
              </a:lnSpc>
              <a:spcBef>
                <a:spcPts val="0"/>
              </a:spcBef>
              <a:spcAft>
                <a:spcPts val="0"/>
              </a:spcAft>
              <a:buClr>
                <a:srgbClr val="000000"/>
              </a:buClr>
              <a:buSzPts val="2200"/>
              <a:buFont typeface="Arial"/>
              <a:buNone/>
            </a:pPr>
            <a:endParaRPr sz="2200" b="1" i="0" u="none" strike="noStrike" cap="none" dirty="0">
              <a:solidFill>
                <a:srgbClr val="001E33"/>
              </a:solidFill>
              <a:latin typeface="Arial"/>
              <a:ea typeface="Arial"/>
              <a:cs typeface="Arial"/>
              <a:sym typeface="Arial"/>
            </a:endParaRPr>
          </a:p>
        </p:txBody>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4" name="CuadroTexto 3">
            <a:extLst>
              <a:ext uri="{FF2B5EF4-FFF2-40B4-BE49-F238E27FC236}">
                <a16:creationId xmlns:a16="http://schemas.microsoft.com/office/drawing/2014/main" id="{BB619CF4-8257-459C-9281-5AA5F336422E}"/>
              </a:ext>
            </a:extLst>
          </p:cNvPr>
          <p:cNvSpPr txBox="1"/>
          <p:nvPr/>
        </p:nvSpPr>
        <p:spPr>
          <a:xfrm>
            <a:off x="701861" y="1228398"/>
            <a:ext cx="4950793" cy="4185761"/>
          </a:xfrm>
          <a:prstGeom prst="rect">
            <a:avLst/>
          </a:prstGeom>
          <a:noFill/>
        </p:spPr>
        <p:txBody>
          <a:bodyPr wrap="square" rtlCol="0">
            <a:spAutoFit/>
          </a:bodyPr>
          <a:lstStyle/>
          <a:p>
            <a:r>
              <a:rPr lang="es-MX" b="1" u="sng" dirty="0"/>
              <a:t>Set de entrenamiento:</a:t>
            </a:r>
          </a:p>
          <a:p>
            <a:endParaRPr lang="es-MX" dirty="0"/>
          </a:p>
          <a:p>
            <a:r>
              <a:rPr lang="es-MX" dirty="0"/>
              <a:t>Funciona como el conjunto de datos que utilizamos para entrenar nuestro modelo de aprendizaje. El objetivo de este entrenamiento es que la </a:t>
            </a:r>
            <a:r>
              <a:rPr lang="es-MX" dirty="0" smtClean="0"/>
              <a:t>máquina </a:t>
            </a:r>
            <a:r>
              <a:rPr lang="es-MX" dirty="0"/>
              <a:t>encuentre los patrones o características importantes de cada problema para lograr dar una solución representativa. Es importante mencionar que en esta etapa de entrenamiento el algoritmo dispondrá tanto de las entradas como de las salidas correctas, estas últimas le servirán como punto de apoyo para saber que responder ante diferentes pruebas (generalización). Algo interesante es que puede darse el caso de que el algoritmo solo aprenda a ver los patrones en los datos del conjunto de entrenamiento, mas no en lo datos del conjunto de prueba, a esto se le llama overfitting o sobreajuste en español. Caso contrario es que no sepa identificar los patrones en los datos del conjunto de entrenamiento, y, por ende, no tenga la capacidad de dar soluciones representativas, a esto se le llama underfitting o subajuste en español.</a:t>
            </a:r>
            <a:endParaRPr lang="es-CO" dirty="0"/>
          </a:p>
        </p:txBody>
      </p:sp>
      <p:pic>
        <p:nvPicPr>
          <p:cNvPr id="1030" name="Picture 6" descr="Introducción a la Teoría de Aprendizaje de Máquina y sus Aplicaciones: Un  Tutorial Visual con Ejemplos | Toptal">
            <a:extLst>
              <a:ext uri="{FF2B5EF4-FFF2-40B4-BE49-F238E27FC236}">
                <a16:creationId xmlns:a16="http://schemas.microsoft.com/office/drawing/2014/main" id="{F1F24D8B-621B-4D95-88A1-2F15964965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00674" y="1507297"/>
            <a:ext cx="3843406" cy="3843406"/>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Conjuntos (Set)</a:t>
            </a:r>
            <a:endParaRPr lang="es-CO" sz="22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5501144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2299"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marL="0" marR="0" lvl="0" indent="0" algn="l" rtl="0">
              <a:lnSpc>
                <a:spcPct val="100000"/>
              </a:lnSpc>
              <a:spcBef>
                <a:spcPts val="0"/>
              </a:spcBef>
              <a:spcAft>
                <a:spcPts val="0"/>
              </a:spcAft>
              <a:buClr>
                <a:srgbClr val="000000"/>
              </a:buClr>
              <a:buSzPts val="2200"/>
              <a:buFont typeface="Arial"/>
              <a:buNone/>
            </a:pPr>
            <a:endParaRPr sz="2200" b="1" i="0" u="none" strike="noStrike" cap="none" dirty="0">
              <a:solidFill>
                <a:srgbClr val="001E33"/>
              </a:solidFill>
              <a:latin typeface="Arial"/>
              <a:ea typeface="Arial"/>
              <a:cs typeface="Arial"/>
              <a:sym typeface="Arial"/>
            </a:endParaRPr>
          </a:p>
        </p:txBody>
      </p:sp>
      <p:sp>
        <p:nvSpPr>
          <p:cNvPr id="5" name="CuadroTexto 4">
            <a:extLst>
              <a:ext uri="{FF2B5EF4-FFF2-40B4-BE49-F238E27FC236}">
                <a16:creationId xmlns:a16="http://schemas.microsoft.com/office/drawing/2014/main" id="{44490BD1-AA69-413F-9C09-ECE2B512CC83}"/>
              </a:ext>
            </a:extLst>
          </p:cNvPr>
          <p:cNvSpPr txBox="1"/>
          <p:nvPr/>
        </p:nvSpPr>
        <p:spPr>
          <a:xfrm>
            <a:off x="493380" y="1242424"/>
            <a:ext cx="4681728" cy="1815882"/>
          </a:xfrm>
          <a:prstGeom prst="rect">
            <a:avLst/>
          </a:prstGeom>
          <a:noFill/>
        </p:spPr>
        <p:txBody>
          <a:bodyPr wrap="square" rtlCol="0">
            <a:spAutoFit/>
          </a:bodyPr>
          <a:lstStyle/>
          <a:p>
            <a:r>
              <a:rPr lang="es-MX" b="1" u="sng" dirty="0"/>
              <a:t>Set de prueba:</a:t>
            </a:r>
          </a:p>
          <a:p>
            <a:endParaRPr lang="es-MX" dirty="0"/>
          </a:p>
          <a:p>
            <a:r>
              <a:rPr lang="es-MX" dirty="0"/>
              <a:t>Es un conjunto de datos más pequeño que el de entrenamiento el cual nos ayudará a evaluar el aprendizaje que haya tenido nuestro algoritmo de aprendizaje. De este sacaremos las conclusiones y nos servirá también para cuestionar que cambios hacer en caso de ser necesario.</a:t>
            </a:r>
          </a:p>
        </p:txBody>
      </p:sp>
      <p:sp>
        <p:nvSpPr>
          <p:cNvPr id="6" name="CuadroTexto 5">
            <a:extLst>
              <a:ext uri="{FF2B5EF4-FFF2-40B4-BE49-F238E27FC236}">
                <a16:creationId xmlns:a16="http://schemas.microsoft.com/office/drawing/2014/main" id="{B51EE3DF-BEFF-447E-AAA0-39A9B9730E89}"/>
              </a:ext>
            </a:extLst>
          </p:cNvPr>
          <p:cNvSpPr txBox="1"/>
          <p:nvPr/>
        </p:nvSpPr>
        <p:spPr>
          <a:xfrm>
            <a:off x="6692768" y="3552787"/>
            <a:ext cx="4913078" cy="2246769"/>
          </a:xfrm>
          <a:prstGeom prst="rect">
            <a:avLst/>
          </a:prstGeom>
          <a:noFill/>
        </p:spPr>
        <p:txBody>
          <a:bodyPr wrap="square" rtlCol="0">
            <a:spAutoFit/>
          </a:bodyPr>
          <a:lstStyle/>
          <a:p>
            <a:r>
              <a:rPr lang="es-MX" b="1" u="sng" dirty="0"/>
              <a:t>Set de validación:</a:t>
            </a:r>
          </a:p>
          <a:p>
            <a:endParaRPr lang="es-CO" dirty="0"/>
          </a:p>
          <a:p>
            <a:r>
              <a:rPr lang="es-CO" dirty="0"/>
              <a:t>El set de validación es una porción del set de entrenamiento que nos sirve para identificar los cambios necesarios en los hiperparametros, con el objetivo de evitar todo tipo de problemas como el underfitting o el overfitting. Muchas veces no es considerado un set en si mismo, sino uno que surge mediante la realización del entrenamiento. El tamaño de los datos es este conjunto tiene generalmente la misma proporción que el set de prueba.</a:t>
            </a:r>
          </a:p>
        </p:txBody>
      </p:sp>
      <p:pic>
        <p:nvPicPr>
          <p:cNvPr id="2050" name="Picture 2" descr="Deepmind AlphaGo - AI&amp;#39;s On It&amp;#39;s Way To Superiority">
            <a:extLst>
              <a:ext uri="{FF2B5EF4-FFF2-40B4-BE49-F238E27FC236}">
                <a16:creationId xmlns:a16="http://schemas.microsoft.com/office/drawing/2014/main" id="{C3100B0C-D490-47A6-839D-206301FABC4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92517" y="3248552"/>
            <a:ext cx="3483453" cy="247768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Cómo funcionan los captcha de &amp;#39;No soy un robot&amp;#39; que no nos piden resolver  nada? | recaptcha | pc | internet | Google | Fotos | Video | Tecnología |  La República">
            <a:extLst>
              <a:ext uri="{FF2B5EF4-FFF2-40B4-BE49-F238E27FC236}">
                <a16:creationId xmlns:a16="http://schemas.microsoft.com/office/drawing/2014/main" id="{713DB346-0E64-4713-92DE-7557DDFE73A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23042" y="1242424"/>
            <a:ext cx="3635903" cy="198322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Conector recto 9"/>
          <p:cNvCxnSpPr/>
          <p:nvPr/>
        </p:nvCxnSpPr>
        <p:spPr>
          <a:xfrm>
            <a:off x="6098040" y="1181212"/>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
        <p:nvSpPr>
          <p:cNvPr id="11"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Conjuntos (Set)</a:t>
            </a:r>
            <a:endParaRPr lang="es-CO" sz="22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68845693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069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 xmlns:ahyp="http://schemas.microsoft.com/office/drawing/2018/hyperlinkcolor"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4" name="CuadroTexto 3">
            <a:extLst>
              <a:ext uri="{FF2B5EF4-FFF2-40B4-BE49-F238E27FC236}">
                <a16:creationId xmlns:a16="http://schemas.microsoft.com/office/drawing/2014/main" id="{A2D86EE8-BF55-4F35-A8B5-69743B8E6095}"/>
              </a:ext>
            </a:extLst>
          </p:cNvPr>
          <p:cNvSpPr txBox="1"/>
          <p:nvPr/>
        </p:nvSpPr>
        <p:spPr>
          <a:xfrm>
            <a:off x="803880" y="1571348"/>
            <a:ext cx="10630559" cy="1815882"/>
          </a:xfrm>
          <a:prstGeom prst="rect">
            <a:avLst/>
          </a:prstGeom>
          <a:noFill/>
        </p:spPr>
        <p:txBody>
          <a:bodyPr wrap="square" rtlCol="0">
            <a:spAutoFit/>
          </a:bodyPr>
          <a:lstStyle/>
          <a:p>
            <a:endParaRPr lang="es-ES" dirty="0"/>
          </a:p>
          <a:p>
            <a:r>
              <a:rPr lang="es-ES" dirty="0"/>
              <a:t>Especifique los pasos</a:t>
            </a:r>
          </a:p>
          <a:p>
            <a:r>
              <a:rPr lang="es-ES" dirty="0"/>
              <a:t>Para abrir un archivo en </a:t>
            </a:r>
            <a:r>
              <a:rPr lang="es-ES" dirty="0" err="1"/>
              <a:t>cvs</a:t>
            </a:r>
            <a:r>
              <a:rPr lang="es-ES" dirty="0"/>
              <a:t> con datos de imágenes y convertirlo en matriz</a:t>
            </a:r>
          </a:p>
          <a:p>
            <a:r>
              <a:rPr lang="es-ES" dirty="0"/>
              <a:t>Intente con </a:t>
            </a:r>
            <a:r>
              <a:rPr lang="es-ES" dirty="0" err="1"/>
              <a:t>almenos</a:t>
            </a:r>
            <a:r>
              <a:rPr lang="es-ES" dirty="0"/>
              <a:t> un archivo de cada una de las carpetas</a:t>
            </a:r>
          </a:p>
          <a:p>
            <a:r>
              <a:rPr lang="es-CO" dirty="0">
                <a:hlinkClick r:id="rId6"/>
              </a:rPr>
              <a:t>ST0245-Eafit/proyecto/</a:t>
            </a:r>
            <a:r>
              <a:rPr lang="es-CO" dirty="0" err="1">
                <a:hlinkClick r:id="rId6"/>
              </a:rPr>
              <a:t>datasets</a:t>
            </a:r>
            <a:r>
              <a:rPr lang="es-CO" dirty="0">
                <a:hlinkClick r:id="rId6"/>
              </a:rPr>
              <a:t>/</a:t>
            </a:r>
            <a:r>
              <a:rPr lang="es-CO" dirty="0" err="1">
                <a:hlinkClick r:id="rId6"/>
              </a:rPr>
              <a:t>csv</a:t>
            </a:r>
            <a:r>
              <a:rPr lang="es-CO" dirty="0">
                <a:hlinkClick r:id="rId6"/>
              </a:rPr>
              <a:t>/</a:t>
            </a:r>
            <a:r>
              <a:rPr lang="es-CO" dirty="0" err="1">
                <a:hlinkClick r:id="rId6"/>
              </a:rPr>
              <a:t>paraEntrenarYProbarLaIA</a:t>
            </a:r>
            <a:r>
              <a:rPr lang="es-CO" dirty="0">
                <a:hlinkClick r:id="rId6"/>
              </a:rPr>
              <a:t> at master · </a:t>
            </a:r>
            <a:r>
              <a:rPr lang="es-CO" dirty="0" err="1">
                <a:hlinkClick r:id="rId6"/>
              </a:rPr>
              <a:t>mauriciotoro</a:t>
            </a:r>
            <a:r>
              <a:rPr lang="es-CO" dirty="0">
                <a:hlinkClick r:id="rId6"/>
              </a:rPr>
              <a:t>/ST0245-Eafit (github.com)</a:t>
            </a:r>
            <a:endParaRPr lang="es-ES" dirty="0"/>
          </a:p>
          <a:p>
            <a:endParaRPr lang="es-ES" dirty="0"/>
          </a:p>
          <a:p>
            <a:endParaRPr lang="es-ES" dirty="0"/>
          </a:p>
          <a:p>
            <a:endParaRPr lang="es-CO" dirty="0"/>
          </a:p>
        </p:txBody>
      </p:sp>
    </p:spTree>
    <p:extLst>
      <p:ext uri="{BB962C8B-B14F-4D97-AF65-F5344CB8AC3E}">
        <p14:creationId xmlns:p14="http://schemas.microsoft.com/office/powerpoint/2010/main" val="200808834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886</TotalTime>
  <Words>1523</Words>
  <Application>Microsoft Office PowerPoint</Application>
  <PresentationFormat>Panorámica</PresentationFormat>
  <Paragraphs>139</Paragraphs>
  <Slides>14</Slides>
  <Notes>14</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14</vt:i4>
      </vt:variant>
    </vt:vector>
  </HeadingPairs>
  <TitlesOfParts>
    <vt:vector size="19"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Usuario de Windows</cp:lastModifiedBy>
  <cp:revision>41</cp:revision>
  <dcterms:created xsi:type="dcterms:W3CDTF">2020-06-26T14:36:07Z</dcterms:created>
  <dcterms:modified xsi:type="dcterms:W3CDTF">2021-11-20T18:05:10Z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