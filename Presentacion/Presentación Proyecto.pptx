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14"/>
  </p:notesMasterIdLst>
  <p:sldIdLst>
    <p:sldId id="256" r:id="rId3"/>
    <p:sldId id="257" r:id="rId4"/>
    <p:sldId id="258" r:id="rId5"/>
    <p:sldId id="259" r:id="rId6"/>
    <p:sldId id="260" r:id="rId7"/>
    <p:sldId id="261" r:id="rId8"/>
    <p:sldId id="271" r:id="rId9"/>
    <p:sldId id="273" r:id="rId10"/>
    <p:sldId id="264" r:id="rId11"/>
    <p:sldId id="265" r:id="rId12"/>
    <p:sldId id="266" r:id="rId13"/>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25"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23"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82519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66654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45567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60690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023967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3"/>
        <p:cNvGrpSpPr/>
        <p:nvPr/>
      </p:nvGrpSpPr>
      <p:grpSpPr>
        <a:xfrm>
          <a:off x="0" y="0"/>
          <a:ext cx="0" cy="0"/>
          <a:chOff x="0" y="0"/>
          <a:chExt cx="0" cy="0"/>
        </a:xfrm>
      </p:grpSpPr>
      <p:sp>
        <p:nvSpPr>
          <p:cNvPr id="74" name="Google Shape;74;p3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5"/>
        <p:cNvGrpSpPr/>
        <p:nvPr/>
      </p:nvGrpSpPr>
      <p:grpSpPr>
        <a:xfrm>
          <a:off x="0" y="0"/>
          <a:ext cx="0" cy="0"/>
          <a:chOff x="0" y="0"/>
          <a:chExt cx="0" cy="0"/>
        </a:xfrm>
      </p:grpSpPr>
      <p:sp>
        <p:nvSpPr>
          <p:cNvPr id="76" name="Google Shape;76;p34"/>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10" Type="http://schemas.openxmlformats.org/officeDocument/2006/relationships/theme" Target="../theme/theme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5.jpe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6.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3.png"/><Relationship Id="rId5" Type="http://schemas.openxmlformats.org/officeDocument/2006/relationships/hyperlink" Target="https://www.youtube.com/watch?v=jKCQsndqEGQ&amp;ab_channel=3Blue1BrownEspa%C3%B1ol" TargetMode="External"/><Relationship Id="rId4" Type="http://schemas.openxmlformats.org/officeDocument/2006/relationships/hyperlink" Target="http://github.com/"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hyperlink" Target="https://www.youtube.com/watch?v=Bzhuxk8ErdI&amp;ab_channel=PsyFun"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hyperlink" Target="https://github.com/mauriciotoro/ST0245-Eafit/tree/master/proyecto/datasets/csv/paraEntrenarYProbarLaIA"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764418" y="2153018"/>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s-CO" sz="3600" b="1" i="0" u="none" strike="noStrike" cap="none" dirty="0" smtClean="0">
                <a:solidFill>
                  <a:srgbClr val="000000"/>
                </a:solidFill>
                <a:latin typeface="Arial"/>
                <a:ea typeface="Arial"/>
                <a:cs typeface="Arial"/>
                <a:sym typeface="Arial"/>
              </a:rPr>
              <a:t>Investigación para la compresión de datos</a:t>
            </a:r>
            <a:endParaRPr lang="es-CO" sz="3600" b="1"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i="0" u="none" strike="noStrike" cap="none" dirty="0" smtClean="0">
                <a:solidFill>
                  <a:srgbClr val="FFFFFF"/>
                </a:solidFill>
                <a:latin typeface="Arial"/>
                <a:ea typeface="Arial"/>
                <a:cs typeface="Arial"/>
                <a:sym typeface="Arial"/>
              </a:rPr>
              <a:t>Presentación del equipo</a:t>
            </a:r>
            <a:endParaRPr lang="es-CO" sz="2200" b="0" i="0" u="none" strike="noStrike" cap="none" dirty="0">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a:t>
            </a:r>
            <a:r>
              <a:rPr lang="en-US" sz="2200" b="1" dirty="0" smtClean="0">
                <a:solidFill>
                  <a:srgbClr val="001E33"/>
                </a:solidFill>
                <a:uFill>
                  <a:noFill/>
                </a:uFill>
                <a:hlinkClick r:id="rId6"/>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7"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sp>
        <p:nvSpPr>
          <p:cNvPr id="5" name="Rectángulo redondeado 4"/>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2480352" y="1427292"/>
            <a:ext cx="7235376" cy="738664"/>
          </a:xfrm>
          <a:prstGeom prst="rect">
            <a:avLst/>
          </a:prstGeom>
          <a:noFill/>
        </p:spPr>
        <p:txBody>
          <a:bodyPr wrap="square" rtlCol="0">
            <a:spAutoFit/>
          </a:bodyPr>
          <a:lstStyle/>
          <a:p>
            <a:pPr algn="ctr"/>
            <a:r>
              <a:rPr lang="es-CO" dirty="0" smtClean="0">
                <a:solidFill>
                  <a:schemeClr val="bg1"/>
                </a:solidFill>
              </a:rPr>
              <a:t>La compresión de imágenes es el proceso de reducir el tamaño de estas usando técnicas para simplificar la información redundante y así volverla más óptima para los objetivos que se tengan con esta.</a:t>
            </a:r>
            <a:endParaRPr lang="es-CO" dirty="0">
              <a:solidFill>
                <a:schemeClr val="bg1"/>
              </a:solidFill>
            </a:endParaRPr>
          </a:p>
        </p:txBody>
      </p:sp>
      <p:sp>
        <p:nvSpPr>
          <p:cNvPr id="4" name="CuadroTexto 3"/>
          <p:cNvSpPr txBox="1"/>
          <p:nvPr/>
        </p:nvSpPr>
        <p:spPr>
          <a:xfrm>
            <a:off x="798802" y="3598173"/>
            <a:ext cx="4160129" cy="1815882"/>
          </a:xfrm>
          <a:prstGeom prst="rect">
            <a:avLst/>
          </a:prstGeom>
          <a:noFill/>
        </p:spPr>
        <p:txBody>
          <a:bodyPr wrap="square" rtlCol="0">
            <a:spAutoFit/>
          </a:bodyPr>
          <a:lstStyle/>
          <a:p>
            <a:pPr algn="ctr"/>
            <a:r>
              <a:rPr lang="es-CO" b="1" dirty="0" smtClean="0"/>
              <a:t>Compresión</a:t>
            </a:r>
            <a:r>
              <a:rPr lang="pt-BR" b="1" dirty="0" smtClean="0"/>
              <a:t> Lossy</a:t>
            </a:r>
          </a:p>
          <a:p>
            <a:pPr algn="ctr"/>
            <a:endParaRPr lang="pt-BR" b="1" dirty="0" smtClean="0"/>
          </a:p>
          <a:p>
            <a:pPr algn="just"/>
            <a:r>
              <a:rPr lang="pt-BR" dirty="0" smtClean="0"/>
              <a:t>Es un </a:t>
            </a:r>
            <a:r>
              <a:rPr lang="es-CO" dirty="0" smtClean="0"/>
              <a:t>proceso</a:t>
            </a:r>
            <a:r>
              <a:rPr lang="pt-BR" dirty="0" smtClean="0"/>
              <a:t> de </a:t>
            </a:r>
            <a:r>
              <a:rPr lang="pt-BR" dirty="0" err="1" smtClean="0"/>
              <a:t>co</a:t>
            </a:r>
            <a:r>
              <a:rPr lang="es-CO" dirty="0" err="1" smtClean="0"/>
              <a:t>mpresión</a:t>
            </a:r>
            <a:r>
              <a:rPr lang="es-CO" dirty="0" smtClean="0"/>
              <a:t> </a:t>
            </a:r>
            <a:r>
              <a:rPr lang="pt-BR" dirty="0" smtClean="0"/>
              <a:t>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eliminación</a:t>
            </a:r>
            <a:r>
              <a:rPr lang="pt-BR" dirty="0" smtClean="0"/>
              <a:t> de </a:t>
            </a:r>
            <a:r>
              <a:rPr lang="pt-BR" dirty="0" err="1" smtClean="0"/>
              <a:t>información</a:t>
            </a:r>
            <a:r>
              <a:rPr lang="pt-BR" dirty="0" smtClean="0"/>
              <a:t> de </a:t>
            </a:r>
            <a:r>
              <a:rPr lang="pt-BR" dirty="0" err="1" smtClean="0"/>
              <a:t>la</a:t>
            </a:r>
            <a:r>
              <a:rPr lang="pt-BR" dirty="0" smtClean="0"/>
              <a:t> </a:t>
            </a:r>
            <a:r>
              <a:rPr lang="pt-BR" dirty="0" err="1" smtClean="0"/>
              <a:t>cual</a:t>
            </a:r>
            <a:r>
              <a:rPr lang="pt-BR" dirty="0" smtClean="0"/>
              <a:t> </a:t>
            </a:r>
            <a:r>
              <a:rPr lang="pt-BR" dirty="0" err="1" smtClean="0"/>
              <a:t>el</a:t>
            </a:r>
            <a:r>
              <a:rPr lang="pt-BR" dirty="0" smtClean="0"/>
              <a:t> ser humano </a:t>
            </a:r>
            <a:r>
              <a:rPr lang="pt-BR" dirty="0" err="1" smtClean="0"/>
              <a:t>puede</a:t>
            </a:r>
            <a:r>
              <a:rPr lang="pt-BR" dirty="0" smtClean="0"/>
              <a:t> </a:t>
            </a:r>
            <a:r>
              <a:rPr lang="es-CO" dirty="0" smtClean="0"/>
              <a:t>prescindir</a:t>
            </a:r>
            <a:r>
              <a:rPr lang="pt-BR" dirty="0" smtClean="0"/>
              <a:t> </a:t>
            </a:r>
            <a:r>
              <a:rPr lang="pt-BR" dirty="0" err="1" smtClean="0"/>
              <a:t>sin</a:t>
            </a:r>
            <a:r>
              <a:rPr lang="pt-BR" dirty="0" smtClean="0"/>
              <a:t> cambiar </a:t>
            </a:r>
            <a:r>
              <a:rPr lang="pt-BR" dirty="0" err="1" smtClean="0"/>
              <a:t>el</a:t>
            </a:r>
            <a:r>
              <a:rPr lang="pt-BR" dirty="0" smtClean="0"/>
              <a:t> resultado o </a:t>
            </a:r>
            <a:r>
              <a:rPr lang="pt-BR" dirty="0" err="1" smtClean="0"/>
              <a:t>el</a:t>
            </a:r>
            <a:r>
              <a:rPr lang="pt-BR" dirty="0" smtClean="0"/>
              <a:t> significado de </a:t>
            </a:r>
            <a:r>
              <a:rPr lang="pt-BR" dirty="0" err="1" smtClean="0"/>
              <a:t>la</a:t>
            </a:r>
            <a:r>
              <a:rPr lang="pt-BR" dirty="0" smtClean="0"/>
              <a:t> </a:t>
            </a:r>
            <a:r>
              <a:rPr lang="es-CO" dirty="0" smtClean="0"/>
              <a:t>imagen</a:t>
            </a:r>
            <a:r>
              <a:rPr lang="pt-BR" dirty="0" smtClean="0"/>
              <a:t>. La perdida de </a:t>
            </a:r>
            <a:r>
              <a:rPr lang="es-CO" dirty="0" smtClean="0"/>
              <a:t>información</a:t>
            </a:r>
            <a:r>
              <a:rPr lang="pt-BR" dirty="0" smtClean="0"/>
              <a:t> </a:t>
            </a:r>
            <a:r>
              <a:rPr lang="pt-BR" dirty="0" err="1" smtClean="0"/>
              <a:t>en</a:t>
            </a:r>
            <a:r>
              <a:rPr lang="pt-BR" dirty="0" smtClean="0"/>
              <a:t> este </a:t>
            </a:r>
            <a:r>
              <a:rPr lang="pt-BR" dirty="0" err="1" smtClean="0"/>
              <a:t>proceso</a:t>
            </a:r>
            <a:r>
              <a:rPr lang="pt-BR" dirty="0" smtClean="0"/>
              <a:t> es </a:t>
            </a:r>
            <a:r>
              <a:rPr lang="pt-BR" dirty="0" err="1" smtClean="0"/>
              <a:t>irre</a:t>
            </a:r>
            <a:r>
              <a:rPr lang="es-CO" dirty="0" err="1" smtClean="0"/>
              <a:t>versible</a:t>
            </a:r>
            <a:r>
              <a:rPr lang="es-CO" dirty="0" smtClean="0"/>
              <a:t> y compromete la calidad de la imagen.</a:t>
            </a:r>
            <a:endParaRPr lang="pt-BR" dirty="0"/>
          </a:p>
        </p:txBody>
      </p:sp>
      <p:sp>
        <p:nvSpPr>
          <p:cNvPr id="9" name="CuadroTexto 8"/>
          <p:cNvSpPr txBox="1"/>
          <p:nvPr/>
        </p:nvSpPr>
        <p:spPr>
          <a:xfrm>
            <a:off x="7245127" y="3813616"/>
            <a:ext cx="4160129" cy="1384995"/>
          </a:xfrm>
          <a:prstGeom prst="rect">
            <a:avLst/>
          </a:prstGeom>
          <a:noFill/>
        </p:spPr>
        <p:txBody>
          <a:bodyPr wrap="square" rtlCol="0">
            <a:spAutoFit/>
          </a:bodyPr>
          <a:lstStyle/>
          <a:p>
            <a:pPr algn="ctr"/>
            <a:r>
              <a:rPr lang="pt-BR" b="1" dirty="0" err="1" smtClean="0"/>
              <a:t>Compresión</a:t>
            </a:r>
            <a:r>
              <a:rPr lang="pt-BR" b="1" dirty="0" smtClean="0"/>
              <a:t> </a:t>
            </a:r>
            <a:r>
              <a:rPr lang="pt-BR" b="1" dirty="0" err="1" smtClean="0"/>
              <a:t>LossLess</a:t>
            </a:r>
            <a:endParaRPr lang="pt-BR" b="1" dirty="0" smtClean="0"/>
          </a:p>
          <a:p>
            <a:pPr algn="ctr"/>
            <a:endParaRPr lang="pt-BR" b="1" dirty="0" smtClean="0"/>
          </a:p>
          <a:p>
            <a:pPr algn="just"/>
            <a:r>
              <a:rPr lang="pt-BR" dirty="0" smtClean="0"/>
              <a:t>Es un </a:t>
            </a:r>
            <a:r>
              <a:rPr lang="pt-BR" dirty="0" err="1" smtClean="0"/>
              <a:t>proceso</a:t>
            </a:r>
            <a:r>
              <a:rPr lang="pt-BR" dirty="0" smtClean="0"/>
              <a:t> de </a:t>
            </a:r>
            <a:r>
              <a:rPr lang="pt-BR" dirty="0" err="1" smtClean="0"/>
              <a:t>compresión</a:t>
            </a:r>
            <a:r>
              <a:rPr lang="pt-BR" dirty="0" smtClean="0"/>
              <a:t> 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reestructuración</a:t>
            </a:r>
            <a:r>
              <a:rPr lang="pt-BR" dirty="0" smtClean="0"/>
              <a:t> de </a:t>
            </a:r>
            <a:r>
              <a:rPr lang="pt-BR" dirty="0" err="1" smtClean="0"/>
              <a:t>la</a:t>
            </a:r>
            <a:r>
              <a:rPr lang="pt-BR" dirty="0" smtClean="0"/>
              <a:t> </a:t>
            </a:r>
            <a:r>
              <a:rPr lang="pt-BR" dirty="0" err="1" smtClean="0"/>
              <a:t>información</a:t>
            </a:r>
            <a:r>
              <a:rPr lang="pt-BR" dirty="0" smtClean="0"/>
              <a:t> para que esta ocupe menos memoria. No se </a:t>
            </a:r>
            <a:r>
              <a:rPr lang="pt-BR" dirty="0" err="1" smtClean="0"/>
              <a:t>pierde</a:t>
            </a:r>
            <a:r>
              <a:rPr lang="pt-BR" dirty="0" smtClean="0"/>
              <a:t> </a:t>
            </a:r>
            <a:r>
              <a:rPr lang="pt-BR" dirty="0" err="1" smtClean="0"/>
              <a:t>calidad</a:t>
            </a:r>
            <a:r>
              <a:rPr lang="pt-BR" dirty="0" smtClean="0"/>
              <a:t> </a:t>
            </a:r>
            <a:r>
              <a:rPr lang="pt-BR" dirty="0" err="1" smtClean="0"/>
              <a:t>ni</a:t>
            </a:r>
            <a:r>
              <a:rPr lang="pt-BR" dirty="0" smtClean="0"/>
              <a:t> </a:t>
            </a:r>
            <a:r>
              <a:rPr lang="pt-BR" dirty="0" err="1" smtClean="0"/>
              <a:t>datos</a:t>
            </a:r>
            <a:r>
              <a:rPr lang="pt-BR" dirty="0" smtClean="0"/>
              <a:t> de </a:t>
            </a:r>
            <a:r>
              <a:rPr lang="pt-BR" dirty="0" err="1" smtClean="0"/>
              <a:t>la</a:t>
            </a:r>
            <a:r>
              <a:rPr lang="pt-BR" dirty="0" smtClean="0"/>
              <a:t> </a:t>
            </a:r>
            <a:r>
              <a:rPr lang="pt-BR" dirty="0" err="1" smtClean="0"/>
              <a:t>imagen</a:t>
            </a:r>
            <a:r>
              <a:rPr lang="pt-BR" dirty="0" smtClean="0"/>
              <a:t> original.</a:t>
            </a:r>
            <a:endParaRPr lang="pt-BR" dirty="0"/>
          </a:p>
        </p:txBody>
      </p:sp>
      <p:sp>
        <p:nvSpPr>
          <p:cNvPr id="10" name="Google Shape;200;p2"/>
          <p:cNvSpPr/>
          <p:nvPr/>
        </p:nvSpPr>
        <p:spPr>
          <a:xfrm>
            <a:off x="468335" y="371520"/>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¿Qué es la compresión de imágenes?</a:t>
            </a:r>
            <a:endParaRPr lang="es-CO" sz="2200" b="0" i="0" u="none" strike="noStrike" cap="none" dirty="0">
              <a:solidFill>
                <a:srgbClr val="000000"/>
              </a:solidFill>
              <a:latin typeface="Arial"/>
              <a:ea typeface="Arial"/>
              <a:cs typeface="Arial"/>
              <a:sym typeface="Arial"/>
            </a:endParaRPr>
          </a:p>
        </p:txBody>
      </p:sp>
      <p:cxnSp>
        <p:nvCxnSpPr>
          <p:cNvPr id="7" name="Conector recto de flecha 6"/>
          <p:cNvCxnSpPr>
            <a:stCxn id="5" idx="2"/>
          </p:cNvCxnSpPr>
          <p:nvPr/>
        </p:nvCxnSpPr>
        <p:spPr>
          <a:xfrm flipH="1">
            <a:off x="2854036" y="2311329"/>
            <a:ext cx="3237153" cy="1084652"/>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p:cNvCxnSpPr/>
          <p:nvPr/>
        </p:nvCxnSpPr>
        <p:spPr>
          <a:xfrm>
            <a:off x="6091189" y="2310990"/>
            <a:ext cx="3260629" cy="1084991"/>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ángulo redondeado 12"/>
          <p:cNvSpPr/>
          <p:nvPr/>
        </p:nvSpPr>
        <p:spPr>
          <a:xfrm>
            <a:off x="468335"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Rectángulo redondeado 15"/>
          <p:cNvSpPr/>
          <p:nvPr/>
        </p:nvSpPr>
        <p:spPr>
          <a:xfrm>
            <a:off x="6914658"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6576800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490960" y="1278422"/>
            <a:ext cx="5129749" cy="1384995"/>
          </a:xfrm>
          <a:prstGeom prst="rect">
            <a:avLst/>
          </a:prstGeom>
          <a:noFill/>
        </p:spPr>
        <p:txBody>
          <a:bodyPr wrap="square" rtlCol="0">
            <a:spAutoFit/>
          </a:bodyPr>
          <a:lstStyle/>
          <a:p>
            <a:pPr algn="just"/>
            <a:r>
              <a:rPr lang="pt-BR" b="1" u="sng" dirty="0" err="1" smtClean="0"/>
              <a:t>Run-length</a:t>
            </a:r>
            <a:r>
              <a:rPr lang="pt-BR" b="1" u="sng" dirty="0" smtClean="0"/>
              <a:t>:</a:t>
            </a:r>
            <a:r>
              <a:rPr lang="pt-BR" dirty="0" smtClean="0"/>
              <a:t> Para </a:t>
            </a:r>
            <a:r>
              <a:rPr lang="pt-BR" dirty="0" err="1" smtClean="0"/>
              <a:t>reducir</a:t>
            </a:r>
            <a:r>
              <a:rPr lang="pt-BR" dirty="0" smtClean="0"/>
              <a:t> </a:t>
            </a:r>
            <a:r>
              <a:rPr lang="pt-BR" dirty="0" err="1" smtClean="0"/>
              <a:t>la</a:t>
            </a:r>
            <a:r>
              <a:rPr lang="pt-BR" dirty="0" smtClean="0"/>
              <a:t> </a:t>
            </a:r>
            <a:r>
              <a:rPr lang="pt-BR" dirty="0" err="1" smtClean="0"/>
              <a:t>información</a:t>
            </a:r>
            <a:r>
              <a:rPr lang="pt-BR" dirty="0" smtClean="0"/>
              <a:t> </a:t>
            </a:r>
            <a:r>
              <a:rPr lang="pt-BR" dirty="0" err="1" smtClean="0"/>
              <a:t>reduntante</a:t>
            </a:r>
            <a:r>
              <a:rPr lang="pt-BR" dirty="0" smtClean="0"/>
              <a:t> este método </a:t>
            </a:r>
            <a:r>
              <a:rPr lang="pt-BR" dirty="0" err="1" smtClean="0"/>
              <a:t>cuenta</a:t>
            </a:r>
            <a:r>
              <a:rPr lang="pt-BR" dirty="0" smtClean="0"/>
              <a:t> </a:t>
            </a:r>
            <a:r>
              <a:rPr lang="pt-BR" dirty="0" err="1" smtClean="0"/>
              <a:t>cuántas</a:t>
            </a:r>
            <a:r>
              <a:rPr lang="pt-BR" dirty="0" smtClean="0"/>
              <a:t> </a:t>
            </a:r>
            <a:r>
              <a:rPr lang="pt-BR" dirty="0" err="1" smtClean="0"/>
              <a:t>veces</a:t>
            </a:r>
            <a:r>
              <a:rPr lang="pt-BR" dirty="0" smtClean="0"/>
              <a:t> se </a:t>
            </a:r>
            <a:r>
              <a:rPr lang="pt-BR" dirty="0" err="1" smtClean="0"/>
              <a:t>repite</a:t>
            </a:r>
            <a:r>
              <a:rPr lang="pt-BR" dirty="0" smtClean="0"/>
              <a:t> </a:t>
            </a:r>
            <a:r>
              <a:rPr lang="pt-BR" dirty="0" err="1" smtClean="0"/>
              <a:t>el</a:t>
            </a:r>
            <a:r>
              <a:rPr lang="pt-BR" dirty="0" smtClean="0"/>
              <a:t> </a:t>
            </a:r>
            <a:r>
              <a:rPr lang="pt-BR" dirty="0" err="1" smtClean="0"/>
              <a:t>mismo</a:t>
            </a:r>
            <a:r>
              <a:rPr lang="pt-BR" dirty="0" smtClean="0"/>
              <a:t> </a:t>
            </a:r>
            <a:r>
              <a:rPr lang="pt-BR" dirty="0" err="1" smtClean="0"/>
              <a:t>caracter</a:t>
            </a:r>
            <a:r>
              <a:rPr lang="pt-BR" dirty="0" smtClean="0"/>
              <a:t> y coloca este número al frente de </a:t>
            </a:r>
            <a:r>
              <a:rPr lang="pt-BR" dirty="0" err="1" smtClean="0"/>
              <a:t>la</a:t>
            </a:r>
            <a:r>
              <a:rPr lang="pt-BR" dirty="0" smtClean="0"/>
              <a:t> </a:t>
            </a:r>
            <a:r>
              <a:rPr lang="pt-BR" dirty="0" err="1" smtClean="0"/>
              <a:t>identificación</a:t>
            </a:r>
            <a:r>
              <a:rPr lang="pt-BR" dirty="0" smtClean="0"/>
              <a:t> </a:t>
            </a:r>
            <a:r>
              <a:rPr lang="pt-BR" dirty="0" err="1" smtClean="0"/>
              <a:t>del</a:t>
            </a:r>
            <a:r>
              <a:rPr lang="pt-BR" dirty="0" smtClean="0"/>
              <a:t> </a:t>
            </a:r>
            <a:r>
              <a:rPr lang="pt-BR" dirty="0" err="1" smtClean="0"/>
              <a:t>caracter</a:t>
            </a:r>
            <a:r>
              <a:rPr lang="pt-BR" dirty="0" smtClean="0"/>
              <a:t>. Es </a:t>
            </a:r>
            <a:r>
              <a:rPr lang="pt-BR" dirty="0" err="1" smtClean="0"/>
              <a:t>decir</a:t>
            </a:r>
            <a:r>
              <a:rPr lang="pt-BR" dirty="0" smtClean="0"/>
              <a:t>, si </a:t>
            </a:r>
            <a:r>
              <a:rPr lang="pt-BR" dirty="0" err="1" smtClean="0"/>
              <a:t>tenemos</a:t>
            </a:r>
            <a:r>
              <a:rPr lang="pt-BR" dirty="0" smtClean="0"/>
              <a:t> 10 </a:t>
            </a:r>
            <a:r>
              <a:rPr lang="pt-BR" dirty="0" err="1" smtClean="0"/>
              <a:t>pixeles</a:t>
            </a:r>
            <a:r>
              <a:rPr lang="pt-BR" dirty="0" smtClean="0"/>
              <a:t> </a:t>
            </a:r>
            <a:r>
              <a:rPr lang="pt-BR" dirty="0" err="1" smtClean="0"/>
              <a:t>blancos</a:t>
            </a:r>
            <a:r>
              <a:rPr lang="pt-BR" dirty="0" smtClean="0"/>
              <a:t> seguidos, y </a:t>
            </a:r>
            <a:r>
              <a:rPr lang="pt-BR" dirty="0" err="1" smtClean="0"/>
              <a:t>suponiendo</a:t>
            </a:r>
            <a:r>
              <a:rPr lang="pt-BR" dirty="0" smtClean="0"/>
              <a:t> que este color se representa </a:t>
            </a:r>
            <a:r>
              <a:rPr lang="pt-BR" dirty="0" err="1" smtClean="0"/>
              <a:t>con</a:t>
            </a:r>
            <a:r>
              <a:rPr lang="pt-BR" dirty="0" smtClean="0"/>
              <a:t> B, </a:t>
            </a:r>
            <a:r>
              <a:rPr lang="pt-BR" dirty="0" err="1" smtClean="0"/>
              <a:t>en</a:t>
            </a:r>
            <a:r>
              <a:rPr lang="pt-BR" dirty="0" smtClean="0"/>
              <a:t> vez de </a:t>
            </a:r>
            <a:r>
              <a:rPr lang="pt-BR" dirty="0" err="1" smtClean="0"/>
              <a:t>tener</a:t>
            </a:r>
            <a:r>
              <a:rPr lang="pt-BR" dirty="0" smtClean="0"/>
              <a:t> B, B, B, B, B, B, B, B, B, B, vamos a </a:t>
            </a:r>
            <a:r>
              <a:rPr lang="pt-BR" dirty="0" err="1" smtClean="0"/>
              <a:t>tener</a:t>
            </a:r>
            <a:r>
              <a:rPr lang="pt-BR" dirty="0" smtClean="0"/>
              <a:t> 10B.</a:t>
            </a:r>
            <a:endParaRPr lang="pt-BR" dirty="0"/>
          </a:p>
        </p:txBody>
      </p:sp>
      <p:sp>
        <p:nvSpPr>
          <p:cNvPr id="4" name="CuadroTexto 3"/>
          <p:cNvSpPr txBox="1"/>
          <p:nvPr/>
        </p:nvSpPr>
        <p:spPr>
          <a:xfrm>
            <a:off x="6389194" y="3349747"/>
            <a:ext cx="5359331" cy="2462213"/>
          </a:xfrm>
          <a:prstGeom prst="rect">
            <a:avLst/>
          </a:prstGeom>
          <a:noFill/>
        </p:spPr>
        <p:txBody>
          <a:bodyPr wrap="square" rtlCol="0">
            <a:spAutoFit/>
          </a:bodyPr>
          <a:lstStyle/>
          <a:p>
            <a:pPr algn="just"/>
            <a:r>
              <a:rPr lang="es-CO" b="1" u="sng" dirty="0" smtClean="0"/>
              <a:t>Codificación de </a:t>
            </a:r>
            <a:r>
              <a:rPr lang="es-CO" b="1" u="sng" dirty="0" err="1" smtClean="0"/>
              <a:t>Huffman</a:t>
            </a:r>
            <a:r>
              <a:rPr lang="es-CO" b="1" u="sng" dirty="0" smtClean="0"/>
              <a:t>:</a:t>
            </a:r>
            <a:r>
              <a:rPr lang="es-CO" dirty="0" smtClean="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pPr algn="just"/>
            <a:endParaRPr lang="es-CO" dirty="0"/>
          </a:p>
          <a:p>
            <a:pPr algn="just"/>
            <a:r>
              <a:rPr lang="es-CO" dirty="0" smtClean="0"/>
              <a:t>Finalmente se crea un diccionario en donde se guarda el carácter con el código de la ruta de 0 y 1 hasta llegar a este, dejando así al de mayor frecuencia con un código de 0 (el menor de todos).</a:t>
            </a:r>
            <a:endParaRPr lang="es-CO" dirty="0"/>
          </a:p>
        </p:txBody>
      </p:sp>
      <p:sp>
        <p:nvSpPr>
          <p:cNvPr id="8" name="Google Shape;200;p2"/>
          <p:cNvSpPr/>
          <p:nvPr/>
        </p:nvSpPr>
        <p:spPr>
          <a:xfrm>
            <a:off x="493380" y="358601"/>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LossLess</a:t>
            </a:r>
            <a:endParaRPr lang="es-CO" sz="2200" b="0" i="0" u="none" strike="noStrike" cap="none" dirty="0">
              <a:solidFill>
                <a:srgbClr val="000000"/>
              </a:solidFill>
              <a:latin typeface="Arial"/>
              <a:ea typeface="Arial"/>
              <a:cs typeface="Arial"/>
              <a:sym typeface="Arial"/>
            </a:endParaRPr>
          </a:p>
        </p:txBody>
      </p:sp>
      <p:pic>
        <p:nvPicPr>
          <p:cNvPr id="5" name="Imagen 4"/>
          <p:cNvPicPr>
            <a:picLocks noChangeAspect="1"/>
          </p:cNvPicPr>
          <p:nvPr/>
        </p:nvPicPr>
        <p:blipFill rotWithShape="1">
          <a:blip r:embed="rId6"/>
          <a:srcRect l="1706" t="43425" r="70535" b="1981"/>
          <a:stretch/>
        </p:blipFill>
        <p:spPr>
          <a:xfrm>
            <a:off x="2930837" y="3099640"/>
            <a:ext cx="2689872" cy="2524057"/>
          </a:xfrm>
          <a:prstGeom prst="rect">
            <a:avLst/>
          </a:prstGeom>
        </p:spPr>
      </p:pic>
      <p:sp>
        <p:nvSpPr>
          <p:cNvPr id="6" name="CuadroTexto 5"/>
          <p:cNvSpPr txBox="1"/>
          <p:nvPr/>
        </p:nvSpPr>
        <p:spPr>
          <a:xfrm>
            <a:off x="390618" y="3245949"/>
            <a:ext cx="1551709" cy="523220"/>
          </a:xfrm>
          <a:prstGeom prst="rect">
            <a:avLst/>
          </a:prstGeom>
          <a:noFill/>
          <a:ln>
            <a:solidFill>
              <a:schemeClr val="accent5">
                <a:lumMod val="75000"/>
              </a:schemeClr>
            </a:solidFill>
          </a:ln>
        </p:spPr>
        <p:txBody>
          <a:bodyPr wrap="square" rtlCol="0">
            <a:spAutoFit/>
          </a:bodyPr>
          <a:lstStyle/>
          <a:p>
            <a:pPr algn="ctr"/>
            <a:r>
              <a:rPr lang="es-CO" dirty="0" smtClean="0"/>
              <a:t>WWWBBWWW</a:t>
            </a:r>
          </a:p>
          <a:p>
            <a:pPr algn="ctr"/>
            <a:r>
              <a:rPr lang="es-CO" dirty="0" smtClean="0"/>
              <a:t>WWBBBBWW</a:t>
            </a:r>
            <a:endParaRPr lang="es-CO" dirty="0"/>
          </a:p>
        </p:txBody>
      </p:sp>
      <p:sp>
        <p:nvSpPr>
          <p:cNvPr id="11" name="CuadroTexto 10"/>
          <p:cNvSpPr txBox="1"/>
          <p:nvPr/>
        </p:nvSpPr>
        <p:spPr>
          <a:xfrm>
            <a:off x="547855" y="4500740"/>
            <a:ext cx="1228216" cy="1169551"/>
          </a:xfrm>
          <a:prstGeom prst="rect">
            <a:avLst/>
          </a:prstGeom>
          <a:noFill/>
          <a:ln>
            <a:solidFill>
              <a:schemeClr val="accent5">
                <a:lumMod val="60000"/>
                <a:lumOff val="40000"/>
              </a:schemeClr>
            </a:solidFill>
          </a:ln>
        </p:spPr>
        <p:txBody>
          <a:bodyPr wrap="square" rtlCol="0">
            <a:spAutoFit/>
          </a:bodyPr>
          <a:lstStyle/>
          <a:p>
            <a:pPr algn="ctr"/>
            <a:r>
              <a:rPr lang="es-CO" dirty="0" smtClean="0"/>
              <a:t>3W2B3W</a:t>
            </a:r>
          </a:p>
          <a:p>
            <a:pPr algn="ctr"/>
            <a:r>
              <a:rPr lang="es-CO" dirty="0" smtClean="0"/>
              <a:t>2W4B2W</a:t>
            </a:r>
          </a:p>
          <a:p>
            <a:pPr algn="ctr"/>
            <a:endParaRPr lang="es-CO" dirty="0"/>
          </a:p>
          <a:p>
            <a:pPr algn="ctr"/>
            <a:r>
              <a:rPr lang="es-CO" dirty="0" smtClean="0"/>
              <a:t>3,2,3</a:t>
            </a:r>
          </a:p>
          <a:p>
            <a:pPr algn="ctr"/>
            <a:r>
              <a:rPr lang="es-CO" dirty="0" smtClean="0"/>
              <a:t>2.4.2</a:t>
            </a:r>
            <a:endParaRPr lang="es-CO" dirty="0"/>
          </a:p>
        </p:txBody>
      </p:sp>
      <p:sp>
        <p:nvSpPr>
          <p:cNvPr id="7" name="Flecha abajo 6"/>
          <p:cNvSpPr/>
          <p:nvPr/>
        </p:nvSpPr>
        <p:spPr>
          <a:xfrm>
            <a:off x="1139103" y="3925416"/>
            <a:ext cx="45719" cy="406894"/>
          </a:xfrm>
          <a:prstGeom prst="downArrow">
            <a:avLst/>
          </a:prstGeom>
          <a:ln w="762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 name="Flecha derecha 9"/>
          <p:cNvSpPr/>
          <p:nvPr/>
        </p:nvSpPr>
        <p:spPr>
          <a:xfrm rot="10800000">
            <a:off x="2097146" y="3484699"/>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Señal de prohibido 11"/>
          <p:cNvSpPr/>
          <p:nvPr/>
        </p:nvSpPr>
        <p:spPr>
          <a:xfrm>
            <a:off x="842118" y="3178185"/>
            <a:ext cx="639687" cy="658748"/>
          </a:xfrm>
          <a:prstGeom prst="noSmoking">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endParaRPr>
          </a:p>
        </p:txBody>
      </p:sp>
      <p:pic>
        <p:nvPicPr>
          <p:cNvPr id="13" name="Imagen 12"/>
          <p:cNvPicPr>
            <a:picLocks noChangeAspect="1"/>
          </p:cNvPicPr>
          <p:nvPr/>
        </p:nvPicPr>
        <p:blipFill>
          <a:blip r:embed="rId7"/>
          <a:stretch>
            <a:fillRect/>
          </a:stretch>
        </p:blipFill>
        <p:spPr>
          <a:xfrm>
            <a:off x="6604002" y="984328"/>
            <a:ext cx="2252555" cy="2183815"/>
          </a:xfrm>
          <a:prstGeom prst="rect">
            <a:avLst/>
          </a:prstGeom>
        </p:spPr>
      </p:pic>
      <p:sp>
        <p:nvSpPr>
          <p:cNvPr id="16" name="Flecha derecha 15"/>
          <p:cNvSpPr/>
          <p:nvPr/>
        </p:nvSpPr>
        <p:spPr>
          <a:xfrm>
            <a:off x="8720242" y="1886497"/>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Nube 13"/>
          <p:cNvSpPr/>
          <p:nvPr/>
        </p:nvSpPr>
        <p:spPr>
          <a:xfrm>
            <a:off x="9645727" y="1362728"/>
            <a:ext cx="2216727" cy="1427018"/>
          </a:xfrm>
          <a:prstGeom prst="cloud">
            <a:avLst/>
          </a:prstGeom>
          <a:no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p:cNvSpPr txBox="1"/>
          <p:nvPr/>
        </p:nvSpPr>
        <p:spPr>
          <a:xfrm>
            <a:off x="9848201" y="1691516"/>
            <a:ext cx="1634837" cy="769441"/>
          </a:xfrm>
          <a:prstGeom prst="rect">
            <a:avLst/>
          </a:prstGeom>
          <a:noFill/>
        </p:spPr>
        <p:txBody>
          <a:bodyPr wrap="square" rtlCol="0">
            <a:spAutoFit/>
          </a:bodyPr>
          <a:lstStyle/>
          <a:p>
            <a:pPr algn="just"/>
            <a:r>
              <a:rPr lang="es-CO" sz="1100" dirty="0" smtClean="0"/>
              <a:t>La letra con más frecuencia es la a, por ende tiene el código más pequeño.</a:t>
            </a:r>
            <a:endParaRPr lang="es-CO" sz="1100" dirty="0"/>
          </a:p>
        </p:txBody>
      </p:sp>
      <p:cxnSp>
        <p:nvCxnSpPr>
          <p:cNvPr id="17" name="Conector recto 16"/>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9718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181212"/>
            <a:ext cx="5218608" cy="2031325"/>
          </a:xfrm>
          <a:prstGeom prst="rect">
            <a:avLst/>
          </a:prstGeom>
          <a:noFill/>
        </p:spPr>
        <p:txBody>
          <a:bodyPr wrap="square" rtlCol="0">
            <a:spAutoFit/>
          </a:bodyPr>
          <a:lstStyle/>
          <a:p>
            <a:pPr algn="just"/>
            <a:r>
              <a:rPr lang="es-CO" b="1" u="sng" dirty="0" smtClean="0"/>
              <a:t>DCT:</a:t>
            </a:r>
            <a:r>
              <a:rPr lang="es-CO" dirty="0" smtClean="0"/>
              <a:t> Es un proceso que utiliza la herramienta matemática de la </a:t>
            </a:r>
            <a:r>
              <a:rPr lang="es-CO" i="1" dirty="0" smtClean="0"/>
              <a:t>transformada discreta de coseno</a:t>
            </a:r>
            <a:r>
              <a:rPr lang="es-CO" dirty="0" smtClean="0"/>
              <a:t>,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pPr algn="just"/>
            <a:endParaRPr lang="es-CO" dirty="0"/>
          </a:p>
        </p:txBody>
      </p:sp>
      <p:sp>
        <p:nvSpPr>
          <p:cNvPr id="7" name="CuadroTexto 6"/>
          <p:cNvSpPr txBox="1"/>
          <p:nvPr/>
        </p:nvSpPr>
        <p:spPr>
          <a:xfrm>
            <a:off x="604216" y="4283839"/>
            <a:ext cx="5048438" cy="1384995"/>
          </a:xfrm>
          <a:prstGeom prst="rect">
            <a:avLst/>
          </a:prstGeom>
          <a:noFill/>
        </p:spPr>
        <p:txBody>
          <a:bodyPr wrap="square" rtlCol="0">
            <a:spAutoFit/>
          </a:bodyPr>
          <a:lstStyle/>
          <a:p>
            <a:pPr algn="just"/>
            <a:r>
              <a:rPr lang="es-CO" b="1" u="sng" dirty="0" smtClean="0"/>
              <a:t>Compresión fractal: </a:t>
            </a:r>
            <a:r>
              <a:rPr lang="es-CO" dirty="0" smtClean="0"/>
              <a:t>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endParaRPr lang="es-CO"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a:t>
            </a:r>
            <a:r>
              <a:rPr lang="es-CO" sz="2200" b="1" dirty="0" err="1" smtClean="0">
                <a:solidFill>
                  <a:srgbClr val="FFFFFF"/>
                </a:solidFill>
              </a:rPr>
              <a:t>Lossy</a:t>
            </a:r>
            <a:endParaRPr lang="es-CO" sz="2200" b="0" i="0" u="none" strike="noStrike" cap="none" dirty="0">
              <a:solidFill>
                <a:srgbClr val="000000"/>
              </a:solidFill>
              <a:latin typeface="Arial"/>
              <a:ea typeface="Arial"/>
              <a:cs typeface="Arial"/>
              <a:sym typeface="Arial"/>
            </a:endParaRPr>
          </a:p>
        </p:txBody>
      </p:sp>
      <p:pic>
        <p:nvPicPr>
          <p:cNvPr id="3" name="Imagen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60239" y="2767839"/>
            <a:ext cx="2744532" cy="674215"/>
          </a:xfrm>
          <a:prstGeom prst="rect">
            <a:avLst/>
          </a:prstGeom>
        </p:spPr>
      </p:pic>
      <p:pic>
        <p:nvPicPr>
          <p:cNvPr id="1026" name="Picture 2" descr="Fract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04958" y="1151896"/>
            <a:ext cx="2046953" cy="285550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p:cNvPicPr>
            <a:picLocks noChangeAspect="1"/>
          </p:cNvPicPr>
          <p:nvPr/>
        </p:nvPicPr>
        <p:blipFill>
          <a:blip r:embed="rId8"/>
          <a:stretch>
            <a:fillRect/>
          </a:stretch>
        </p:blipFill>
        <p:spPr>
          <a:xfrm>
            <a:off x="7145161" y="3710510"/>
            <a:ext cx="3822123" cy="1895224"/>
          </a:xfrm>
          <a:prstGeom prst="rect">
            <a:avLst/>
          </a:prstGeom>
        </p:spPr>
      </p:pic>
      <p:cxnSp>
        <p:nvCxnSpPr>
          <p:cNvPr id="11" name="Conector recto 10"/>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4446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¿Qué es el aprendizaje automático?</a:t>
            </a:r>
            <a:endParaRPr lang="es-CO" sz="2200" b="0" i="0" u="none" strike="noStrike" cap="none" dirty="0">
              <a:solidFill>
                <a:srgbClr val="000000"/>
              </a:solidFill>
              <a:latin typeface="Arial"/>
              <a:ea typeface="Arial"/>
              <a:cs typeface="Arial"/>
              <a:sym typeface="Arial"/>
            </a:endParaRPr>
          </a:p>
        </p:txBody>
      </p:sp>
      <p:pic>
        <p:nvPicPr>
          <p:cNvPr id="14" name="Picture 4" descr="Inteligencia artificial (IA) y Machine Learning as a Service - OVHcloud">
            <a:extLst>
              <a:ext uri="{FF2B5EF4-FFF2-40B4-BE49-F238E27FC236}">
                <a16:creationId xmlns:a16="http://schemas.microsoft.com/office/drawing/2014/main" id="{8FD59224-300E-429B-B4E1-A2ADACECF3C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021"/>
          <a:stretch/>
        </p:blipFill>
        <p:spPr bwMode="auto">
          <a:xfrm>
            <a:off x="8807654" y="4130946"/>
            <a:ext cx="2986240" cy="18306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El Machine learning en la industria | ATRIA Innovation">
            <a:extLst>
              <a:ext uri="{FF2B5EF4-FFF2-40B4-BE49-F238E27FC236}">
                <a16:creationId xmlns:a16="http://schemas.microsoft.com/office/drawing/2014/main" id="{1768DE04-E274-4E74-9095-DA51F0C791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19549" y="4101494"/>
            <a:ext cx="2595203" cy="1787797"/>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16" name="Rectángulo redondeado 15"/>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uadroTexto 16"/>
          <p:cNvSpPr txBox="1"/>
          <p:nvPr/>
        </p:nvSpPr>
        <p:spPr>
          <a:xfrm>
            <a:off x="2473500" y="1320484"/>
            <a:ext cx="7235376" cy="1169551"/>
          </a:xfrm>
          <a:prstGeom prst="rect">
            <a:avLst/>
          </a:prstGeom>
          <a:noFill/>
        </p:spPr>
        <p:txBody>
          <a:bodyPr wrap="square" rtlCol="0">
            <a:spAutoFit/>
          </a:bodyPr>
          <a:lstStyle/>
          <a:p>
            <a:pPr algn="ctr"/>
            <a:r>
              <a:rPr lang="es-CO" dirty="0">
                <a:solidFill>
                  <a:schemeClr val="bg1"/>
                </a:solidFill>
              </a:rPr>
              <a:t>Es el área de la informática que permite acceder a datos e interpretarlos, automatizando las respuestas de </a:t>
            </a:r>
            <a:r>
              <a:rPr lang="es-CO" dirty="0" err="1">
                <a:solidFill>
                  <a:schemeClr val="bg1"/>
                </a:solidFill>
              </a:rPr>
              <a:t>big</a:t>
            </a:r>
            <a:r>
              <a:rPr lang="es-CO" dirty="0">
                <a:solidFill>
                  <a:schemeClr val="bg1"/>
                </a:solidFill>
              </a:rPr>
              <a:t> data e inteligencia artificial. A través de la inteligencia artificial del machine </a:t>
            </a:r>
            <a:r>
              <a:rPr lang="es-CO" dirty="0" err="1">
                <a:solidFill>
                  <a:schemeClr val="bg1"/>
                </a:solidFill>
              </a:rPr>
              <a:t>learning</a:t>
            </a:r>
            <a:r>
              <a:rPr lang="es-CO" dirty="0">
                <a:solidFill>
                  <a:schemeClr val="bg1"/>
                </a:solidFill>
              </a:rPr>
              <a:t> (AA), las máquinas son capaces de identificar patrones de datos, entender conexiones y generar respuestas a partir de estas.</a:t>
            </a:r>
          </a:p>
          <a:p>
            <a:pPr algn="ctr"/>
            <a:endParaRPr lang="es-CO" dirty="0">
              <a:solidFill>
                <a:schemeClr val="bg1"/>
              </a:solidFill>
            </a:endParaRPr>
          </a:p>
        </p:txBody>
      </p:sp>
      <p:sp>
        <p:nvSpPr>
          <p:cNvPr id="18" name="CuadroTexto 17"/>
          <p:cNvSpPr txBox="1"/>
          <p:nvPr/>
        </p:nvSpPr>
        <p:spPr>
          <a:xfrm>
            <a:off x="242586" y="3593248"/>
            <a:ext cx="3846490" cy="307777"/>
          </a:xfrm>
          <a:prstGeom prst="rect">
            <a:avLst/>
          </a:prstGeom>
          <a:noFill/>
        </p:spPr>
        <p:txBody>
          <a:bodyPr wrap="square" rtlCol="0">
            <a:spAutoFit/>
          </a:bodyPr>
          <a:lstStyle/>
          <a:p>
            <a:pPr algn="ctr"/>
            <a:r>
              <a:rPr lang="es-CO" b="1" dirty="0" smtClean="0"/>
              <a:t>APRENDIZAJE SUPERVISADO</a:t>
            </a:r>
            <a:endParaRPr lang="pt-BR" dirty="0"/>
          </a:p>
        </p:txBody>
      </p:sp>
      <p:cxnSp>
        <p:nvCxnSpPr>
          <p:cNvPr id="20" name="Conector recto de flecha 19"/>
          <p:cNvCxnSpPr>
            <a:stCxn id="16" idx="2"/>
          </p:cNvCxnSpPr>
          <p:nvPr/>
        </p:nvCxnSpPr>
        <p:spPr>
          <a:xfrm flipH="1">
            <a:off x="2092964" y="2311329"/>
            <a:ext cx="3998225" cy="110653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recto de flecha 20"/>
          <p:cNvCxnSpPr/>
          <p:nvPr/>
        </p:nvCxnSpPr>
        <p:spPr>
          <a:xfrm>
            <a:off x="6091189" y="2310990"/>
            <a:ext cx="3998223" cy="1087735"/>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Rectángulo redondeado 21"/>
          <p:cNvSpPr/>
          <p:nvPr/>
        </p:nvSpPr>
        <p:spPr>
          <a:xfrm>
            <a:off x="242586" y="3474920"/>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CuadroTexto 23"/>
          <p:cNvSpPr txBox="1"/>
          <p:nvPr/>
        </p:nvSpPr>
        <p:spPr>
          <a:xfrm>
            <a:off x="4167944" y="4699806"/>
            <a:ext cx="3846490" cy="307777"/>
          </a:xfrm>
          <a:prstGeom prst="rect">
            <a:avLst/>
          </a:prstGeom>
          <a:noFill/>
        </p:spPr>
        <p:txBody>
          <a:bodyPr wrap="square" rtlCol="0">
            <a:spAutoFit/>
          </a:bodyPr>
          <a:lstStyle/>
          <a:p>
            <a:pPr algn="ctr"/>
            <a:r>
              <a:rPr lang="es-CO" b="1" dirty="0" smtClean="0"/>
              <a:t>APRENDIZAJE NO SUPERVISADO</a:t>
            </a:r>
            <a:endParaRPr lang="pt-BR" dirty="0"/>
          </a:p>
        </p:txBody>
      </p:sp>
      <p:sp>
        <p:nvSpPr>
          <p:cNvPr id="25" name="Rectángulo redondeado 24"/>
          <p:cNvSpPr/>
          <p:nvPr/>
        </p:nvSpPr>
        <p:spPr>
          <a:xfrm>
            <a:off x="4167944" y="4581478"/>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CuadroTexto 25"/>
          <p:cNvSpPr txBox="1"/>
          <p:nvPr/>
        </p:nvSpPr>
        <p:spPr>
          <a:xfrm>
            <a:off x="8093301" y="3589880"/>
            <a:ext cx="3846490" cy="307777"/>
          </a:xfrm>
          <a:prstGeom prst="rect">
            <a:avLst/>
          </a:prstGeom>
          <a:noFill/>
        </p:spPr>
        <p:txBody>
          <a:bodyPr wrap="square" rtlCol="0">
            <a:spAutoFit/>
          </a:bodyPr>
          <a:lstStyle/>
          <a:p>
            <a:pPr algn="ctr"/>
            <a:r>
              <a:rPr lang="es-CO" b="1" dirty="0" smtClean="0"/>
              <a:t>APRENDIZAJE REFORZADO</a:t>
            </a:r>
            <a:endParaRPr lang="pt-BR" dirty="0"/>
          </a:p>
        </p:txBody>
      </p:sp>
      <p:sp>
        <p:nvSpPr>
          <p:cNvPr id="27" name="Rectángulo redondeado 26"/>
          <p:cNvSpPr/>
          <p:nvPr/>
        </p:nvSpPr>
        <p:spPr>
          <a:xfrm>
            <a:off x="8093301" y="3471552"/>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0" name="Conector recto de flecha 29"/>
          <p:cNvCxnSpPr/>
          <p:nvPr/>
        </p:nvCxnSpPr>
        <p:spPr>
          <a:xfrm flipH="1">
            <a:off x="6091188" y="2291287"/>
            <a:ext cx="6852" cy="223102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001219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053478"/>
            <a:ext cx="5218608" cy="1815882"/>
          </a:xfrm>
          <a:prstGeom prst="rect">
            <a:avLst/>
          </a:prstGeom>
          <a:noFill/>
        </p:spPr>
        <p:txBody>
          <a:bodyPr wrap="square" rtlCol="0">
            <a:spAutoFit/>
          </a:bodyPr>
          <a:lstStyle/>
          <a:p>
            <a:r>
              <a:rPr lang="es-CO" b="1" u="sng" dirty="0" smtClean="0"/>
              <a:t>Aprendizaje no supervisado</a:t>
            </a:r>
            <a:r>
              <a:rPr lang="es-CO" b="1" u="sng" dirty="0" smtClean="0"/>
              <a:t>:</a:t>
            </a:r>
            <a:r>
              <a:rPr lang="es-CO" dirty="0" smtClean="0"/>
              <a:t> </a:t>
            </a:r>
          </a:p>
          <a:p>
            <a:endParaRPr lang="es-CO" dirty="0" smtClean="0"/>
          </a:p>
          <a:p>
            <a:r>
              <a:rPr lang="es-CO" dirty="0" smtClean="0"/>
              <a:t>-&gt;  </a:t>
            </a:r>
            <a:r>
              <a:rPr lang="es-ES" dirty="0" smtClean="0"/>
              <a:t>Es </a:t>
            </a:r>
            <a:r>
              <a:rPr lang="es-ES" dirty="0"/>
              <a:t>un aprendizaje </a:t>
            </a:r>
            <a:r>
              <a:rPr lang="es-ES" dirty="0" smtClean="0"/>
              <a:t>inductivo.</a:t>
            </a:r>
            <a:endParaRPr lang="es-ES" dirty="0"/>
          </a:p>
          <a:p>
            <a:r>
              <a:rPr lang="es-ES" dirty="0" smtClean="0"/>
              <a:t>-&gt;  Parte </a:t>
            </a:r>
            <a:r>
              <a:rPr lang="es-ES" dirty="0"/>
              <a:t>sin conocimiento </a:t>
            </a:r>
            <a:r>
              <a:rPr lang="es-ES" dirty="0" smtClean="0"/>
              <a:t>previo.</a:t>
            </a:r>
            <a:endParaRPr lang="es-ES" dirty="0"/>
          </a:p>
          <a:p>
            <a:r>
              <a:rPr lang="es-ES" dirty="0" smtClean="0"/>
              <a:t>-&gt;  Es </a:t>
            </a:r>
            <a:r>
              <a:rPr lang="es-ES" dirty="0"/>
              <a:t>capaz de manejar datos más </a:t>
            </a:r>
            <a:r>
              <a:rPr lang="es-ES" dirty="0" smtClean="0"/>
              <a:t>complejos.</a:t>
            </a:r>
            <a:endParaRPr lang="es-ES" dirty="0"/>
          </a:p>
          <a:p>
            <a:r>
              <a:rPr lang="es-ES" dirty="0" smtClean="0"/>
              <a:t>-&gt;  Su </a:t>
            </a:r>
            <a:r>
              <a:rPr lang="es-ES" dirty="0"/>
              <a:t>objetivo es hallar una función que a partir de un dominio de entrada defina un dominio de </a:t>
            </a:r>
            <a:r>
              <a:rPr lang="es-ES" dirty="0" smtClean="0"/>
              <a:t>salida.</a:t>
            </a:r>
            <a:endParaRPr lang="es-CO" dirty="0"/>
          </a:p>
          <a:p>
            <a:pPr algn="just"/>
            <a:endParaRPr lang="es-CO" dirty="0"/>
          </a:p>
        </p:txBody>
      </p:sp>
      <p:sp>
        <p:nvSpPr>
          <p:cNvPr id="7" name="CuadroTexto 6"/>
          <p:cNvSpPr txBox="1"/>
          <p:nvPr/>
        </p:nvSpPr>
        <p:spPr>
          <a:xfrm>
            <a:off x="365843" y="1053478"/>
            <a:ext cx="5093394" cy="4401205"/>
          </a:xfrm>
          <a:prstGeom prst="rect">
            <a:avLst/>
          </a:prstGeom>
          <a:noFill/>
        </p:spPr>
        <p:txBody>
          <a:bodyPr wrap="square" rtlCol="0">
            <a:spAutoFit/>
          </a:bodyPr>
          <a:lstStyle/>
          <a:p>
            <a:r>
              <a:rPr lang="es-CO" b="1" u="sng" dirty="0" smtClean="0"/>
              <a:t>Aprendizaje supervisado:</a:t>
            </a:r>
            <a:r>
              <a:rPr lang="es-CO" b="1" dirty="0" smtClean="0"/>
              <a:t> </a:t>
            </a:r>
          </a:p>
          <a:p>
            <a:endParaRPr lang="es-CO" b="1" dirty="0"/>
          </a:p>
          <a:p>
            <a:r>
              <a:rPr lang="es-CO" dirty="0" smtClean="0"/>
              <a:t>-&gt;</a:t>
            </a:r>
            <a:r>
              <a:rPr lang="es-CO" b="1" dirty="0" smtClean="0"/>
              <a:t>  </a:t>
            </a:r>
            <a:r>
              <a:rPr lang="es-ES" dirty="0" smtClean="0"/>
              <a:t>Es </a:t>
            </a:r>
            <a:r>
              <a:rPr lang="es-ES" dirty="0"/>
              <a:t>un aprendizaje </a:t>
            </a:r>
            <a:r>
              <a:rPr lang="es-ES" dirty="0" smtClean="0"/>
              <a:t>deductivo.</a:t>
            </a:r>
            <a:endParaRPr lang="es-ES" dirty="0"/>
          </a:p>
          <a:p>
            <a:r>
              <a:rPr lang="es-ES" dirty="0" smtClean="0"/>
              <a:t>-&gt; Parte </a:t>
            </a:r>
            <a:r>
              <a:rPr lang="es-ES" dirty="0"/>
              <a:t>de conocimiento previo, es decir de situaciones y  </a:t>
            </a:r>
            <a:r>
              <a:rPr lang="es-ES" dirty="0" smtClean="0"/>
              <a:t>              respuestas </a:t>
            </a:r>
            <a:r>
              <a:rPr lang="es-ES" dirty="0"/>
              <a:t>ya </a:t>
            </a:r>
            <a:r>
              <a:rPr lang="es-ES" dirty="0" smtClean="0"/>
              <a:t>conocidas.</a:t>
            </a:r>
          </a:p>
          <a:p>
            <a:endParaRPr lang="es-ES" dirty="0"/>
          </a:p>
          <a:p>
            <a:r>
              <a:rPr lang="es-ES" dirty="0" smtClean="0"/>
              <a:t>-&gt; </a:t>
            </a:r>
            <a:r>
              <a:rPr lang="es-ES" b="1" dirty="0" smtClean="0"/>
              <a:t>Tipos: </a:t>
            </a:r>
          </a:p>
          <a:p>
            <a:r>
              <a:rPr lang="es-ES" b="1" dirty="0" smtClean="0"/>
              <a:t>	</a:t>
            </a:r>
            <a:r>
              <a:rPr lang="es-ES" i="1" dirty="0" smtClean="0"/>
              <a:t>REGRESIÓN</a:t>
            </a:r>
            <a:r>
              <a:rPr lang="es-ES" i="1" dirty="0"/>
              <a:t>:</a:t>
            </a:r>
          </a:p>
          <a:p>
            <a:r>
              <a:rPr lang="es-CO" dirty="0" smtClean="0"/>
              <a:t>	Responde </a:t>
            </a:r>
            <a:r>
              <a:rPr lang="es-CO" dirty="0"/>
              <a:t>a preguntas de “</a:t>
            </a:r>
            <a:r>
              <a:rPr lang="es-CO" b="1" dirty="0"/>
              <a:t>cuánto</a:t>
            </a:r>
            <a:r>
              <a:rPr lang="es-CO" dirty="0"/>
              <a:t>” o que </a:t>
            </a:r>
            <a:r>
              <a:rPr lang="es-CO" dirty="0" smtClean="0"/>
              <a:t>	devuelve </a:t>
            </a:r>
            <a:r>
              <a:rPr lang="es-CO" dirty="0"/>
              <a:t>datos más puntuales ante diferentes </a:t>
            </a:r>
            <a:r>
              <a:rPr lang="es-CO" dirty="0" smtClean="0"/>
              <a:t>	situaciones.</a:t>
            </a:r>
          </a:p>
          <a:p>
            <a:endParaRPr lang="es-CO" dirty="0" smtClean="0"/>
          </a:p>
          <a:p>
            <a:endParaRPr lang="es-CO" dirty="0"/>
          </a:p>
          <a:p>
            <a:endParaRPr lang="es-CO" dirty="0" smtClean="0"/>
          </a:p>
          <a:p>
            <a:endParaRPr lang="es-CO" dirty="0"/>
          </a:p>
          <a:p>
            <a:r>
              <a:rPr lang="es-CO" dirty="0" smtClean="0"/>
              <a:t>	</a:t>
            </a:r>
            <a:r>
              <a:rPr lang="es-ES" i="1" dirty="0"/>
              <a:t>CLASIFICACIÓN:</a:t>
            </a:r>
          </a:p>
          <a:p>
            <a:r>
              <a:rPr lang="es-CO" dirty="0" smtClean="0"/>
              <a:t>	Responde </a:t>
            </a:r>
            <a:r>
              <a:rPr lang="es-CO" dirty="0"/>
              <a:t>a preguntas de “</a:t>
            </a:r>
            <a:r>
              <a:rPr lang="es-CO" b="1" dirty="0"/>
              <a:t>sí o no</a:t>
            </a:r>
            <a:r>
              <a:rPr lang="es-CO" dirty="0"/>
              <a:t>” o que agrupa </a:t>
            </a:r>
            <a:r>
              <a:rPr lang="es-CO" dirty="0" smtClean="0"/>
              <a:t>	en </a:t>
            </a:r>
            <a:r>
              <a:rPr lang="es-CO" dirty="0"/>
              <a:t>clases particulares</a:t>
            </a:r>
          </a:p>
          <a:p>
            <a:endParaRPr lang="es-CO" dirty="0"/>
          </a:p>
          <a:p>
            <a:endParaRPr lang="es-CO" b="1"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Tipos de machine  </a:t>
            </a:r>
            <a:r>
              <a:rPr lang="es-CO" sz="2200" b="1" dirty="0" err="1">
                <a:solidFill>
                  <a:srgbClr val="FFFFFF"/>
                </a:solidFill>
              </a:rPr>
              <a:t>l</a:t>
            </a:r>
            <a:r>
              <a:rPr lang="es-CO" sz="2200" b="1" dirty="0" err="1" smtClean="0">
                <a:solidFill>
                  <a:srgbClr val="FFFFFF"/>
                </a:solidFill>
              </a:rPr>
              <a:t>earning</a:t>
            </a:r>
            <a:endParaRPr lang="es-CO" sz="2200" b="0" i="0" u="none" strike="noStrike" cap="none" dirty="0">
              <a:solidFill>
                <a:srgbClr val="000000"/>
              </a:solidFill>
              <a:latin typeface="Arial"/>
              <a:ea typeface="Arial"/>
              <a:cs typeface="Arial"/>
              <a:sym typeface="Arial"/>
            </a:endParaRPr>
          </a:p>
        </p:txBody>
      </p:sp>
      <p:cxnSp>
        <p:nvCxnSpPr>
          <p:cNvPr id="11" name="Conector recto 10"/>
          <p:cNvCxnSpPr/>
          <p:nvPr/>
        </p:nvCxnSpPr>
        <p:spPr>
          <a:xfrm>
            <a:off x="6098040" y="1181212"/>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
        <p:nvSpPr>
          <p:cNvPr id="12" name="CuadroTexto 11"/>
          <p:cNvSpPr txBox="1"/>
          <p:nvPr/>
        </p:nvSpPr>
        <p:spPr>
          <a:xfrm>
            <a:off x="6446919" y="3409302"/>
            <a:ext cx="5218608" cy="1384995"/>
          </a:xfrm>
          <a:prstGeom prst="rect">
            <a:avLst/>
          </a:prstGeom>
          <a:noFill/>
        </p:spPr>
        <p:txBody>
          <a:bodyPr wrap="square" rtlCol="0">
            <a:spAutoFit/>
          </a:bodyPr>
          <a:lstStyle/>
          <a:p>
            <a:r>
              <a:rPr lang="es-CO" b="1" u="sng" dirty="0" smtClean="0"/>
              <a:t>Aprendizaje reforzado</a:t>
            </a:r>
            <a:r>
              <a:rPr lang="es-CO" b="1" u="sng" dirty="0" smtClean="0"/>
              <a:t>:</a:t>
            </a:r>
            <a:r>
              <a:rPr lang="es-CO" dirty="0" smtClean="0"/>
              <a:t> </a:t>
            </a:r>
          </a:p>
          <a:p>
            <a:endParaRPr lang="es-CO" dirty="0" smtClean="0"/>
          </a:p>
          <a:p>
            <a:r>
              <a:rPr lang="es-CO" dirty="0" smtClean="0"/>
              <a:t>-&gt; </a:t>
            </a:r>
            <a:r>
              <a:rPr lang="es-ES" dirty="0" smtClean="0"/>
              <a:t>Se </a:t>
            </a:r>
            <a:r>
              <a:rPr lang="es-ES" dirty="0"/>
              <a:t>entiende como un proceso de “enseñanza” mediante </a:t>
            </a:r>
            <a:r>
              <a:rPr lang="es-ES" dirty="0" smtClean="0"/>
              <a:t>estímulos(recompensas </a:t>
            </a:r>
            <a:r>
              <a:rPr lang="es-ES" dirty="0"/>
              <a:t>y castigos otorgados por el entorno</a:t>
            </a:r>
            <a:r>
              <a:rPr lang="es-ES" dirty="0" smtClean="0"/>
              <a:t>).</a:t>
            </a:r>
            <a:endParaRPr lang="es-ES" dirty="0"/>
          </a:p>
          <a:p>
            <a:r>
              <a:rPr lang="es-ES" dirty="0" smtClean="0"/>
              <a:t>-&gt; Se </a:t>
            </a:r>
            <a:r>
              <a:rPr lang="es-ES" dirty="0"/>
              <a:t>genera mediante pruebas de ensayo y </a:t>
            </a:r>
            <a:r>
              <a:rPr lang="es-ES" dirty="0" smtClean="0"/>
              <a:t>error.</a:t>
            </a:r>
            <a:endParaRPr lang="es-CO" dirty="0"/>
          </a:p>
          <a:p>
            <a:endParaRPr lang="es-CO" dirty="0"/>
          </a:p>
        </p:txBody>
      </p:sp>
      <p:pic>
        <p:nvPicPr>
          <p:cNvPr id="15" name="Picture 2" descr="Regression vs Classification in Machine Learning - Javatpoint">
            <a:extLst>
              <a:ext uri="{FF2B5EF4-FFF2-40B4-BE49-F238E27FC236}">
                <a16:creationId xmlns:a16="http://schemas.microsoft.com/office/drawing/2014/main" id="{516B3BE5-8DA6-4595-8B25-9AF9EDAE7E7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48751" b="15545"/>
          <a:stretch/>
        </p:blipFill>
        <p:spPr bwMode="auto">
          <a:xfrm>
            <a:off x="3201382" y="3293970"/>
            <a:ext cx="1250404" cy="114735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4" descr="Regression vs Classification in Machine Learning - Javatpoint">
            <a:extLst>
              <a:ext uri="{FF2B5EF4-FFF2-40B4-BE49-F238E27FC236}">
                <a16:creationId xmlns:a16="http://schemas.microsoft.com/office/drawing/2014/main" id="{0B63D918-3439-4032-9200-5AF397B458B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50000" b="13918"/>
          <a:stretch/>
        </p:blipFill>
        <p:spPr bwMode="auto">
          <a:xfrm>
            <a:off x="3587963" y="4794297"/>
            <a:ext cx="1202268" cy="115250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Eight ways machine learning is assisting medicine | Nature Medic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740003" y="2452306"/>
            <a:ext cx="1925524" cy="12763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prendizaje por Refuerzo | Aprende Machine Learning"/>
          <p:cNvPicPr>
            <a:picLocks noChangeAspect="1" noChangeArrowheads="1"/>
          </p:cNvPicPr>
          <p:nvPr/>
        </p:nvPicPr>
        <p:blipFill rotWithShape="1">
          <a:blip r:embed="rId8">
            <a:extLst>
              <a:ext uri="{28A0092B-C50C-407E-A947-70E740481C1C}">
                <a14:useLocalDpi xmlns:a14="http://schemas.microsoft.com/office/drawing/2010/main" val="0"/>
              </a:ext>
            </a:extLst>
          </a:blip>
          <a:srcRect t="8219" b="16100"/>
          <a:stretch/>
        </p:blipFill>
        <p:spPr bwMode="auto">
          <a:xfrm>
            <a:off x="8080644" y="4573133"/>
            <a:ext cx="2130156" cy="13514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45873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16" name="Google Shape;216;p2"/>
          <p:cNvPicPr preferRelativeResize="0"/>
          <p:nvPr/>
        </p:nvPicPr>
        <p:blipFill rotWithShape="1">
          <a:blip r:embed="rId3">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4">
                  <a:extLst>
                    <a:ext uri="{A12FA001-AC4F-418D-AE19-62706E023703}">
                      <ahyp:hlinkClr xmlns:ahyp="http://schemas.microsoft.com/office/drawing/2018/hyperlinkcolor" xmlns=""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38554"/>
          </a:xfrm>
          <a:prstGeom prst="rect">
            <a:avLst/>
          </a:prstGeom>
          <a:noFill/>
        </p:spPr>
        <p:txBody>
          <a:bodyPr wrap="square" rtlCol="0">
            <a:spAutoFit/>
          </a:bodyPr>
          <a:lstStyle/>
          <a:p>
            <a:r>
              <a:rPr lang="es-ES" sz="1600" b="0" i="0" dirty="0">
                <a:solidFill>
                  <a:srgbClr val="202122"/>
                </a:solidFill>
                <a:effectLst/>
                <a:latin typeface="Arial" panose="020B0604020202020204" pitchFamily="34" charset="0"/>
              </a:rPr>
              <a:t> </a:t>
            </a:r>
            <a:r>
              <a:rPr lang="es-ES" sz="1600" b="1" i="0" dirty="0">
                <a:solidFill>
                  <a:srgbClr val="202122"/>
                </a:solidFill>
                <a:effectLst/>
                <a:latin typeface="Arial" panose="020B0604020202020204" pitchFamily="34" charset="0"/>
              </a:rPr>
              <a:t>Como se aplica las redes neuronales para el reconocimiento de imágenes</a:t>
            </a:r>
            <a:endParaRPr lang="es-CO" sz="1600" b="1" dirty="0"/>
          </a:p>
        </p:txBody>
      </p:sp>
      <p:sp>
        <p:nvSpPr>
          <p:cNvPr id="3" name="CuadroTexto 2">
            <a:extLst>
              <a:ext uri="{FF2B5EF4-FFF2-40B4-BE49-F238E27FC236}">
                <a16:creationId xmlns:a16="http://schemas.microsoft.com/office/drawing/2014/main" id="{D1B12756-2313-4E80-B84F-9DA1D75C8203}"/>
              </a:ext>
            </a:extLst>
          </p:cNvPr>
          <p:cNvSpPr txBox="1"/>
          <p:nvPr/>
        </p:nvSpPr>
        <p:spPr>
          <a:xfrm>
            <a:off x="1389914" y="2077213"/>
            <a:ext cx="10650129" cy="954107"/>
          </a:xfrm>
          <a:prstGeom prst="rect">
            <a:avLst/>
          </a:prstGeom>
          <a:noFill/>
        </p:spPr>
        <p:txBody>
          <a:bodyPr wrap="square" rtlCol="0">
            <a:spAutoFit/>
          </a:bodyPr>
          <a:lstStyle/>
          <a:p>
            <a:r>
              <a:rPr lang="es-CO" dirty="0">
                <a:hlinkClick r:id="rId5"/>
              </a:rPr>
              <a:t>https://www.youtube.com/watch?v=jKCQsndqEGQ&amp;ab_channel=3Blue1BrownEspa%C3%B1ol</a:t>
            </a:r>
            <a:r>
              <a:rPr lang="es-CO" dirty="0"/>
              <a:t>  minuto 1 al  12</a:t>
            </a:r>
          </a:p>
          <a:p>
            <a:endParaRPr lang="es-CO" dirty="0"/>
          </a:p>
          <a:p>
            <a:r>
              <a:rPr lang="es-CO" dirty="0"/>
              <a:t>https://www.youtube.com/watch?v=AwTH_0yW9_I&amp;ab_channel=RingaTech</a:t>
            </a:r>
          </a:p>
          <a:p>
            <a:endParaRPr lang="es-CO" dirty="0"/>
          </a:p>
        </p:txBody>
      </p:sp>
      <p:pic>
        <p:nvPicPr>
          <p:cNvPr id="9" name="Google Shape;199;p2"/>
          <p:cNvPicPr preferRelativeResize="0"/>
          <p:nvPr/>
        </p:nvPicPr>
        <p:blipFill rotWithShape="1">
          <a:blip r:embed="rId6">
            <a:alphaModFix/>
          </a:blip>
          <a:srcRect/>
          <a:stretch/>
        </p:blipFill>
        <p:spPr>
          <a:xfrm>
            <a:off x="0" y="1938"/>
            <a:ext cx="12196080" cy="6855840"/>
          </a:xfrm>
          <a:prstGeom prst="rect">
            <a:avLst/>
          </a:prstGeom>
          <a:noFill/>
          <a:ln>
            <a:noFill/>
          </a:ln>
        </p:spPr>
      </p:pic>
    </p:spTree>
    <p:extLst>
      <p:ext uri="{BB962C8B-B14F-4D97-AF65-F5344CB8AC3E}">
        <p14:creationId xmlns:p14="http://schemas.microsoft.com/office/powerpoint/2010/main" val="164551773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9289"/>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ahyp="http://schemas.microsoft.com/office/drawing/2018/hyperlinkcolor" xmlns=""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3" name="CuadroTexto 2">
            <a:extLst>
              <a:ext uri="{FF2B5EF4-FFF2-40B4-BE49-F238E27FC236}">
                <a16:creationId xmlns:a16="http://schemas.microsoft.com/office/drawing/2014/main" id="{6DF9A96A-40B7-4490-BDEF-44F0716AFCA8}"/>
              </a:ext>
            </a:extLst>
          </p:cNvPr>
          <p:cNvSpPr txBox="1"/>
          <p:nvPr/>
        </p:nvSpPr>
        <p:spPr>
          <a:xfrm>
            <a:off x="618978" y="1390989"/>
            <a:ext cx="11127545" cy="1600438"/>
          </a:xfrm>
          <a:prstGeom prst="rect">
            <a:avLst/>
          </a:prstGeom>
          <a:noFill/>
        </p:spPr>
        <p:txBody>
          <a:bodyPr wrap="square" rtlCol="0">
            <a:spAutoFit/>
          </a:bodyPr>
          <a:lstStyle/>
          <a:p>
            <a:r>
              <a:rPr lang="es-ES" dirty="0"/>
              <a:t>Que son conjuntos(set)  de entrenamiento, validación y prueba </a:t>
            </a:r>
          </a:p>
          <a:p>
            <a:endParaRPr lang="es-ES" dirty="0"/>
          </a:p>
          <a:p>
            <a:endParaRPr lang="es-ES" dirty="0"/>
          </a:p>
          <a:p>
            <a:endParaRPr lang="es-ES" dirty="0"/>
          </a:p>
          <a:p>
            <a:r>
              <a:rPr lang="es-CO" dirty="0">
                <a:hlinkClick r:id="rId6"/>
              </a:rPr>
              <a:t>https://www.youtube.com/watch?v=Bzhuxk8ErdI&amp;ab_channel=PsyFun</a:t>
            </a:r>
            <a:endParaRPr lang="es-CO" dirty="0"/>
          </a:p>
          <a:p>
            <a:endParaRPr lang="es-CO" dirty="0"/>
          </a:p>
          <a:p>
            <a:r>
              <a:rPr lang="es-CO" dirty="0"/>
              <a:t>https://www.youtube.com/watch?v=778Pa63FS78&amp;ab_channel=Feregrino%E2%80%93ThatC%23guy</a:t>
            </a:r>
          </a:p>
        </p:txBody>
      </p:sp>
    </p:spTree>
    <p:extLst>
      <p:ext uri="{BB962C8B-B14F-4D97-AF65-F5344CB8AC3E}">
        <p14:creationId xmlns:p14="http://schemas.microsoft.com/office/powerpoint/2010/main" val="5501144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069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ahyp="http://schemas.microsoft.com/office/drawing/2018/hyperlinkcolor" xmlns=""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4" name="CuadroTexto 3">
            <a:extLst>
              <a:ext uri="{FF2B5EF4-FFF2-40B4-BE49-F238E27FC236}">
                <a16:creationId xmlns:a16="http://schemas.microsoft.com/office/drawing/2014/main" id="{A2D86EE8-BF55-4F35-A8B5-69743B8E6095}"/>
              </a:ext>
            </a:extLst>
          </p:cNvPr>
          <p:cNvSpPr txBox="1"/>
          <p:nvPr/>
        </p:nvSpPr>
        <p:spPr>
          <a:xfrm>
            <a:off x="803880" y="1571348"/>
            <a:ext cx="10630559" cy="1815882"/>
          </a:xfrm>
          <a:prstGeom prst="rect">
            <a:avLst/>
          </a:prstGeom>
          <a:noFill/>
        </p:spPr>
        <p:txBody>
          <a:bodyPr wrap="square" rtlCol="0">
            <a:spAutoFit/>
          </a:bodyPr>
          <a:lstStyle/>
          <a:p>
            <a:endParaRPr lang="es-ES" dirty="0"/>
          </a:p>
          <a:p>
            <a:r>
              <a:rPr lang="es-ES" dirty="0"/>
              <a:t>Especifique los pasos</a:t>
            </a:r>
          </a:p>
          <a:p>
            <a:r>
              <a:rPr lang="es-ES" dirty="0"/>
              <a:t>Para abrir un archivo en </a:t>
            </a:r>
            <a:r>
              <a:rPr lang="es-ES" dirty="0" err="1"/>
              <a:t>cvs</a:t>
            </a:r>
            <a:r>
              <a:rPr lang="es-ES" dirty="0"/>
              <a:t> con datos de imágenes y convertirlo en matriz</a:t>
            </a:r>
          </a:p>
          <a:p>
            <a:r>
              <a:rPr lang="es-ES" dirty="0"/>
              <a:t>Intente con </a:t>
            </a:r>
            <a:r>
              <a:rPr lang="es-ES" dirty="0" err="1"/>
              <a:t>almenos</a:t>
            </a:r>
            <a:r>
              <a:rPr lang="es-ES" dirty="0"/>
              <a:t> un archivo de cada una de las carpetas</a:t>
            </a:r>
          </a:p>
          <a:p>
            <a:r>
              <a:rPr lang="es-CO" dirty="0">
                <a:hlinkClick r:id="rId6"/>
              </a:rPr>
              <a:t>ST0245-Eafit/proyecto/</a:t>
            </a:r>
            <a:r>
              <a:rPr lang="es-CO" dirty="0" err="1">
                <a:hlinkClick r:id="rId6"/>
              </a:rPr>
              <a:t>datasets</a:t>
            </a:r>
            <a:r>
              <a:rPr lang="es-CO" dirty="0">
                <a:hlinkClick r:id="rId6"/>
              </a:rPr>
              <a:t>/</a:t>
            </a:r>
            <a:r>
              <a:rPr lang="es-CO" dirty="0" err="1">
                <a:hlinkClick r:id="rId6"/>
              </a:rPr>
              <a:t>csv</a:t>
            </a:r>
            <a:r>
              <a:rPr lang="es-CO" dirty="0">
                <a:hlinkClick r:id="rId6"/>
              </a:rPr>
              <a:t>/</a:t>
            </a:r>
            <a:r>
              <a:rPr lang="es-CO" dirty="0" err="1">
                <a:hlinkClick r:id="rId6"/>
              </a:rPr>
              <a:t>paraEntrenarYProbarLaIA</a:t>
            </a:r>
            <a:r>
              <a:rPr lang="es-CO" dirty="0">
                <a:hlinkClick r:id="rId6"/>
              </a:rPr>
              <a:t> at master · </a:t>
            </a:r>
            <a:r>
              <a:rPr lang="es-CO" dirty="0" err="1">
                <a:hlinkClick r:id="rId6"/>
              </a:rPr>
              <a:t>mauriciotoro</a:t>
            </a:r>
            <a:r>
              <a:rPr lang="es-CO" dirty="0">
                <a:hlinkClick r:id="rId6"/>
              </a:rPr>
              <a:t>/ST0245-Eafit (github.com)</a:t>
            </a:r>
            <a:endParaRPr lang="es-ES" dirty="0"/>
          </a:p>
          <a:p>
            <a:endParaRPr lang="es-ES" dirty="0"/>
          </a:p>
          <a:p>
            <a:endParaRPr lang="es-ES" dirty="0"/>
          </a:p>
          <a:p>
            <a:endParaRPr lang="es-CO" dirty="0"/>
          </a:p>
        </p:txBody>
      </p:sp>
    </p:spTree>
    <p:extLst>
      <p:ext uri="{BB962C8B-B14F-4D97-AF65-F5344CB8AC3E}">
        <p14:creationId xmlns:p14="http://schemas.microsoft.com/office/powerpoint/2010/main" val="200808834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616</TotalTime>
  <Words>809</Words>
  <Application>Microsoft Office PowerPoint</Application>
  <PresentationFormat>Panorámica</PresentationFormat>
  <Paragraphs>92</Paragraphs>
  <Slides>11</Slides>
  <Notes>11</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11</vt:i4>
      </vt:variant>
    </vt:vector>
  </HeadingPairs>
  <TitlesOfParts>
    <vt:vector size="16"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Usuario de Windows</cp:lastModifiedBy>
  <cp:revision>33</cp:revision>
  <dcterms:created xsi:type="dcterms:W3CDTF">2020-06-26T14:36:07Z</dcterms:created>
  <dcterms:modified xsi:type="dcterms:W3CDTF">2021-11-19T16:55:38Z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