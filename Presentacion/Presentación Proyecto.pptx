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 id="2147483661" r:id="rId2"/>
  </p:sldMasterIdLst>
  <p:notesMasterIdLst>
    <p:notesMasterId r:id="rId9"/>
  </p:notesMasterIdLst>
  <p:sldIdLst>
    <p:sldId id="256" r:id="rId3"/>
    <p:sldId id="257" r:id="rId4"/>
    <p:sldId id="258" r:id="rId5"/>
    <p:sldId id="259" r:id="rId6"/>
    <p:sldId id="260" r:id="rId7"/>
    <p:sldId id="261" r:id="rId8"/>
  </p:sldIdLst>
  <p:sldSz cx="12192000" cy="6858000"/>
  <p:notesSz cx="7772400" cy="10058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1" roundtripDataSignature="AMtx7mjHzTg+goWcQk8fO5It0l+0ng5KH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C289BA7-0477-4DA3-BF64-564EF7BB6FF7}">
  <a:tblStyle styleId="{AC289BA7-0477-4DA3-BF64-564EF7BB6FF7}"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9" d="100"/>
          <a:sy n="69" d="100"/>
        </p:scale>
        <p:origin x="756"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3" Type="http://schemas.openxmlformats.org/officeDocument/2006/relationships/slide" Target="slides/slide1.xml"/><Relationship Id="rId21" Type="http://customschemas.google.com/relationships/presentationmetadata" Target="metadata"/><Relationship Id="rId7" Type="http://schemas.openxmlformats.org/officeDocument/2006/relationships/slide" Target="slides/slide5.xml"/><Relationship Id="rId25" Type="http://schemas.openxmlformats.org/officeDocument/2006/relationships/tableStyles" Target="tableStyle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24" Type="http://schemas.openxmlformats.org/officeDocument/2006/relationships/theme" Target="theme/theme1.xml"/><Relationship Id="rId5" Type="http://schemas.openxmlformats.org/officeDocument/2006/relationships/slide" Target="slides/slide3.xml"/><Relationship Id="rId23"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notesMaster" Target="notesMasters/notesMaster1.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95650" y="754375"/>
            <a:ext cx="518185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p1: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87" name="Google Shape;187;p1: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59115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537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179021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2:notes"/>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7" name="Google Shape;197;p2:notes"/>
          <p:cNvSpPr>
            <a:spLocks noGrp="1" noRot="1" noChangeAspect="1"/>
          </p:cNvSpPr>
          <p:nvPr>
            <p:ph type="sldImg" idx="2"/>
          </p:nvPr>
        </p:nvSpPr>
        <p:spPr>
          <a:xfrm>
            <a:off x="533400" y="754063"/>
            <a:ext cx="6705600" cy="3771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728786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11"/>
        <p:cNvGrpSpPr/>
        <p:nvPr/>
      </p:nvGrpSpPr>
      <p:grpSpPr>
        <a:xfrm>
          <a:off x="0" y="0"/>
          <a:ext cx="0" cy="0"/>
          <a:chOff x="0" y="0"/>
          <a:chExt cx="0" cy="0"/>
        </a:xfrm>
      </p:grpSpPr>
      <p:sp>
        <p:nvSpPr>
          <p:cNvPr id="12" name="Google Shape;12;p14"/>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14"/>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4"/>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5"/>
        <p:cNvGrpSpPr/>
        <p:nvPr/>
      </p:nvGrpSpPr>
      <p:grpSpPr>
        <a:xfrm>
          <a:off x="0" y="0"/>
          <a:ext cx="0" cy="0"/>
          <a:chOff x="0" y="0"/>
          <a:chExt cx="0" cy="0"/>
        </a:xfrm>
      </p:grpSpPr>
      <p:sp>
        <p:nvSpPr>
          <p:cNvPr id="16" name="Google Shape;16;p42"/>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42"/>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8"/>
        <p:cNvGrpSpPr/>
        <p:nvPr/>
      </p:nvGrpSpPr>
      <p:grpSpPr>
        <a:xfrm>
          <a:off x="0" y="0"/>
          <a:ext cx="0" cy="0"/>
          <a:chOff x="0" y="0"/>
          <a:chExt cx="0" cy="0"/>
        </a:xfrm>
      </p:grpSpPr>
      <p:sp>
        <p:nvSpPr>
          <p:cNvPr id="19" name="Google Shape;19;p43"/>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43"/>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1" name="Google Shape;21;p43"/>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2"/>
        <p:cNvGrpSpPr/>
        <p:nvPr/>
      </p:nvGrpSpPr>
      <p:grpSpPr>
        <a:xfrm>
          <a:off x="0" y="0"/>
          <a:ext cx="0" cy="0"/>
          <a:chOff x="0" y="0"/>
          <a:chExt cx="0" cy="0"/>
        </a:xfrm>
      </p:grpSpPr>
      <p:sp>
        <p:nvSpPr>
          <p:cNvPr id="23" name="Google Shape;23;p44"/>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24"/>
        <p:cNvGrpSpPr/>
        <p:nvPr/>
      </p:nvGrpSpPr>
      <p:grpSpPr>
        <a:xfrm>
          <a:off x="0" y="0"/>
          <a:ext cx="0" cy="0"/>
          <a:chOff x="0" y="0"/>
          <a:chExt cx="0" cy="0"/>
        </a:xfrm>
      </p:grpSpPr>
      <p:sp>
        <p:nvSpPr>
          <p:cNvPr id="25" name="Google Shape;25;p45"/>
          <p:cNvSpPr txBox="1">
            <a:spLocks noGrp="1"/>
          </p:cNvSpPr>
          <p:nvPr>
            <p:ph type="subTitle" idx="1"/>
          </p:nvPr>
        </p:nvSpPr>
        <p:spPr>
          <a:xfrm>
            <a:off x="1523880" y="1122480"/>
            <a:ext cx="9143640" cy="110667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26"/>
        <p:cNvGrpSpPr/>
        <p:nvPr/>
      </p:nvGrpSpPr>
      <p:grpSpPr>
        <a:xfrm>
          <a:off x="0" y="0"/>
          <a:ext cx="0" cy="0"/>
          <a:chOff x="0" y="0"/>
          <a:chExt cx="0" cy="0"/>
        </a:xfrm>
      </p:grpSpPr>
      <p:sp>
        <p:nvSpPr>
          <p:cNvPr id="27" name="Google Shape;27;p46"/>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46"/>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29" name="Google Shape;29;p46"/>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0" name="Google Shape;30;p46"/>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31"/>
        <p:cNvGrpSpPr/>
        <p:nvPr/>
      </p:nvGrpSpPr>
      <p:grpSpPr>
        <a:xfrm>
          <a:off x="0" y="0"/>
          <a:ext cx="0" cy="0"/>
          <a:chOff x="0" y="0"/>
          <a:chExt cx="0" cy="0"/>
        </a:xfrm>
      </p:grpSpPr>
      <p:sp>
        <p:nvSpPr>
          <p:cNvPr id="32" name="Google Shape;32;p47"/>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47"/>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4" name="Google Shape;34;p47"/>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5" name="Google Shape;35;p47"/>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36"/>
        <p:cNvGrpSpPr/>
        <p:nvPr/>
      </p:nvGrpSpPr>
      <p:grpSpPr>
        <a:xfrm>
          <a:off x="0" y="0"/>
          <a:ext cx="0" cy="0"/>
          <a:chOff x="0" y="0"/>
          <a:chExt cx="0" cy="0"/>
        </a:xfrm>
      </p:grpSpPr>
      <p:sp>
        <p:nvSpPr>
          <p:cNvPr id="37" name="Google Shape;37;p48"/>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48"/>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39" name="Google Shape;39;p48"/>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0" name="Google Shape;40;p48"/>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41"/>
        <p:cNvGrpSpPr/>
        <p:nvPr/>
      </p:nvGrpSpPr>
      <p:grpSpPr>
        <a:xfrm>
          <a:off x="0" y="0"/>
          <a:ext cx="0" cy="0"/>
          <a:chOff x="0" y="0"/>
          <a:chExt cx="0" cy="0"/>
        </a:xfrm>
      </p:grpSpPr>
      <p:sp>
        <p:nvSpPr>
          <p:cNvPr id="42" name="Google Shape;42;p49"/>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49"/>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4" name="Google Shape;44;p49"/>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45"/>
        <p:cNvGrpSpPr/>
        <p:nvPr/>
      </p:nvGrpSpPr>
      <p:grpSpPr>
        <a:xfrm>
          <a:off x="0" y="0"/>
          <a:ext cx="0" cy="0"/>
          <a:chOff x="0" y="0"/>
          <a:chExt cx="0" cy="0"/>
        </a:xfrm>
      </p:grpSpPr>
      <p:sp>
        <p:nvSpPr>
          <p:cNvPr id="46" name="Google Shape;46;p50"/>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50"/>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8" name="Google Shape;48;p50"/>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49" name="Google Shape;49;p50"/>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0" name="Google Shape;50;p50"/>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51"/>
        <p:cNvGrpSpPr/>
        <p:nvPr/>
      </p:nvGrpSpPr>
      <p:grpSpPr>
        <a:xfrm>
          <a:off x="0" y="0"/>
          <a:ext cx="0" cy="0"/>
          <a:chOff x="0" y="0"/>
          <a:chExt cx="0" cy="0"/>
        </a:xfrm>
      </p:grpSpPr>
      <p:sp>
        <p:nvSpPr>
          <p:cNvPr id="52" name="Google Shape;52;p51"/>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51"/>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4" name="Google Shape;54;p51"/>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5" name="Google Shape;55;p51"/>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6" name="Google Shape;56;p51"/>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7" name="Google Shape;57;p51"/>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58" name="Google Shape;58;p51"/>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62"/>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63"/>
        <p:cNvGrpSpPr/>
        <p:nvPr/>
      </p:nvGrpSpPr>
      <p:grpSpPr>
        <a:xfrm>
          <a:off x="0" y="0"/>
          <a:ext cx="0" cy="0"/>
          <a:chOff x="0" y="0"/>
          <a:chExt cx="0" cy="0"/>
        </a:xfrm>
      </p:grpSpPr>
      <p:sp>
        <p:nvSpPr>
          <p:cNvPr id="64" name="Google Shape;64;p30"/>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30"/>
          <p:cNvSpPr txBox="1">
            <a:spLocks noGrp="1"/>
          </p:cNvSpPr>
          <p:nvPr>
            <p:ph type="subTitle" idx="1"/>
          </p:nvPr>
        </p:nvSpPr>
        <p:spPr>
          <a:xfrm>
            <a:off x="609480" y="1604520"/>
            <a:ext cx="10972440" cy="397728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66"/>
        <p:cNvGrpSpPr/>
        <p:nvPr/>
      </p:nvGrpSpPr>
      <p:grpSpPr>
        <a:xfrm>
          <a:off x="0" y="0"/>
          <a:ext cx="0" cy="0"/>
          <a:chOff x="0" y="0"/>
          <a:chExt cx="0" cy="0"/>
        </a:xfrm>
      </p:grpSpPr>
      <p:sp>
        <p:nvSpPr>
          <p:cNvPr id="67" name="Google Shape;67;p31"/>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31"/>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69"/>
        <p:cNvGrpSpPr/>
        <p:nvPr/>
      </p:nvGrpSpPr>
      <p:grpSpPr>
        <a:xfrm>
          <a:off x="0" y="0"/>
          <a:ext cx="0" cy="0"/>
          <a:chOff x="0" y="0"/>
          <a:chExt cx="0" cy="0"/>
        </a:xfrm>
      </p:grpSpPr>
      <p:sp>
        <p:nvSpPr>
          <p:cNvPr id="70" name="Google Shape;70;p32"/>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32"/>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72" name="Google Shape;72;p32"/>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3"/>
        <p:cNvGrpSpPr/>
        <p:nvPr/>
      </p:nvGrpSpPr>
      <p:grpSpPr>
        <a:xfrm>
          <a:off x="0" y="0"/>
          <a:ext cx="0" cy="0"/>
          <a:chOff x="0" y="0"/>
          <a:chExt cx="0" cy="0"/>
        </a:xfrm>
      </p:grpSpPr>
      <p:sp>
        <p:nvSpPr>
          <p:cNvPr id="74" name="Google Shape;74;p33"/>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75"/>
        <p:cNvGrpSpPr/>
        <p:nvPr/>
      </p:nvGrpSpPr>
      <p:grpSpPr>
        <a:xfrm>
          <a:off x="0" y="0"/>
          <a:ext cx="0" cy="0"/>
          <a:chOff x="0" y="0"/>
          <a:chExt cx="0" cy="0"/>
        </a:xfrm>
      </p:grpSpPr>
      <p:sp>
        <p:nvSpPr>
          <p:cNvPr id="76" name="Google Shape;76;p34"/>
          <p:cNvSpPr txBox="1">
            <a:spLocks noGrp="1"/>
          </p:cNvSpPr>
          <p:nvPr>
            <p:ph type="subTitle" idx="1"/>
          </p:nvPr>
        </p:nvSpPr>
        <p:spPr>
          <a:xfrm>
            <a:off x="1523880" y="1122480"/>
            <a:ext cx="9143640" cy="110667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77"/>
        <p:cNvGrpSpPr/>
        <p:nvPr/>
      </p:nvGrpSpPr>
      <p:grpSpPr>
        <a:xfrm>
          <a:off x="0" y="0"/>
          <a:ext cx="0" cy="0"/>
          <a:chOff x="0" y="0"/>
          <a:chExt cx="0" cy="0"/>
        </a:xfrm>
      </p:grpSpPr>
      <p:sp>
        <p:nvSpPr>
          <p:cNvPr id="78" name="Google Shape;78;p35"/>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35"/>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0" name="Google Shape;80;p35"/>
          <p:cNvSpPr txBox="1">
            <a:spLocks noGrp="1"/>
          </p:cNvSpPr>
          <p:nvPr>
            <p:ph type="body" idx="2"/>
          </p:nvPr>
        </p:nvSpPr>
        <p:spPr>
          <a:xfrm>
            <a:off x="623196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1" name="Google Shape;81;p35"/>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82"/>
        <p:cNvGrpSpPr/>
        <p:nvPr/>
      </p:nvGrpSpPr>
      <p:grpSpPr>
        <a:xfrm>
          <a:off x="0" y="0"/>
          <a:ext cx="0" cy="0"/>
          <a:chOff x="0" y="0"/>
          <a:chExt cx="0" cy="0"/>
        </a:xfrm>
      </p:grpSpPr>
      <p:sp>
        <p:nvSpPr>
          <p:cNvPr id="83" name="Google Shape;83;p36"/>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4" name="Google Shape;84;p36"/>
          <p:cNvSpPr txBox="1">
            <a:spLocks noGrp="1"/>
          </p:cNvSpPr>
          <p:nvPr>
            <p:ph type="body" idx="1"/>
          </p:nvPr>
        </p:nvSpPr>
        <p:spPr>
          <a:xfrm>
            <a:off x="609480" y="1604520"/>
            <a:ext cx="5354280" cy="397728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5" name="Google Shape;85;p36"/>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86" name="Google Shape;86;p36"/>
          <p:cNvSpPr txBox="1">
            <a:spLocks noGrp="1"/>
          </p:cNvSpPr>
          <p:nvPr>
            <p:ph type="body" idx="3"/>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87"/>
        <p:cNvGrpSpPr/>
        <p:nvPr/>
      </p:nvGrpSpPr>
      <p:grpSpPr>
        <a:xfrm>
          <a:off x="0" y="0"/>
          <a:ext cx="0" cy="0"/>
          <a:chOff x="0" y="0"/>
          <a:chExt cx="0" cy="0"/>
        </a:xfrm>
      </p:grpSpPr>
      <p:sp>
        <p:nvSpPr>
          <p:cNvPr id="88" name="Google Shape;88;p37"/>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37"/>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0" name="Google Shape;90;p37"/>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1" name="Google Shape;91;p37"/>
          <p:cNvSpPr txBox="1">
            <a:spLocks noGrp="1"/>
          </p:cNvSpPr>
          <p:nvPr>
            <p:ph type="body" idx="3"/>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92"/>
        <p:cNvGrpSpPr/>
        <p:nvPr/>
      </p:nvGrpSpPr>
      <p:grpSpPr>
        <a:xfrm>
          <a:off x="0" y="0"/>
          <a:ext cx="0" cy="0"/>
          <a:chOff x="0" y="0"/>
          <a:chExt cx="0" cy="0"/>
        </a:xfrm>
      </p:grpSpPr>
      <p:sp>
        <p:nvSpPr>
          <p:cNvPr id="93" name="Google Shape;93;p38"/>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4" name="Google Shape;94;p38"/>
          <p:cNvSpPr txBox="1">
            <a:spLocks noGrp="1"/>
          </p:cNvSpPr>
          <p:nvPr>
            <p:ph type="body" idx="1"/>
          </p:nvPr>
        </p:nvSpPr>
        <p:spPr>
          <a:xfrm>
            <a:off x="609480" y="160452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5" name="Google Shape;95;p38"/>
          <p:cNvSpPr txBox="1">
            <a:spLocks noGrp="1"/>
          </p:cNvSpPr>
          <p:nvPr>
            <p:ph type="body" idx="2"/>
          </p:nvPr>
        </p:nvSpPr>
        <p:spPr>
          <a:xfrm>
            <a:off x="609480" y="3682080"/>
            <a:ext cx="109724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96"/>
        <p:cNvGrpSpPr/>
        <p:nvPr/>
      </p:nvGrpSpPr>
      <p:grpSpPr>
        <a:xfrm>
          <a:off x="0" y="0"/>
          <a:ext cx="0" cy="0"/>
          <a:chOff x="0" y="0"/>
          <a:chExt cx="0" cy="0"/>
        </a:xfrm>
      </p:grpSpPr>
      <p:sp>
        <p:nvSpPr>
          <p:cNvPr id="97" name="Google Shape;97;p39"/>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8" name="Google Shape;98;p39"/>
          <p:cNvSpPr txBox="1">
            <a:spLocks noGrp="1"/>
          </p:cNvSpPr>
          <p:nvPr>
            <p:ph type="body" idx="1"/>
          </p:nvPr>
        </p:nvSpPr>
        <p:spPr>
          <a:xfrm>
            <a:off x="60948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99" name="Google Shape;99;p39"/>
          <p:cNvSpPr txBox="1">
            <a:spLocks noGrp="1"/>
          </p:cNvSpPr>
          <p:nvPr>
            <p:ph type="body" idx="2"/>
          </p:nvPr>
        </p:nvSpPr>
        <p:spPr>
          <a:xfrm>
            <a:off x="6231960" y="160452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0" name="Google Shape;100;p39"/>
          <p:cNvSpPr txBox="1">
            <a:spLocks noGrp="1"/>
          </p:cNvSpPr>
          <p:nvPr>
            <p:ph type="body" idx="3"/>
          </p:nvPr>
        </p:nvSpPr>
        <p:spPr>
          <a:xfrm>
            <a:off x="60948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1" name="Google Shape;101;p39"/>
          <p:cNvSpPr txBox="1">
            <a:spLocks noGrp="1"/>
          </p:cNvSpPr>
          <p:nvPr>
            <p:ph type="body" idx="4"/>
          </p:nvPr>
        </p:nvSpPr>
        <p:spPr>
          <a:xfrm>
            <a:off x="6231960" y="3682080"/>
            <a:ext cx="535428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02"/>
        <p:cNvGrpSpPr/>
        <p:nvPr/>
      </p:nvGrpSpPr>
      <p:grpSpPr>
        <a:xfrm>
          <a:off x="0" y="0"/>
          <a:ext cx="0" cy="0"/>
          <a:chOff x="0" y="0"/>
          <a:chExt cx="0" cy="0"/>
        </a:xfrm>
      </p:grpSpPr>
      <p:sp>
        <p:nvSpPr>
          <p:cNvPr id="103" name="Google Shape;103;p40"/>
          <p:cNvSpPr txBox="1">
            <a:spLocks noGrp="1"/>
          </p:cNvSpPr>
          <p:nvPr>
            <p:ph type="title"/>
          </p:nvPr>
        </p:nvSpPr>
        <p:spPr>
          <a:xfrm>
            <a:off x="1523880" y="1122480"/>
            <a:ext cx="9143640" cy="238716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4" name="Google Shape;104;p40"/>
          <p:cNvSpPr txBox="1">
            <a:spLocks noGrp="1"/>
          </p:cNvSpPr>
          <p:nvPr>
            <p:ph type="body" idx="1"/>
          </p:nvPr>
        </p:nvSpPr>
        <p:spPr>
          <a:xfrm>
            <a:off x="60948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5" name="Google Shape;105;p40"/>
          <p:cNvSpPr txBox="1">
            <a:spLocks noGrp="1"/>
          </p:cNvSpPr>
          <p:nvPr>
            <p:ph type="body" idx="2"/>
          </p:nvPr>
        </p:nvSpPr>
        <p:spPr>
          <a:xfrm>
            <a:off x="431964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6" name="Google Shape;106;p40"/>
          <p:cNvSpPr txBox="1">
            <a:spLocks noGrp="1"/>
          </p:cNvSpPr>
          <p:nvPr>
            <p:ph type="body" idx="3"/>
          </p:nvPr>
        </p:nvSpPr>
        <p:spPr>
          <a:xfrm>
            <a:off x="8029800" y="160452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7" name="Google Shape;107;p40"/>
          <p:cNvSpPr txBox="1">
            <a:spLocks noGrp="1"/>
          </p:cNvSpPr>
          <p:nvPr>
            <p:ph type="body" idx="4"/>
          </p:nvPr>
        </p:nvSpPr>
        <p:spPr>
          <a:xfrm>
            <a:off x="60948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8" name="Google Shape;108;p40"/>
          <p:cNvSpPr txBox="1">
            <a:spLocks noGrp="1"/>
          </p:cNvSpPr>
          <p:nvPr>
            <p:ph type="body" idx="5"/>
          </p:nvPr>
        </p:nvSpPr>
        <p:spPr>
          <a:xfrm>
            <a:off x="431964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
        <p:nvSpPr>
          <p:cNvPr id="109" name="Google Shape;109;p40"/>
          <p:cNvSpPr txBox="1">
            <a:spLocks noGrp="1"/>
          </p:cNvSpPr>
          <p:nvPr>
            <p:ph type="body" idx="6"/>
          </p:nvPr>
        </p:nvSpPr>
        <p:spPr>
          <a:xfrm>
            <a:off x="8029800" y="3682080"/>
            <a:ext cx="3533040" cy="189684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0"/>
              </a:spcBef>
              <a:spcAft>
                <a:spcPts val="0"/>
              </a:spcAft>
              <a:buSzPts val="1400"/>
              <a:buNone/>
              <a:defRPr/>
            </a:lvl1pPr>
            <a:lvl2pPr marL="914400" lvl="1" indent="-228600" algn="l">
              <a:lnSpc>
                <a:spcPct val="100000"/>
              </a:lnSpc>
              <a:spcBef>
                <a:spcPts val="0"/>
              </a:spcBef>
              <a:spcAft>
                <a:spcPts val="0"/>
              </a:spcAft>
              <a:buSzPts val="1400"/>
              <a:buNone/>
              <a:defRPr/>
            </a:lvl2pPr>
            <a:lvl3pPr marL="1371600" lvl="2" indent="-228600" algn="l">
              <a:lnSpc>
                <a:spcPct val="100000"/>
              </a:lnSpc>
              <a:spcBef>
                <a:spcPts val="0"/>
              </a:spcBef>
              <a:spcAft>
                <a:spcPts val="0"/>
              </a:spcAft>
              <a:buSzPts val="1400"/>
              <a:buNone/>
              <a:defRPr/>
            </a:lvl3pPr>
            <a:lvl4pPr marL="1828800" lvl="3" indent="-228600" algn="l">
              <a:lnSpc>
                <a:spcPct val="100000"/>
              </a:lnSpc>
              <a:spcBef>
                <a:spcPts val="0"/>
              </a:spcBef>
              <a:spcAft>
                <a:spcPts val="0"/>
              </a:spcAft>
              <a:buSzPts val="1400"/>
              <a:buNone/>
              <a:defRPr/>
            </a:lvl4pPr>
            <a:lvl5pPr marL="2286000" lvl="4" indent="-228600" algn="l">
              <a:lnSpc>
                <a:spcPct val="100000"/>
              </a:lnSpc>
              <a:spcBef>
                <a:spcPts val="0"/>
              </a:spcBef>
              <a:spcAft>
                <a:spcPts val="0"/>
              </a:spcAft>
              <a:buSzPts val="1400"/>
              <a:buNone/>
              <a:defRPr/>
            </a:lvl5pPr>
            <a:lvl6pPr marL="2743200" lvl="5" indent="-228600" algn="l">
              <a:lnSpc>
                <a:spcPct val="100000"/>
              </a:lnSpc>
              <a:spcBef>
                <a:spcPts val="0"/>
              </a:spcBef>
              <a:spcAft>
                <a:spcPts val="0"/>
              </a:spcAft>
              <a:buSzPts val="1400"/>
              <a:buNone/>
              <a:defRPr/>
            </a:lvl6pPr>
            <a:lvl7pPr marL="3200400" lvl="6" indent="-228600" algn="l">
              <a:lnSpc>
                <a:spcPct val="100000"/>
              </a:lnSpc>
              <a:spcBef>
                <a:spcPts val="0"/>
              </a:spcBef>
              <a:spcAft>
                <a:spcPts val="0"/>
              </a:spcAft>
              <a:buSzPts val="1400"/>
              <a:buNone/>
              <a:defRPr/>
            </a:lvl7pPr>
            <a:lvl8pPr marL="3657600" lvl="7" indent="-228600" algn="l">
              <a:lnSpc>
                <a:spcPct val="100000"/>
              </a:lnSpc>
              <a:spcBef>
                <a:spcPts val="0"/>
              </a:spcBef>
              <a:spcAft>
                <a:spcPts val="0"/>
              </a:spcAft>
              <a:buSzPts val="1400"/>
              <a:buNone/>
              <a:defRPr/>
            </a:lvl8pPr>
            <a:lvl9pPr marL="4114800" lvl="8" indent="-228600" algn="l">
              <a:lnSpc>
                <a:spcPct val="100000"/>
              </a:lnSpc>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
        <p:cNvGrpSpPr/>
        <p:nvPr/>
      </p:nvGrpSpPr>
      <p:grpSpPr>
        <a:xfrm>
          <a:off x="0" y="0"/>
          <a:ext cx="0" cy="0"/>
          <a:chOff x="0" y="0"/>
          <a:chExt cx="0" cy="0"/>
        </a:xfrm>
      </p:grpSpPr>
      <p:sp>
        <p:nvSpPr>
          <p:cNvPr id="6" name="Google Shape;6;p13"/>
          <p:cNvSpPr txBox="1">
            <a:spLocks noGrp="1"/>
          </p:cNvSpPr>
          <p:nvPr>
            <p:ph type="title"/>
          </p:nvPr>
        </p:nvSpPr>
        <p:spPr>
          <a:xfrm>
            <a:off x="1523880" y="1122480"/>
            <a:ext cx="9143640" cy="2387160"/>
          </a:xfrm>
          <a:prstGeom prst="rect">
            <a:avLst/>
          </a:prstGeom>
          <a:noFill/>
          <a:ln>
            <a:noFill/>
          </a:ln>
        </p:spPr>
        <p:txBody>
          <a:bodyPr spcFirstLastPara="1" wrap="square" lIns="91425" tIns="45700" rIns="91425" bIns="45700" anchor="b" anchorCtr="0">
            <a:norm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3"/>
          <p:cNvSpPr txBox="1">
            <a:spLocks noGrp="1"/>
          </p:cNvSpPr>
          <p:nvPr>
            <p:ph type="dt" idx="10"/>
          </p:nvPr>
        </p:nvSpPr>
        <p:spPr>
          <a:xfrm>
            <a:off x="838080" y="6356520"/>
            <a:ext cx="2742840" cy="36468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8" name="Google Shape;8;p13"/>
          <p:cNvSpPr txBox="1">
            <a:spLocks noGrp="1"/>
          </p:cNvSpPr>
          <p:nvPr>
            <p:ph type="ftr" idx="11"/>
          </p:nvPr>
        </p:nvSpPr>
        <p:spPr>
          <a:xfrm>
            <a:off x="4038480" y="6356520"/>
            <a:ext cx="4114440" cy="36468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9" name="Google Shape;9;p13"/>
          <p:cNvSpPr txBox="1">
            <a:spLocks noGrp="1"/>
          </p:cNvSpPr>
          <p:nvPr>
            <p:ph type="sldNum" idx="12"/>
          </p:nvPr>
        </p:nvSpPr>
        <p:spPr>
          <a:xfrm>
            <a:off x="8610480" y="6356520"/>
            <a:ext cx="2742840" cy="36468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‹Nº›</a:t>
            </a:fld>
            <a:endParaRPr>
              <a:solidFill>
                <a:srgbClr val="000000"/>
              </a:solidFill>
              <a:latin typeface="Times New Roman"/>
              <a:ea typeface="Times New Roman"/>
              <a:cs typeface="Times New Roman"/>
              <a:sym typeface="Times New Roman"/>
            </a:endParaRPr>
          </a:p>
        </p:txBody>
      </p:sp>
      <p:sp>
        <p:nvSpPr>
          <p:cNvPr id="10" name="Google Shape;10;p13"/>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9"/>
        <p:cNvGrpSpPr/>
        <p:nvPr/>
      </p:nvGrpSpPr>
      <p:grpSpPr>
        <a:xfrm>
          <a:off x="0" y="0"/>
          <a:ext cx="0" cy="0"/>
          <a:chOff x="0" y="0"/>
          <a:chExt cx="0" cy="0"/>
        </a:xfrm>
      </p:grpSpPr>
      <p:sp>
        <p:nvSpPr>
          <p:cNvPr id="60" name="Google Shape;60;p15"/>
          <p:cNvSpPr txBox="1">
            <a:spLocks noGrp="1"/>
          </p:cNvSpPr>
          <p:nvPr>
            <p:ph type="title"/>
          </p:nvPr>
        </p:nvSpPr>
        <p:spPr>
          <a:xfrm>
            <a:off x="609480" y="273600"/>
            <a:ext cx="10972440" cy="11448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61" name="Google Shape;61;p15"/>
          <p:cNvSpPr txBox="1">
            <a:spLocks noGrp="1"/>
          </p:cNvSpPr>
          <p:nvPr>
            <p:ph type="body" idx="1"/>
          </p:nvPr>
        </p:nvSpPr>
        <p:spPr>
          <a:xfrm>
            <a:off x="609480" y="1604520"/>
            <a:ext cx="10972440" cy="3977280"/>
          </a:xfrm>
          <a:prstGeom prst="rect">
            <a:avLst/>
          </a:prstGeom>
          <a:noFill/>
          <a:ln>
            <a:noFill/>
          </a:ln>
        </p:spPr>
        <p:txBody>
          <a:bodyPr spcFirstLastPara="1" wrap="square" lIns="0" tIns="0" rIns="0" bIns="0" anchor="t" anchorCtr="0">
            <a:normAutofit/>
          </a:bodyPr>
          <a:lstStyle>
            <a:lvl1pPr marL="457200" marR="0" lvl="0"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3.png"/><Relationship Id="rId7"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hyperlink" Target="https://github.com/GianSz/ProyectoDatos" TargetMode="External"/><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hyperlink" Target="https://github.com/GianSz/ProyectoDatos" TargetMode="External"/><Relationship Id="rId5" Type="http://schemas.openxmlformats.org/officeDocument/2006/relationships/image" Target="../media/image8.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github.com/GianSz/ProyectoDatos" TargetMode="External"/><Relationship Id="rId2" Type="http://schemas.openxmlformats.org/officeDocument/2006/relationships/notesSlide" Target="../notesSlides/notesSlide4.xml"/><Relationship Id="rId1" Type="http://schemas.openxmlformats.org/officeDocument/2006/relationships/slideLayout" Target="../slideLayouts/slideLayout13.xml"/><Relationship Id="rId6" Type="http://schemas.openxmlformats.org/officeDocument/2006/relationships/hyperlink" Target="https://es.wikipedia.org/wiki/Algoritmo_de_compresi%C3%B3n_sin_p%C3%A9rdida" TargetMode="External"/><Relationship Id="rId5" Type="http://schemas.openxmlformats.org/officeDocument/2006/relationships/hyperlink" Target="https://es.wikipedia.org/wiki/Algoritmo_de_compresi%C3%B3n_con_p%C3%A9rdida" TargetMode="Externa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3.xml"/><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3.xml"/><Relationship Id="rId5" Type="http://schemas.openxmlformats.org/officeDocument/2006/relationships/hyperlink" Target="https://github.com/GianSz/ProyectoDatos" TargetMode="Externa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pic>
        <p:nvPicPr>
          <p:cNvPr id="189" name="Google Shape;189;p1" descr="Cómo sería un mundo sin ganadería industrial? | Igualdad Animal México"/>
          <p:cNvPicPr preferRelativeResize="0"/>
          <p:nvPr/>
        </p:nvPicPr>
        <p:blipFill rotWithShape="1">
          <a:blip r:embed="rId3">
            <a:alphaModFix/>
          </a:blip>
          <a:srcRect l="39100" r="1572"/>
          <a:stretch/>
        </p:blipFill>
        <p:spPr>
          <a:xfrm>
            <a:off x="-51120" y="-8640"/>
            <a:ext cx="12254040" cy="6881400"/>
          </a:xfrm>
          <a:prstGeom prst="rect">
            <a:avLst/>
          </a:prstGeom>
          <a:noFill/>
          <a:ln>
            <a:noFill/>
          </a:ln>
        </p:spPr>
      </p:pic>
      <p:sp>
        <p:nvSpPr>
          <p:cNvPr id="190" name="Google Shape;190;p1"/>
          <p:cNvSpPr/>
          <p:nvPr/>
        </p:nvSpPr>
        <p:spPr>
          <a:xfrm>
            <a:off x="1624860" y="0"/>
            <a:ext cx="10580400" cy="6881400"/>
          </a:xfrm>
          <a:prstGeom prst="rect">
            <a:avLst/>
          </a:prstGeom>
          <a:gradFill>
            <a:gsLst>
              <a:gs pos="0">
                <a:srgbClr val="FFFFFF"/>
              </a:gs>
              <a:gs pos="49000">
                <a:srgbClr val="FFFFFF"/>
              </a:gs>
              <a:gs pos="100000">
                <a:srgbClr val="FFFFFF">
                  <a:alpha val="0"/>
                </a:srgbClr>
              </a:gs>
            </a:gsLst>
            <a:lin ang="10800000"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191" name="Google Shape;191;p1"/>
          <p:cNvPicPr preferRelativeResize="0"/>
          <p:nvPr/>
        </p:nvPicPr>
        <p:blipFill rotWithShape="1">
          <a:blip r:embed="rId4">
            <a:alphaModFix/>
          </a:blip>
          <a:srcRect t="78334"/>
          <a:stretch/>
        </p:blipFill>
        <p:spPr>
          <a:xfrm>
            <a:off x="14760" y="5390280"/>
            <a:ext cx="12192840" cy="1483200"/>
          </a:xfrm>
          <a:prstGeom prst="rect">
            <a:avLst/>
          </a:prstGeom>
          <a:noFill/>
          <a:ln>
            <a:noFill/>
          </a:ln>
        </p:spPr>
      </p:pic>
      <p:sp>
        <p:nvSpPr>
          <p:cNvPr id="7" name="Google Shape;192;p1"/>
          <p:cNvSpPr txBox="1"/>
          <p:nvPr/>
        </p:nvSpPr>
        <p:spPr>
          <a:xfrm>
            <a:off x="5556600" y="2250000"/>
            <a:ext cx="6145920" cy="1633680"/>
          </a:xfrm>
          <a:prstGeom prst="rect">
            <a:avLst/>
          </a:prstGeom>
          <a:noFill/>
          <a:ln>
            <a:noFill/>
          </a:ln>
        </p:spPr>
        <p:txBody>
          <a:bodyPr spcFirstLastPara="1" wrap="square" lIns="91425" tIns="45700" rIns="91425" bIns="45700" anchor="b" anchorCtr="0">
            <a:noAutofit/>
          </a:bodyPr>
          <a:lstStyle/>
          <a:p>
            <a:pPr marL="0" marR="0" lvl="0" indent="0" algn="r" rtl="0">
              <a:lnSpc>
                <a:spcPct val="90000"/>
              </a:lnSpc>
              <a:spcBef>
                <a:spcPts val="0"/>
              </a:spcBef>
              <a:spcAft>
                <a:spcPts val="0"/>
              </a:spcAft>
              <a:buClr>
                <a:srgbClr val="000000"/>
              </a:buClr>
              <a:buSzPts val="3600"/>
              <a:buFont typeface="Arial"/>
              <a:buNone/>
            </a:pPr>
            <a:r>
              <a:rPr lang="en-US" sz="3600" b="0" i="0" u="none" strike="noStrike" cap="none" dirty="0" err="1">
                <a:solidFill>
                  <a:srgbClr val="000000"/>
                </a:solidFill>
                <a:latin typeface="Arial"/>
                <a:ea typeface="Arial"/>
                <a:cs typeface="Arial"/>
                <a:sym typeface="Arial"/>
              </a:rPr>
              <a:t>Investigación</a:t>
            </a:r>
            <a:r>
              <a:rPr lang="en-US" sz="3600" b="0" i="0" u="none" strike="noStrike" cap="none" dirty="0">
                <a:solidFill>
                  <a:srgbClr val="000000"/>
                </a:solidFill>
                <a:latin typeface="Arial"/>
                <a:ea typeface="Arial"/>
                <a:cs typeface="Arial"/>
                <a:sym typeface="Arial"/>
              </a:rPr>
              <a:t> para la </a:t>
            </a:r>
            <a:r>
              <a:rPr lang="en-US" sz="3600" b="0" i="0" u="none" strike="noStrike" cap="none" dirty="0" err="1">
                <a:solidFill>
                  <a:srgbClr val="000000"/>
                </a:solidFill>
                <a:latin typeface="Arial"/>
                <a:ea typeface="Arial"/>
                <a:cs typeface="Arial"/>
                <a:sym typeface="Arial"/>
              </a:rPr>
              <a:t>compresión</a:t>
            </a:r>
            <a:r>
              <a:rPr lang="en-US" sz="3600" b="0" i="0" u="none" strike="noStrike" cap="none" dirty="0">
                <a:solidFill>
                  <a:srgbClr val="000000"/>
                </a:solidFill>
                <a:latin typeface="Arial"/>
                <a:ea typeface="Arial"/>
                <a:cs typeface="Arial"/>
                <a:sym typeface="Arial"/>
              </a:rPr>
              <a:t> de </a:t>
            </a:r>
            <a:r>
              <a:rPr lang="en-US" sz="3600" b="0" i="0" u="none" strike="noStrike" cap="none" dirty="0" err="1">
                <a:solidFill>
                  <a:srgbClr val="000000"/>
                </a:solidFill>
                <a:latin typeface="Arial"/>
                <a:ea typeface="Arial"/>
                <a:cs typeface="Arial"/>
                <a:sym typeface="Arial"/>
              </a:rPr>
              <a:t>datos</a:t>
            </a:r>
            <a:endParaRPr sz="3600" b="0" i="0" u="none" strike="noStrike" cap="none" dirty="0">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4080" y="0"/>
            <a:ext cx="12196080" cy="6855840"/>
          </a:xfrm>
          <a:prstGeom prst="rect">
            <a:avLst/>
          </a:prstGeom>
          <a:noFill/>
          <a:ln>
            <a:noFill/>
          </a:ln>
        </p:spPr>
      </p:pic>
      <p:pic>
        <p:nvPicPr>
          <p:cNvPr id="21" name="Imagen 20"/>
          <p:cNvPicPr>
            <a:picLocks noChangeAspect="1"/>
          </p:cNvPicPr>
          <p:nvPr/>
        </p:nvPicPr>
        <p:blipFill>
          <a:blip r:embed="rId4">
            <a:extLst>
              <a:ext uri="{28A0092B-C50C-407E-A947-70E740481C1C}">
                <a14:useLocalDpi xmlns:a14="http://schemas.microsoft.com/office/drawing/2010/main" val="0"/>
              </a:ext>
            </a:extLst>
          </a:blip>
          <a:srcRect l="1803" t="9536" r="2030" b="17301"/>
          <a:stretch>
            <a:fillRect/>
          </a:stretch>
        </p:blipFill>
        <p:spPr>
          <a:xfrm>
            <a:off x="3556986" y="1687614"/>
            <a:ext cx="2310802" cy="2347986"/>
          </a:xfrm>
          <a:custGeom>
            <a:avLst/>
            <a:gdLst>
              <a:gd name="connsiteX0" fmla="*/ 1439917 w 2879834"/>
              <a:gd name="connsiteY0" fmla="*/ 0 h 2926174"/>
              <a:gd name="connsiteX1" fmla="*/ 2879834 w 2879834"/>
              <a:gd name="connsiteY1" fmla="*/ 1463087 h 2926174"/>
              <a:gd name="connsiteX2" fmla="*/ 1439917 w 2879834"/>
              <a:gd name="connsiteY2" fmla="*/ 2926174 h 2926174"/>
              <a:gd name="connsiteX3" fmla="*/ 0 w 2879834"/>
              <a:gd name="connsiteY3" fmla="*/ 1463087 h 2926174"/>
              <a:gd name="connsiteX4" fmla="*/ 1439917 w 2879834"/>
              <a:gd name="connsiteY4" fmla="*/ 0 h 2926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79834" h="2926174">
                <a:moveTo>
                  <a:pt x="1439917" y="0"/>
                </a:moveTo>
                <a:cubicBezTo>
                  <a:pt x="2235161" y="0"/>
                  <a:pt x="2879834" y="655046"/>
                  <a:pt x="2879834" y="1463087"/>
                </a:cubicBezTo>
                <a:cubicBezTo>
                  <a:pt x="2879834" y="2271128"/>
                  <a:pt x="2235161" y="2926174"/>
                  <a:pt x="1439917" y="2926174"/>
                </a:cubicBezTo>
                <a:cubicBezTo>
                  <a:pt x="644673" y="2926174"/>
                  <a:pt x="0" y="2271128"/>
                  <a:pt x="0" y="1463087"/>
                </a:cubicBezTo>
                <a:cubicBezTo>
                  <a:pt x="0" y="655046"/>
                  <a:pt x="644673" y="0"/>
                  <a:pt x="1439917" y="0"/>
                </a:cubicBezTo>
                <a:close/>
              </a:path>
            </a:pathLst>
          </a:custGeom>
        </p:spPr>
      </p:pic>
      <p:sp>
        <p:nvSpPr>
          <p:cNvPr id="200" name="Google Shape;200;p2"/>
          <p:cNvSpPr/>
          <p:nvPr/>
        </p:nvSpPr>
        <p:spPr>
          <a:xfrm>
            <a:off x="265328" y="376925"/>
            <a:ext cx="4375800" cy="424800"/>
          </a:xfrm>
          <a:prstGeom prst="rect">
            <a:avLst/>
          </a:prstGeom>
          <a:noFill/>
          <a:ln>
            <a:noFill/>
          </a:ln>
        </p:spPr>
        <p:txBody>
          <a:bodyPr spcFirstLastPara="1" wrap="square" lIns="90000" tIns="45000" rIns="90000" bIns="45000" anchor="t" anchorCtr="0">
            <a:sp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rgbClr val="FFFFFF"/>
                </a:solidFill>
                <a:latin typeface="Arial"/>
                <a:ea typeface="Arial"/>
                <a:cs typeface="Arial"/>
                <a:sym typeface="Arial"/>
              </a:rPr>
              <a:t>Presentación del equipo</a:t>
            </a:r>
            <a:endParaRPr sz="2200" b="0" i="0" u="none" strike="noStrike" cap="none">
              <a:solidFill>
                <a:srgbClr val="000000"/>
              </a:solidFill>
              <a:latin typeface="Arial"/>
              <a:ea typeface="Arial"/>
              <a:cs typeface="Arial"/>
              <a:sym typeface="Arial"/>
            </a:endParaRPr>
          </a:p>
        </p:txBody>
      </p:sp>
      <p:sp>
        <p:nvSpPr>
          <p:cNvPr id="209" name="Google Shape;209;p2"/>
          <p:cNvSpPr/>
          <p:nvPr/>
        </p:nvSpPr>
        <p:spPr>
          <a:xfrm>
            <a:off x="3551040" y="4180680"/>
            <a:ext cx="2192760" cy="1106542"/>
          </a:xfrm>
          <a:prstGeom prst="rect">
            <a:avLst/>
          </a:prstGeom>
          <a:no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s-CO" sz="2200" b="0" i="0" u="none" strike="noStrike" cap="none" dirty="0">
                <a:solidFill>
                  <a:srgbClr val="001E33"/>
                </a:solidFill>
                <a:latin typeface="Arial"/>
                <a:ea typeface="Arial"/>
                <a:cs typeface="Arial"/>
                <a:sym typeface="Arial"/>
              </a:rPr>
              <a:t>Juan Felipe Pinzón</a:t>
            </a:r>
            <a:endParaRPr sz="22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200"/>
              <a:buFont typeface="Arial"/>
              <a:buNone/>
            </a:pPr>
            <a:endParaRPr sz="2200" b="0" i="0" u="none" strike="noStrike" cap="none" dirty="0">
              <a:solidFill>
                <a:srgbClr val="000000"/>
              </a:solidFill>
              <a:latin typeface="Arial"/>
              <a:ea typeface="Arial"/>
              <a:cs typeface="Arial"/>
              <a:sym typeface="Arial"/>
            </a:endParaRPr>
          </a:p>
        </p:txBody>
      </p:sp>
      <p:sp>
        <p:nvSpPr>
          <p:cNvPr id="210" name="Google Shape;210;p2"/>
          <p:cNvSpPr/>
          <p:nvPr/>
        </p:nvSpPr>
        <p:spPr>
          <a:xfrm>
            <a:off x="635040" y="4180680"/>
            <a:ext cx="2192760" cy="767987"/>
          </a:xfrm>
          <a:prstGeom prst="rect">
            <a:avLst/>
          </a:prstGeom>
          <a:noFill/>
          <a:ln>
            <a:noFill/>
          </a:ln>
        </p:spPr>
        <p:txBody>
          <a:bodyPr spcFirstLastPara="1" wrap="square" lIns="90000" tIns="45000" rIns="90000" bIns="45000" anchor="t" anchorCtr="0">
            <a:spAutoFit/>
          </a:bodyPr>
          <a:lstStyle/>
          <a:p>
            <a:pPr marL="0" marR="0" lvl="0" indent="0" algn="ctr" rtl="0">
              <a:lnSpc>
                <a:spcPct val="100000"/>
              </a:lnSpc>
              <a:spcBef>
                <a:spcPts val="0"/>
              </a:spcBef>
              <a:spcAft>
                <a:spcPts val="0"/>
              </a:spcAft>
              <a:buClr>
                <a:srgbClr val="000000"/>
              </a:buClr>
              <a:buSzPts val="2200"/>
              <a:buFont typeface="Arial"/>
              <a:buNone/>
            </a:pPr>
            <a:r>
              <a:rPr lang="en-US" sz="2200" b="0" i="0" u="none" strike="noStrike" cap="none" dirty="0">
                <a:solidFill>
                  <a:srgbClr val="001E33"/>
                </a:solidFill>
                <a:latin typeface="Arial"/>
                <a:ea typeface="Arial"/>
                <a:cs typeface="Arial"/>
                <a:sym typeface="Arial"/>
              </a:rPr>
              <a:t>Gian Paul Sánchez</a:t>
            </a:r>
            <a:endParaRPr sz="2200" b="0" i="0" u="none" strike="noStrike" cap="none" dirty="0">
              <a:solidFill>
                <a:srgbClr val="000000"/>
              </a:solidFill>
              <a:latin typeface="Arial"/>
              <a:ea typeface="Arial"/>
              <a:cs typeface="Arial"/>
              <a:sym typeface="Arial"/>
            </a:endParaRPr>
          </a:p>
        </p:txBody>
      </p:sp>
      <p:pic>
        <p:nvPicPr>
          <p:cNvPr id="216" name="Google Shape;216;p2"/>
          <p:cNvPicPr preferRelativeResize="0"/>
          <p:nvPr/>
        </p:nvPicPr>
        <p:blipFill rotWithShape="1">
          <a:blip r:embed="rId5">
            <a:alphaModFix/>
          </a:blip>
          <a:srcRect/>
          <a:stretch/>
        </p:blipFill>
        <p:spPr>
          <a:xfrm>
            <a:off x="182880" y="6089760"/>
            <a:ext cx="621000" cy="621000"/>
          </a:xfrm>
          <a:prstGeom prst="rect">
            <a:avLst/>
          </a:prstGeom>
          <a:noFill/>
          <a:ln>
            <a:noFill/>
          </a:ln>
        </p:spPr>
      </p:pic>
      <p:sp>
        <p:nvSpPr>
          <p:cNvPr id="217"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6"/>
              </a:rPr>
              <a:t>https://github.com/GianSz/ProyectoDatos</a:t>
            </a:r>
            <a:endParaRPr lang="en-US" sz="2200" b="1" dirty="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221" name="Google Shape;221;p2"/>
          <p:cNvSpPr/>
          <p:nvPr/>
        </p:nvSpPr>
        <p:spPr>
          <a:xfrm>
            <a:off x="6446651" y="4180675"/>
            <a:ext cx="2411100" cy="759900"/>
          </a:xfrm>
          <a:prstGeom prst="rect">
            <a:avLst/>
          </a:prstGeom>
          <a:noFill/>
          <a:ln>
            <a:noFill/>
          </a:ln>
        </p:spPr>
        <p:txBody>
          <a:bodyPr spcFirstLastPara="1" wrap="square" lIns="90000" tIns="45000" rIns="90000" bIns="45000" anchor="t" anchorCtr="0">
            <a:noAutofit/>
          </a:bodyPr>
          <a:lstStyle/>
          <a:p>
            <a:pPr marL="0" marR="0" lvl="0" indent="0" algn="ctr" rtl="0">
              <a:lnSpc>
                <a:spcPct val="100000"/>
              </a:lnSpc>
              <a:spcBef>
                <a:spcPts val="0"/>
              </a:spcBef>
              <a:spcAft>
                <a:spcPts val="0"/>
              </a:spcAft>
              <a:buClr>
                <a:srgbClr val="000000"/>
              </a:buClr>
              <a:buSzPts val="2200"/>
              <a:buFont typeface="Arial"/>
              <a:buNone/>
            </a:pPr>
            <a:r>
              <a:rPr lang="en-US" sz="2200" dirty="0">
                <a:solidFill>
                  <a:srgbClr val="001E33"/>
                </a:solidFill>
              </a:rPr>
              <a:t>Maria Paula Ayala</a:t>
            </a:r>
            <a:endParaRPr sz="2200" b="0" i="0" u="none" strike="noStrike" cap="none" dirty="0">
              <a:solidFill>
                <a:srgbClr val="001E33"/>
              </a:solidFill>
              <a:latin typeface="Arial"/>
              <a:ea typeface="Arial"/>
              <a:cs typeface="Arial"/>
              <a:sym typeface="Arial"/>
            </a:endParaRPr>
          </a:p>
        </p:txBody>
      </p:sp>
      <p:pic>
        <p:nvPicPr>
          <p:cNvPr id="23" name="Imagen 22"/>
          <p:cNvPicPr>
            <a:picLocks noChangeAspect="1"/>
          </p:cNvPicPr>
          <p:nvPr/>
        </p:nvPicPr>
        <p:blipFill>
          <a:blip r:embed="rId7">
            <a:extLst>
              <a:ext uri="{28A0092B-C50C-407E-A947-70E740481C1C}">
                <a14:useLocalDpi xmlns:a14="http://schemas.microsoft.com/office/drawing/2010/main" val="0"/>
              </a:ext>
            </a:extLst>
          </a:blip>
          <a:srcRect t="6582" b="34338"/>
          <a:stretch>
            <a:fillRect/>
          </a:stretch>
        </p:blipFill>
        <p:spPr>
          <a:xfrm>
            <a:off x="6584146" y="1674147"/>
            <a:ext cx="2244188" cy="2357128"/>
          </a:xfrm>
          <a:custGeom>
            <a:avLst/>
            <a:gdLst>
              <a:gd name="connsiteX0" fmla="*/ 1155401 w 2244188"/>
              <a:gd name="connsiteY0" fmla="*/ 0 h 2357128"/>
              <a:gd name="connsiteX1" fmla="*/ 2220005 w 2244188"/>
              <a:gd name="connsiteY1" fmla="*/ 719814 h 2357128"/>
              <a:gd name="connsiteX2" fmla="*/ 2244188 w 2244188"/>
              <a:gd name="connsiteY2" fmla="*/ 787212 h 2357128"/>
              <a:gd name="connsiteX3" fmla="*/ 2244188 w 2244188"/>
              <a:gd name="connsiteY3" fmla="*/ 1569916 h 2357128"/>
              <a:gd name="connsiteX4" fmla="*/ 2220005 w 2244188"/>
              <a:gd name="connsiteY4" fmla="*/ 1637314 h 2357128"/>
              <a:gd name="connsiteX5" fmla="*/ 1155401 w 2244188"/>
              <a:gd name="connsiteY5" fmla="*/ 2357128 h 2357128"/>
              <a:gd name="connsiteX6" fmla="*/ 0 w 2244188"/>
              <a:gd name="connsiteY6" fmla="*/ 1178564 h 2357128"/>
              <a:gd name="connsiteX7" fmla="*/ 1155401 w 2244188"/>
              <a:gd name="connsiteY7" fmla="*/ 0 h 2357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244188" h="2357128">
                <a:moveTo>
                  <a:pt x="1155401" y="0"/>
                </a:moveTo>
                <a:cubicBezTo>
                  <a:pt x="1633984" y="0"/>
                  <a:pt x="2044605" y="296810"/>
                  <a:pt x="2220005" y="719814"/>
                </a:cubicBezTo>
                <a:lnTo>
                  <a:pt x="2244188" y="787212"/>
                </a:lnTo>
                <a:lnTo>
                  <a:pt x="2244188" y="1569916"/>
                </a:lnTo>
                <a:lnTo>
                  <a:pt x="2220005" y="1637314"/>
                </a:lnTo>
                <a:cubicBezTo>
                  <a:pt x="2044605" y="2060319"/>
                  <a:pt x="1633984" y="2357128"/>
                  <a:pt x="1155401" y="2357128"/>
                </a:cubicBezTo>
                <a:cubicBezTo>
                  <a:pt x="517291" y="2357128"/>
                  <a:pt x="0" y="1829467"/>
                  <a:pt x="0" y="1178564"/>
                </a:cubicBezTo>
                <a:cubicBezTo>
                  <a:pt x="0" y="527661"/>
                  <a:pt x="517291" y="0"/>
                  <a:pt x="1155401" y="0"/>
                </a:cubicBezTo>
                <a:close/>
              </a:path>
            </a:pathLst>
          </a:custGeom>
        </p:spPr>
      </p:pic>
      <p:pic>
        <p:nvPicPr>
          <p:cNvPr id="25" name="Imagen 24"/>
          <p:cNvPicPr>
            <a:picLocks noChangeAspect="1"/>
          </p:cNvPicPr>
          <p:nvPr/>
        </p:nvPicPr>
        <p:blipFill>
          <a:blip r:embed="rId8">
            <a:extLst>
              <a:ext uri="{28A0092B-C50C-407E-A947-70E740481C1C}">
                <a14:useLocalDpi xmlns:a14="http://schemas.microsoft.com/office/drawing/2010/main" val="0"/>
              </a:ext>
            </a:extLst>
          </a:blip>
          <a:srcRect l="5513" t="15984" r="12370" b="21195"/>
          <a:stretch>
            <a:fillRect/>
          </a:stretch>
        </p:blipFill>
        <p:spPr>
          <a:xfrm>
            <a:off x="529826" y="1678472"/>
            <a:ext cx="2310802" cy="2357128"/>
          </a:xfrm>
          <a:custGeom>
            <a:avLst/>
            <a:gdLst>
              <a:gd name="connsiteX0" fmla="*/ 1155401 w 2310802"/>
              <a:gd name="connsiteY0" fmla="*/ 0 h 2357128"/>
              <a:gd name="connsiteX1" fmla="*/ 2310802 w 2310802"/>
              <a:gd name="connsiteY1" fmla="*/ 1178564 h 2357128"/>
              <a:gd name="connsiteX2" fmla="*/ 1155401 w 2310802"/>
              <a:gd name="connsiteY2" fmla="*/ 2357128 h 2357128"/>
              <a:gd name="connsiteX3" fmla="*/ 0 w 2310802"/>
              <a:gd name="connsiteY3" fmla="*/ 1178564 h 2357128"/>
              <a:gd name="connsiteX4" fmla="*/ 1155401 w 2310802"/>
              <a:gd name="connsiteY4" fmla="*/ 0 h 2357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10802" h="2357128">
                <a:moveTo>
                  <a:pt x="1155401" y="0"/>
                </a:moveTo>
                <a:cubicBezTo>
                  <a:pt x="1793511" y="0"/>
                  <a:pt x="2310802" y="527661"/>
                  <a:pt x="2310802" y="1178564"/>
                </a:cubicBezTo>
                <a:cubicBezTo>
                  <a:pt x="2310802" y="1829467"/>
                  <a:pt x="1793511" y="2357128"/>
                  <a:pt x="1155401" y="2357128"/>
                </a:cubicBezTo>
                <a:cubicBezTo>
                  <a:pt x="517291" y="2357128"/>
                  <a:pt x="0" y="1829467"/>
                  <a:pt x="0" y="1178564"/>
                </a:cubicBezTo>
                <a:cubicBezTo>
                  <a:pt x="0" y="527661"/>
                  <a:pt x="517291" y="0"/>
                  <a:pt x="1155401" y="0"/>
                </a:cubicBezTo>
                <a:close/>
              </a:path>
            </a:pathLst>
          </a:cu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186960" y="-49289"/>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 name="CuadroTexto 1">
            <a:extLst>
              <a:ext uri="{FF2B5EF4-FFF2-40B4-BE49-F238E27FC236}">
                <a16:creationId xmlns:a16="http://schemas.microsoft.com/office/drawing/2014/main" id="{2E3C3B93-7D6F-476C-A493-DA42C4087825}"/>
              </a:ext>
            </a:extLst>
          </p:cNvPr>
          <p:cNvSpPr txBox="1"/>
          <p:nvPr/>
        </p:nvSpPr>
        <p:spPr>
          <a:xfrm>
            <a:off x="1434195" y="1288327"/>
            <a:ext cx="6981836" cy="523220"/>
          </a:xfrm>
          <a:prstGeom prst="rect">
            <a:avLst/>
          </a:prstGeom>
          <a:noFill/>
        </p:spPr>
        <p:txBody>
          <a:bodyPr wrap="square" rtlCol="0">
            <a:spAutoFit/>
          </a:bodyPr>
          <a:lstStyle/>
          <a:p>
            <a:r>
              <a:rPr lang="es-ES" sz="2800" b="1" i="0" dirty="0">
                <a:solidFill>
                  <a:srgbClr val="202122"/>
                </a:solidFill>
                <a:effectLst/>
                <a:latin typeface="Arial" panose="020B0604020202020204" pitchFamily="34" charset="0"/>
              </a:rPr>
              <a:t> Objetivo del trabajo</a:t>
            </a:r>
            <a:endParaRPr lang="es-CO" sz="2800" b="1" dirty="0"/>
          </a:p>
        </p:txBody>
      </p:sp>
      <p:pic>
        <p:nvPicPr>
          <p:cNvPr id="8" name="Imagen 7">
            <a:extLst>
              <a:ext uri="{FF2B5EF4-FFF2-40B4-BE49-F238E27FC236}">
                <a16:creationId xmlns:a16="http://schemas.microsoft.com/office/drawing/2014/main" id="{6302AEE5-E44D-479B-9421-9D7C551C75AD}"/>
              </a:ext>
            </a:extLst>
          </p:cNvPr>
          <p:cNvPicPr>
            <a:picLocks noChangeAspect="1"/>
          </p:cNvPicPr>
          <p:nvPr/>
        </p:nvPicPr>
        <p:blipFill>
          <a:blip r:embed="rId5"/>
          <a:stretch>
            <a:fillRect/>
          </a:stretch>
        </p:blipFill>
        <p:spPr>
          <a:xfrm>
            <a:off x="1341466" y="1979720"/>
            <a:ext cx="8494991" cy="3442112"/>
          </a:xfrm>
          <a:prstGeom prst="rect">
            <a:avLst/>
          </a:prstGeom>
        </p:spPr>
      </p:pic>
      <p:sp>
        <p:nvSpPr>
          <p:cNvPr id="9"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6"/>
              </a:rPr>
              <a:t>https://</a:t>
            </a:r>
            <a:r>
              <a:rPr lang="en-US" sz="2200" b="1" dirty="0" smtClean="0">
                <a:solidFill>
                  <a:srgbClr val="001E33"/>
                </a:solidFill>
                <a:uFill>
                  <a:noFill/>
                </a:uFill>
                <a:hlinkClick r:id="rId6"/>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Tree>
    <p:extLst>
      <p:ext uri="{BB962C8B-B14F-4D97-AF65-F5344CB8AC3E}">
        <p14:creationId xmlns:p14="http://schemas.microsoft.com/office/powerpoint/2010/main" val="23684435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186960" y="-49289"/>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 name="CuadroTexto 1">
            <a:extLst>
              <a:ext uri="{FF2B5EF4-FFF2-40B4-BE49-F238E27FC236}">
                <a16:creationId xmlns:a16="http://schemas.microsoft.com/office/drawing/2014/main" id="{2E3C3B93-7D6F-476C-A493-DA42C4087825}"/>
              </a:ext>
            </a:extLst>
          </p:cNvPr>
          <p:cNvSpPr txBox="1"/>
          <p:nvPr/>
        </p:nvSpPr>
        <p:spPr>
          <a:xfrm>
            <a:off x="803880" y="1083212"/>
            <a:ext cx="10801966" cy="307777"/>
          </a:xfrm>
          <a:prstGeom prst="rect">
            <a:avLst/>
          </a:prstGeom>
          <a:noFill/>
        </p:spPr>
        <p:txBody>
          <a:bodyPr wrap="square" rtlCol="0">
            <a:spAutoFit/>
          </a:bodyPr>
          <a:lstStyle/>
          <a:p>
            <a:r>
              <a:rPr lang="es-ES" b="0" i="0" dirty="0">
                <a:solidFill>
                  <a:srgbClr val="202122"/>
                </a:solidFill>
                <a:effectLst/>
                <a:latin typeface="Arial" panose="020B0604020202020204" pitchFamily="34" charset="0"/>
              </a:rPr>
              <a:t> Definición de  La compresión de imagen </a:t>
            </a:r>
            <a:r>
              <a:rPr lang="es-ES" b="0" i="0" u="none" strike="noStrike" dirty="0">
                <a:solidFill>
                  <a:srgbClr val="0645AD"/>
                </a:solidFill>
                <a:effectLst/>
                <a:latin typeface="Arial" panose="020B0604020202020204" pitchFamily="34" charset="0"/>
                <a:hlinkClick r:id="rId5" tooltip="Algoritmo de compresión con pérdida"/>
              </a:rPr>
              <a:t>con pérdida (</a:t>
            </a:r>
            <a:r>
              <a:rPr lang="es-ES" b="0" i="0" u="none" strike="noStrike" dirty="0" err="1">
                <a:solidFill>
                  <a:srgbClr val="0645AD"/>
                </a:solidFill>
                <a:effectLst/>
                <a:latin typeface="Arial" panose="020B0604020202020204" pitchFamily="34" charset="0"/>
                <a:hlinkClick r:id="rId5" tooltip="Algoritmo de compresión con pérdida"/>
              </a:rPr>
              <a:t>Lossy</a:t>
            </a:r>
            <a:r>
              <a:rPr lang="es-ES" b="0" i="0" u="none" strike="noStrike" dirty="0">
                <a:solidFill>
                  <a:srgbClr val="0645AD"/>
                </a:solidFill>
                <a:effectLst/>
                <a:latin typeface="Arial" panose="020B0604020202020204" pitchFamily="34" charset="0"/>
                <a:hlinkClick r:id="rId5" tooltip="Algoritmo de compresión con pérdida"/>
              </a:rPr>
              <a:t>)</a:t>
            </a:r>
            <a:r>
              <a:rPr lang="es-ES" b="0" i="0" dirty="0">
                <a:solidFill>
                  <a:srgbClr val="202122"/>
                </a:solidFill>
                <a:effectLst/>
                <a:latin typeface="Arial" panose="020B0604020202020204" pitchFamily="34" charset="0"/>
              </a:rPr>
              <a:t> o </a:t>
            </a:r>
            <a:r>
              <a:rPr lang="es-ES" b="0" i="0" u="sng" dirty="0">
                <a:solidFill>
                  <a:srgbClr val="0645AD"/>
                </a:solidFill>
                <a:effectLst/>
                <a:latin typeface="Arial" panose="020B0604020202020204" pitchFamily="34" charset="0"/>
                <a:hlinkClick r:id="rId6"/>
              </a:rPr>
              <a:t>sin pérdida (</a:t>
            </a:r>
            <a:r>
              <a:rPr lang="es-ES" b="0" i="0" u="sng" dirty="0" err="1">
                <a:solidFill>
                  <a:srgbClr val="0645AD"/>
                </a:solidFill>
                <a:effectLst/>
                <a:latin typeface="Arial" panose="020B0604020202020204" pitchFamily="34" charset="0"/>
                <a:hlinkClick r:id="rId6"/>
              </a:rPr>
              <a:t>LossLess</a:t>
            </a:r>
            <a:r>
              <a:rPr lang="es-ES" b="0" i="0" u="sng" dirty="0">
                <a:solidFill>
                  <a:srgbClr val="0645AD"/>
                </a:solidFill>
                <a:effectLst/>
                <a:latin typeface="Arial" panose="020B0604020202020204" pitchFamily="34" charset="0"/>
                <a:hlinkClick r:id="rId6"/>
              </a:rPr>
              <a:t>)</a:t>
            </a:r>
            <a:r>
              <a:rPr lang="es-ES" b="0" i="0" dirty="0">
                <a:solidFill>
                  <a:srgbClr val="202122"/>
                </a:solidFill>
                <a:effectLst/>
                <a:latin typeface="Arial" panose="020B0604020202020204" pitchFamily="34" charset="0"/>
              </a:rPr>
              <a:t>.</a:t>
            </a:r>
            <a:endParaRPr lang="es-CO" dirty="0"/>
          </a:p>
        </p:txBody>
      </p:sp>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7"/>
              </a:rPr>
              <a:t>https://</a:t>
            </a:r>
            <a:r>
              <a:rPr lang="en-US" sz="2200" b="1" dirty="0" smtClean="0">
                <a:solidFill>
                  <a:srgbClr val="001E33"/>
                </a:solidFill>
                <a:uFill>
                  <a:noFill/>
                </a:uFill>
                <a:hlinkClick r:id="rId7"/>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3" name="CuadroTexto 2"/>
          <p:cNvSpPr txBox="1"/>
          <p:nvPr/>
        </p:nvSpPr>
        <p:spPr>
          <a:xfrm>
            <a:off x="983673" y="1898073"/>
            <a:ext cx="10622173" cy="523220"/>
          </a:xfrm>
          <a:prstGeom prst="rect">
            <a:avLst/>
          </a:prstGeom>
          <a:noFill/>
        </p:spPr>
        <p:txBody>
          <a:bodyPr wrap="square" rtlCol="0">
            <a:spAutoFit/>
          </a:bodyPr>
          <a:lstStyle/>
          <a:p>
            <a:r>
              <a:rPr lang="es-CO" dirty="0" smtClean="0"/>
              <a:t>La compresión de imágenes es el proceso de reducir el tamaño de estas usando técnicas para simplificar la información redundante para que sea más óptima para los objetivos que se tengan con esta.</a:t>
            </a:r>
            <a:endParaRPr lang="es-CO" dirty="0"/>
          </a:p>
        </p:txBody>
      </p:sp>
      <p:sp>
        <p:nvSpPr>
          <p:cNvPr id="4" name="CuadroTexto 3"/>
          <p:cNvSpPr txBox="1"/>
          <p:nvPr/>
        </p:nvSpPr>
        <p:spPr>
          <a:xfrm>
            <a:off x="983673" y="2667609"/>
            <a:ext cx="10254529" cy="954107"/>
          </a:xfrm>
          <a:prstGeom prst="rect">
            <a:avLst/>
          </a:prstGeom>
          <a:noFill/>
        </p:spPr>
        <p:txBody>
          <a:bodyPr wrap="square" rtlCol="0">
            <a:spAutoFit/>
          </a:bodyPr>
          <a:lstStyle/>
          <a:p>
            <a:r>
              <a:rPr lang="pt-BR" dirty="0" err="1" smtClean="0"/>
              <a:t>Lossy</a:t>
            </a:r>
            <a:r>
              <a:rPr lang="pt-BR" dirty="0" smtClean="0"/>
              <a:t>:</a:t>
            </a:r>
          </a:p>
          <a:p>
            <a:r>
              <a:rPr lang="pt-BR" dirty="0" smtClean="0"/>
              <a:t>Es </a:t>
            </a:r>
            <a:r>
              <a:rPr lang="pt-BR" dirty="0" err="1" smtClean="0"/>
              <a:t>un</a:t>
            </a:r>
            <a:r>
              <a:rPr lang="pt-BR" dirty="0" smtClean="0"/>
              <a:t> </a:t>
            </a:r>
            <a:r>
              <a:rPr lang="es-CO" dirty="0" smtClean="0"/>
              <a:t>proceso</a:t>
            </a:r>
            <a:r>
              <a:rPr lang="pt-BR" dirty="0" smtClean="0"/>
              <a:t> de </a:t>
            </a:r>
            <a:r>
              <a:rPr lang="pt-BR" dirty="0" err="1" smtClean="0"/>
              <a:t>compresión</a:t>
            </a:r>
            <a:r>
              <a:rPr lang="pt-BR" dirty="0" smtClean="0"/>
              <a:t> de </a:t>
            </a:r>
            <a:r>
              <a:rPr lang="pt-BR" dirty="0" err="1" smtClean="0"/>
              <a:t>imagen</a:t>
            </a:r>
            <a:r>
              <a:rPr lang="pt-BR" dirty="0" smtClean="0"/>
              <a:t> que se </a:t>
            </a:r>
            <a:r>
              <a:rPr lang="pt-BR" dirty="0" err="1" smtClean="0"/>
              <a:t>basa</a:t>
            </a:r>
            <a:r>
              <a:rPr lang="pt-BR" dirty="0" smtClean="0"/>
              <a:t> </a:t>
            </a:r>
            <a:r>
              <a:rPr lang="pt-BR" dirty="0" err="1" smtClean="0"/>
              <a:t>en</a:t>
            </a:r>
            <a:r>
              <a:rPr lang="pt-BR" dirty="0" smtClean="0"/>
              <a:t> </a:t>
            </a:r>
            <a:r>
              <a:rPr lang="pt-BR" dirty="0" err="1" smtClean="0"/>
              <a:t>la</a:t>
            </a:r>
            <a:r>
              <a:rPr lang="pt-BR" dirty="0" smtClean="0"/>
              <a:t> </a:t>
            </a:r>
            <a:r>
              <a:rPr lang="pt-BR" dirty="0" err="1" smtClean="0"/>
              <a:t>eliminación</a:t>
            </a:r>
            <a:r>
              <a:rPr lang="pt-BR" dirty="0" smtClean="0"/>
              <a:t> de </a:t>
            </a:r>
            <a:r>
              <a:rPr lang="pt-BR" dirty="0" err="1" smtClean="0"/>
              <a:t>información</a:t>
            </a:r>
            <a:r>
              <a:rPr lang="pt-BR" dirty="0" smtClean="0"/>
              <a:t> de </a:t>
            </a:r>
            <a:r>
              <a:rPr lang="pt-BR" dirty="0" err="1" smtClean="0"/>
              <a:t>la</a:t>
            </a:r>
            <a:r>
              <a:rPr lang="pt-BR" dirty="0" smtClean="0"/>
              <a:t> </a:t>
            </a:r>
            <a:r>
              <a:rPr lang="pt-BR" dirty="0" err="1" smtClean="0"/>
              <a:t>cual</a:t>
            </a:r>
            <a:r>
              <a:rPr lang="pt-BR" dirty="0" smtClean="0"/>
              <a:t> </a:t>
            </a:r>
            <a:r>
              <a:rPr lang="pt-BR" dirty="0" err="1" smtClean="0"/>
              <a:t>el</a:t>
            </a:r>
            <a:r>
              <a:rPr lang="pt-BR" dirty="0" smtClean="0"/>
              <a:t> ser humano </a:t>
            </a:r>
            <a:r>
              <a:rPr lang="pt-BR" dirty="0" err="1" smtClean="0"/>
              <a:t>puede</a:t>
            </a:r>
            <a:r>
              <a:rPr lang="pt-BR" dirty="0" smtClean="0"/>
              <a:t> </a:t>
            </a:r>
            <a:r>
              <a:rPr lang="es-CO" dirty="0" smtClean="0"/>
              <a:t>prescindir</a:t>
            </a:r>
            <a:r>
              <a:rPr lang="pt-BR" dirty="0" smtClean="0"/>
              <a:t> </a:t>
            </a:r>
            <a:r>
              <a:rPr lang="pt-BR" dirty="0" err="1" smtClean="0"/>
              <a:t>sin</a:t>
            </a:r>
            <a:r>
              <a:rPr lang="pt-BR" dirty="0" smtClean="0"/>
              <a:t> cambiar </a:t>
            </a:r>
            <a:r>
              <a:rPr lang="pt-BR" dirty="0" err="1" smtClean="0"/>
              <a:t>el</a:t>
            </a:r>
            <a:r>
              <a:rPr lang="pt-BR" dirty="0" smtClean="0"/>
              <a:t> resultado o </a:t>
            </a:r>
            <a:r>
              <a:rPr lang="pt-BR" dirty="0" err="1" smtClean="0"/>
              <a:t>el</a:t>
            </a:r>
            <a:r>
              <a:rPr lang="pt-BR" dirty="0" smtClean="0"/>
              <a:t> significado de </a:t>
            </a:r>
            <a:r>
              <a:rPr lang="pt-BR" dirty="0" err="1" smtClean="0"/>
              <a:t>la</a:t>
            </a:r>
            <a:r>
              <a:rPr lang="pt-BR" dirty="0" smtClean="0"/>
              <a:t> </a:t>
            </a:r>
            <a:r>
              <a:rPr lang="pt-BR" dirty="0" err="1" smtClean="0"/>
              <a:t>imagen</a:t>
            </a:r>
            <a:r>
              <a:rPr lang="pt-BR" dirty="0" smtClean="0"/>
              <a:t>. La perdida de </a:t>
            </a:r>
            <a:r>
              <a:rPr lang="pt-BR" dirty="0" err="1" smtClean="0"/>
              <a:t>información</a:t>
            </a:r>
            <a:r>
              <a:rPr lang="pt-BR" dirty="0" smtClean="0"/>
              <a:t> </a:t>
            </a:r>
            <a:r>
              <a:rPr lang="pt-BR" dirty="0" err="1" smtClean="0"/>
              <a:t>en</a:t>
            </a:r>
            <a:r>
              <a:rPr lang="pt-BR" dirty="0" smtClean="0"/>
              <a:t> este </a:t>
            </a:r>
            <a:r>
              <a:rPr lang="pt-BR" dirty="0" err="1" smtClean="0"/>
              <a:t>proceso</a:t>
            </a:r>
            <a:r>
              <a:rPr lang="pt-BR" dirty="0" smtClean="0"/>
              <a:t> es </a:t>
            </a:r>
            <a:r>
              <a:rPr lang="pt-BR" dirty="0" err="1" smtClean="0"/>
              <a:t>irre</a:t>
            </a:r>
            <a:r>
              <a:rPr lang="es-CO" dirty="0" err="1" smtClean="0"/>
              <a:t>versible</a:t>
            </a:r>
            <a:r>
              <a:rPr lang="es-CO" dirty="0" smtClean="0"/>
              <a:t> y compromete la calidad de la imagen.</a:t>
            </a:r>
            <a:endParaRPr lang="pt-BR" dirty="0"/>
          </a:p>
        </p:txBody>
      </p:sp>
      <p:sp>
        <p:nvSpPr>
          <p:cNvPr id="9" name="CuadroTexto 8"/>
          <p:cNvSpPr txBox="1"/>
          <p:nvPr/>
        </p:nvSpPr>
        <p:spPr>
          <a:xfrm>
            <a:off x="983672" y="3659814"/>
            <a:ext cx="10254529" cy="738664"/>
          </a:xfrm>
          <a:prstGeom prst="rect">
            <a:avLst/>
          </a:prstGeom>
          <a:noFill/>
        </p:spPr>
        <p:txBody>
          <a:bodyPr wrap="square" rtlCol="0">
            <a:spAutoFit/>
          </a:bodyPr>
          <a:lstStyle/>
          <a:p>
            <a:r>
              <a:rPr lang="pt-BR" dirty="0" err="1" smtClean="0"/>
              <a:t>LossLess</a:t>
            </a:r>
            <a:r>
              <a:rPr lang="pt-BR" dirty="0" smtClean="0"/>
              <a:t>:</a:t>
            </a:r>
          </a:p>
          <a:p>
            <a:r>
              <a:rPr lang="pt-BR" dirty="0" smtClean="0"/>
              <a:t>Es </a:t>
            </a:r>
            <a:r>
              <a:rPr lang="pt-BR" dirty="0" err="1" smtClean="0"/>
              <a:t>un</a:t>
            </a:r>
            <a:r>
              <a:rPr lang="pt-BR" dirty="0" smtClean="0"/>
              <a:t> </a:t>
            </a:r>
            <a:r>
              <a:rPr lang="pt-BR" dirty="0" err="1" smtClean="0"/>
              <a:t>proceso</a:t>
            </a:r>
            <a:r>
              <a:rPr lang="pt-BR" dirty="0" smtClean="0"/>
              <a:t> de </a:t>
            </a:r>
            <a:r>
              <a:rPr lang="pt-BR" dirty="0" err="1" smtClean="0"/>
              <a:t>compresión</a:t>
            </a:r>
            <a:r>
              <a:rPr lang="pt-BR" dirty="0" smtClean="0"/>
              <a:t> de </a:t>
            </a:r>
            <a:r>
              <a:rPr lang="pt-BR" dirty="0" err="1" smtClean="0"/>
              <a:t>imagen</a:t>
            </a:r>
            <a:r>
              <a:rPr lang="pt-BR" dirty="0" smtClean="0"/>
              <a:t> que se </a:t>
            </a:r>
            <a:r>
              <a:rPr lang="pt-BR" dirty="0" err="1" smtClean="0"/>
              <a:t>basa</a:t>
            </a:r>
            <a:r>
              <a:rPr lang="pt-BR" dirty="0" smtClean="0"/>
              <a:t> </a:t>
            </a:r>
            <a:r>
              <a:rPr lang="pt-BR" dirty="0" err="1" smtClean="0"/>
              <a:t>en</a:t>
            </a:r>
            <a:r>
              <a:rPr lang="pt-BR" dirty="0" smtClean="0"/>
              <a:t> </a:t>
            </a:r>
            <a:r>
              <a:rPr lang="pt-BR" dirty="0" err="1" smtClean="0"/>
              <a:t>la</a:t>
            </a:r>
            <a:r>
              <a:rPr lang="pt-BR" dirty="0" smtClean="0"/>
              <a:t> </a:t>
            </a:r>
            <a:r>
              <a:rPr lang="pt-BR" dirty="0" err="1" smtClean="0"/>
              <a:t>reestructuración</a:t>
            </a:r>
            <a:r>
              <a:rPr lang="pt-BR" dirty="0" smtClean="0"/>
              <a:t> de </a:t>
            </a:r>
            <a:r>
              <a:rPr lang="pt-BR" dirty="0" err="1" smtClean="0"/>
              <a:t>la</a:t>
            </a:r>
            <a:r>
              <a:rPr lang="pt-BR" dirty="0" smtClean="0"/>
              <a:t> </a:t>
            </a:r>
            <a:r>
              <a:rPr lang="pt-BR" dirty="0" err="1" smtClean="0"/>
              <a:t>información</a:t>
            </a:r>
            <a:r>
              <a:rPr lang="pt-BR" dirty="0" smtClean="0"/>
              <a:t> para que esta ocupe menos memoria. No se </a:t>
            </a:r>
            <a:r>
              <a:rPr lang="pt-BR" dirty="0" err="1" smtClean="0"/>
              <a:t>pierde</a:t>
            </a:r>
            <a:r>
              <a:rPr lang="pt-BR" dirty="0" smtClean="0"/>
              <a:t> </a:t>
            </a:r>
            <a:r>
              <a:rPr lang="pt-BR" dirty="0" err="1" smtClean="0"/>
              <a:t>calidad</a:t>
            </a:r>
            <a:r>
              <a:rPr lang="pt-BR" dirty="0" smtClean="0"/>
              <a:t> </a:t>
            </a:r>
            <a:r>
              <a:rPr lang="pt-BR" dirty="0" err="1" smtClean="0"/>
              <a:t>ni</a:t>
            </a:r>
            <a:r>
              <a:rPr lang="pt-BR" dirty="0" smtClean="0"/>
              <a:t> </a:t>
            </a:r>
            <a:r>
              <a:rPr lang="pt-BR" dirty="0" err="1" smtClean="0"/>
              <a:t>datos</a:t>
            </a:r>
            <a:r>
              <a:rPr lang="pt-BR" dirty="0" smtClean="0"/>
              <a:t> de </a:t>
            </a:r>
            <a:r>
              <a:rPr lang="pt-BR" dirty="0" err="1" smtClean="0"/>
              <a:t>la</a:t>
            </a:r>
            <a:r>
              <a:rPr lang="pt-BR" dirty="0" smtClean="0"/>
              <a:t> </a:t>
            </a:r>
            <a:r>
              <a:rPr lang="pt-BR" dirty="0" err="1" smtClean="0"/>
              <a:t>imagen</a:t>
            </a:r>
            <a:r>
              <a:rPr lang="pt-BR" dirty="0" smtClean="0"/>
              <a:t> original.</a:t>
            </a:r>
            <a:endParaRPr lang="pt-BR" dirty="0"/>
          </a:p>
        </p:txBody>
      </p:sp>
    </p:spTree>
    <p:extLst>
      <p:ext uri="{BB962C8B-B14F-4D97-AF65-F5344CB8AC3E}">
        <p14:creationId xmlns:p14="http://schemas.microsoft.com/office/powerpoint/2010/main" val="6576800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214669" y="0"/>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 name="CuadroTexto 1">
            <a:extLst>
              <a:ext uri="{FF2B5EF4-FFF2-40B4-BE49-F238E27FC236}">
                <a16:creationId xmlns:a16="http://schemas.microsoft.com/office/drawing/2014/main" id="{2E3C3B93-7D6F-476C-A493-DA42C4087825}"/>
              </a:ext>
            </a:extLst>
          </p:cNvPr>
          <p:cNvSpPr txBox="1"/>
          <p:nvPr/>
        </p:nvSpPr>
        <p:spPr>
          <a:xfrm>
            <a:off x="803880" y="1083212"/>
            <a:ext cx="10801966" cy="523220"/>
          </a:xfrm>
          <a:prstGeom prst="rect">
            <a:avLst/>
          </a:prstGeom>
          <a:noFill/>
        </p:spPr>
        <p:txBody>
          <a:bodyPr wrap="square" rtlCol="0">
            <a:spAutoFit/>
          </a:bodyPr>
          <a:lstStyle/>
          <a:p>
            <a:r>
              <a:rPr lang="es-ES" b="0" i="0" dirty="0">
                <a:solidFill>
                  <a:srgbClr val="202122"/>
                </a:solidFill>
                <a:effectLst/>
                <a:latin typeface="Arial" panose="020B0604020202020204" pitchFamily="34" charset="0"/>
              </a:rPr>
              <a:t> </a:t>
            </a:r>
            <a:r>
              <a:rPr lang="es-ES" b="1" i="0" dirty="0">
                <a:solidFill>
                  <a:srgbClr val="000000"/>
                </a:solidFill>
                <a:effectLst/>
                <a:latin typeface="Arial" panose="020B0604020202020204" pitchFamily="34" charset="0"/>
              </a:rPr>
              <a:t>Los métodos para la compresión de imagen sin pérdida </a:t>
            </a:r>
          </a:p>
          <a:p>
            <a:endParaRPr lang="es-CO" dirty="0"/>
          </a:p>
        </p:txBody>
      </p:sp>
      <p:sp>
        <p:nvSpPr>
          <p:cNvPr id="9"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a:t>
            </a:r>
            <a:r>
              <a:rPr lang="en-US" sz="2200" b="1" dirty="0" smtClean="0">
                <a:solidFill>
                  <a:srgbClr val="001E33"/>
                </a:solidFill>
                <a:uFill>
                  <a:noFill/>
                </a:uFill>
                <a:hlinkClick r:id="rId5"/>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3" name="CuadroTexto 2"/>
          <p:cNvSpPr txBox="1"/>
          <p:nvPr/>
        </p:nvSpPr>
        <p:spPr>
          <a:xfrm>
            <a:off x="815040" y="1828800"/>
            <a:ext cx="6098378" cy="1169551"/>
          </a:xfrm>
          <a:prstGeom prst="rect">
            <a:avLst/>
          </a:prstGeom>
          <a:noFill/>
        </p:spPr>
        <p:txBody>
          <a:bodyPr wrap="square" rtlCol="0">
            <a:spAutoFit/>
          </a:bodyPr>
          <a:lstStyle/>
          <a:p>
            <a:r>
              <a:rPr lang="pt-BR" dirty="0" err="1" smtClean="0"/>
              <a:t>Run-length</a:t>
            </a:r>
            <a:r>
              <a:rPr lang="pt-BR" dirty="0" smtClean="0"/>
              <a:t>: Para </a:t>
            </a:r>
            <a:r>
              <a:rPr lang="pt-BR" dirty="0" err="1" smtClean="0"/>
              <a:t>reducir</a:t>
            </a:r>
            <a:r>
              <a:rPr lang="pt-BR" dirty="0" smtClean="0"/>
              <a:t> </a:t>
            </a:r>
            <a:r>
              <a:rPr lang="pt-BR" dirty="0" err="1" smtClean="0"/>
              <a:t>la</a:t>
            </a:r>
            <a:r>
              <a:rPr lang="pt-BR" dirty="0" smtClean="0"/>
              <a:t> </a:t>
            </a:r>
            <a:r>
              <a:rPr lang="pt-BR" dirty="0" err="1" smtClean="0"/>
              <a:t>información</a:t>
            </a:r>
            <a:r>
              <a:rPr lang="pt-BR" dirty="0" smtClean="0"/>
              <a:t> </a:t>
            </a:r>
            <a:r>
              <a:rPr lang="pt-BR" dirty="0" err="1" smtClean="0"/>
              <a:t>reduntante</a:t>
            </a:r>
            <a:r>
              <a:rPr lang="pt-BR" dirty="0" smtClean="0"/>
              <a:t> este método </a:t>
            </a:r>
            <a:r>
              <a:rPr lang="pt-BR" dirty="0" err="1" smtClean="0"/>
              <a:t>cuenta</a:t>
            </a:r>
            <a:r>
              <a:rPr lang="pt-BR" dirty="0" smtClean="0"/>
              <a:t> </a:t>
            </a:r>
            <a:r>
              <a:rPr lang="pt-BR" dirty="0" err="1" smtClean="0"/>
              <a:t>cuántas</a:t>
            </a:r>
            <a:r>
              <a:rPr lang="pt-BR" dirty="0" smtClean="0"/>
              <a:t> </a:t>
            </a:r>
            <a:r>
              <a:rPr lang="pt-BR" dirty="0" err="1" smtClean="0"/>
              <a:t>veces</a:t>
            </a:r>
            <a:r>
              <a:rPr lang="pt-BR" dirty="0" smtClean="0"/>
              <a:t> se </a:t>
            </a:r>
            <a:r>
              <a:rPr lang="pt-BR" dirty="0" err="1" smtClean="0"/>
              <a:t>repite</a:t>
            </a:r>
            <a:r>
              <a:rPr lang="pt-BR" dirty="0" smtClean="0"/>
              <a:t> </a:t>
            </a:r>
            <a:r>
              <a:rPr lang="pt-BR" dirty="0" err="1" smtClean="0"/>
              <a:t>el</a:t>
            </a:r>
            <a:r>
              <a:rPr lang="pt-BR" dirty="0" smtClean="0"/>
              <a:t> </a:t>
            </a:r>
            <a:r>
              <a:rPr lang="pt-BR" dirty="0" err="1" smtClean="0"/>
              <a:t>mismo</a:t>
            </a:r>
            <a:r>
              <a:rPr lang="pt-BR" dirty="0" smtClean="0"/>
              <a:t> </a:t>
            </a:r>
            <a:r>
              <a:rPr lang="pt-BR" dirty="0" err="1" smtClean="0"/>
              <a:t>caracter</a:t>
            </a:r>
            <a:r>
              <a:rPr lang="pt-BR" dirty="0" smtClean="0"/>
              <a:t> y coloca este número al frente de </a:t>
            </a:r>
            <a:r>
              <a:rPr lang="pt-BR" dirty="0" err="1" smtClean="0"/>
              <a:t>la</a:t>
            </a:r>
            <a:r>
              <a:rPr lang="pt-BR" dirty="0" smtClean="0"/>
              <a:t> </a:t>
            </a:r>
            <a:r>
              <a:rPr lang="pt-BR" dirty="0" err="1" smtClean="0"/>
              <a:t>identificación</a:t>
            </a:r>
            <a:r>
              <a:rPr lang="pt-BR" dirty="0" smtClean="0"/>
              <a:t> </a:t>
            </a:r>
            <a:r>
              <a:rPr lang="pt-BR" dirty="0" err="1" smtClean="0"/>
              <a:t>del</a:t>
            </a:r>
            <a:r>
              <a:rPr lang="pt-BR" dirty="0" smtClean="0"/>
              <a:t> </a:t>
            </a:r>
            <a:r>
              <a:rPr lang="pt-BR" dirty="0" err="1" smtClean="0"/>
              <a:t>caracter</a:t>
            </a:r>
            <a:r>
              <a:rPr lang="pt-BR" dirty="0" smtClean="0"/>
              <a:t>. Es </a:t>
            </a:r>
            <a:r>
              <a:rPr lang="pt-BR" dirty="0" err="1" smtClean="0"/>
              <a:t>decir</a:t>
            </a:r>
            <a:r>
              <a:rPr lang="pt-BR" dirty="0" smtClean="0"/>
              <a:t>, si </a:t>
            </a:r>
            <a:r>
              <a:rPr lang="pt-BR" dirty="0" err="1" smtClean="0"/>
              <a:t>tenemos</a:t>
            </a:r>
            <a:r>
              <a:rPr lang="pt-BR" dirty="0" smtClean="0"/>
              <a:t> 10 </a:t>
            </a:r>
            <a:r>
              <a:rPr lang="pt-BR" dirty="0" err="1" smtClean="0"/>
              <a:t>pixeles</a:t>
            </a:r>
            <a:r>
              <a:rPr lang="pt-BR" dirty="0" smtClean="0"/>
              <a:t> </a:t>
            </a:r>
            <a:r>
              <a:rPr lang="pt-BR" dirty="0" err="1" smtClean="0"/>
              <a:t>blancos</a:t>
            </a:r>
            <a:r>
              <a:rPr lang="pt-BR" dirty="0" smtClean="0"/>
              <a:t> seguidos, y </a:t>
            </a:r>
            <a:r>
              <a:rPr lang="pt-BR" dirty="0" err="1" smtClean="0"/>
              <a:t>suponiendo</a:t>
            </a:r>
            <a:r>
              <a:rPr lang="pt-BR" dirty="0" smtClean="0"/>
              <a:t> que este color se representa </a:t>
            </a:r>
            <a:r>
              <a:rPr lang="pt-BR" dirty="0" err="1" smtClean="0"/>
              <a:t>con</a:t>
            </a:r>
            <a:r>
              <a:rPr lang="pt-BR" dirty="0" smtClean="0"/>
              <a:t> B, </a:t>
            </a:r>
            <a:r>
              <a:rPr lang="pt-BR" dirty="0" err="1" smtClean="0"/>
              <a:t>en</a:t>
            </a:r>
            <a:r>
              <a:rPr lang="pt-BR" dirty="0" smtClean="0"/>
              <a:t> vez de </a:t>
            </a:r>
            <a:r>
              <a:rPr lang="pt-BR" dirty="0" err="1" smtClean="0"/>
              <a:t>tener</a:t>
            </a:r>
            <a:r>
              <a:rPr lang="pt-BR" dirty="0" smtClean="0"/>
              <a:t> B, B, B, B, B, B, B, B, B, B, vamos a </a:t>
            </a:r>
            <a:r>
              <a:rPr lang="pt-BR" dirty="0" err="1" smtClean="0"/>
              <a:t>tener</a:t>
            </a:r>
            <a:r>
              <a:rPr lang="pt-BR" dirty="0" smtClean="0"/>
              <a:t> 10B.</a:t>
            </a:r>
            <a:endParaRPr lang="pt-BR" dirty="0"/>
          </a:p>
        </p:txBody>
      </p:sp>
      <p:sp>
        <p:nvSpPr>
          <p:cNvPr id="4" name="CuadroTexto 3"/>
          <p:cNvSpPr txBox="1"/>
          <p:nvPr/>
        </p:nvSpPr>
        <p:spPr>
          <a:xfrm>
            <a:off x="815040" y="3522100"/>
            <a:ext cx="5541818" cy="2246769"/>
          </a:xfrm>
          <a:prstGeom prst="rect">
            <a:avLst/>
          </a:prstGeom>
          <a:noFill/>
        </p:spPr>
        <p:txBody>
          <a:bodyPr wrap="square" rtlCol="0">
            <a:spAutoFit/>
          </a:bodyPr>
          <a:lstStyle/>
          <a:p>
            <a:r>
              <a:rPr lang="es-CO" dirty="0" smtClean="0"/>
              <a:t>Codificación de </a:t>
            </a:r>
            <a:r>
              <a:rPr lang="es-CO" dirty="0" err="1" smtClean="0"/>
              <a:t>Huffman</a:t>
            </a:r>
            <a:r>
              <a:rPr lang="es-CO" dirty="0" smtClean="0"/>
              <a:t>: Según la frecuencia o probabilidad en la que salga un carácter se ira organizando en un árbol binario con las siguientes características: cogemos los 2 caracteres que tengan la menor frecuencia, se suman y cada uno es una nueva rama del árbol, se sigue este proceso hasta que hayamos juntado todos los caracteres y en cada rama la izquierda es 0 y la derecha 1. </a:t>
            </a:r>
          </a:p>
          <a:p>
            <a:endParaRPr lang="es-CO" dirty="0"/>
          </a:p>
          <a:p>
            <a:r>
              <a:rPr lang="es-CO" dirty="0" smtClean="0"/>
              <a:t>Finalmente se crea un diccionario en donde se guarda el carácter con el código de la ruta de 0 y 1 hasta llegar a este, dejando así al de mayor frecuencia con un código de 0 (el menor de todos).</a:t>
            </a:r>
            <a:endParaRPr lang="es-CO" dirty="0"/>
          </a:p>
        </p:txBody>
      </p:sp>
    </p:spTree>
    <p:extLst>
      <p:ext uri="{BB962C8B-B14F-4D97-AF65-F5344CB8AC3E}">
        <p14:creationId xmlns:p14="http://schemas.microsoft.com/office/powerpoint/2010/main" val="17509718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pic>
        <p:nvPicPr>
          <p:cNvPr id="199" name="Google Shape;199;p2"/>
          <p:cNvPicPr preferRelativeResize="0"/>
          <p:nvPr/>
        </p:nvPicPr>
        <p:blipFill rotWithShape="1">
          <a:blip r:embed="rId3">
            <a:alphaModFix/>
          </a:blip>
          <a:srcRect/>
          <a:stretch/>
        </p:blipFill>
        <p:spPr>
          <a:xfrm>
            <a:off x="-186960" y="-49289"/>
            <a:ext cx="12196080" cy="6855840"/>
          </a:xfrm>
          <a:prstGeom prst="rect">
            <a:avLst/>
          </a:prstGeom>
          <a:noFill/>
          <a:ln>
            <a:noFill/>
          </a:ln>
        </p:spPr>
      </p:pic>
      <p:pic>
        <p:nvPicPr>
          <p:cNvPr id="216" name="Google Shape;216;p2"/>
          <p:cNvPicPr preferRelativeResize="0"/>
          <p:nvPr/>
        </p:nvPicPr>
        <p:blipFill rotWithShape="1">
          <a:blip r:embed="rId4">
            <a:alphaModFix/>
          </a:blip>
          <a:srcRect/>
          <a:stretch/>
        </p:blipFill>
        <p:spPr>
          <a:xfrm>
            <a:off x="182880" y="6089760"/>
            <a:ext cx="621000" cy="621000"/>
          </a:xfrm>
          <a:prstGeom prst="rect">
            <a:avLst/>
          </a:prstGeom>
          <a:noFill/>
          <a:ln>
            <a:noFill/>
          </a:ln>
        </p:spPr>
      </p:pic>
      <p:sp>
        <p:nvSpPr>
          <p:cNvPr id="2" name="CuadroTexto 1">
            <a:extLst>
              <a:ext uri="{FF2B5EF4-FFF2-40B4-BE49-F238E27FC236}">
                <a16:creationId xmlns:a16="http://schemas.microsoft.com/office/drawing/2014/main" id="{2E3C3B93-7D6F-476C-A493-DA42C4087825}"/>
              </a:ext>
            </a:extLst>
          </p:cNvPr>
          <p:cNvSpPr txBox="1"/>
          <p:nvPr/>
        </p:nvSpPr>
        <p:spPr>
          <a:xfrm>
            <a:off x="803880" y="1083212"/>
            <a:ext cx="10801966" cy="307777"/>
          </a:xfrm>
          <a:prstGeom prst="rect">
            <a:avLst/>
          </a:prstGeom>
          <a:noFill/>
        </p:spPr>
        <p:txBody>
          <a:bodyPr wrap="square" rtlCol="0">
            <a:spAutoFit/>
          </a:bodyPr>
          <a:lstStyle/>
          <a:p>
            <a:r>
              <a:rPr lang="es-ES" b="0" i="0" dirty="0">
                <a:solidFill>
                  <a:srgbClr val="202122"/>
                </a:solidFill>
                <a:effectLst/>
                <a:latin typeface="Arial" panose="020B0604020202020204" pitchFamily="34" charset="0"/>
              </a:rPr>
              <a:t> </a:t>
            </a:r>
            <a:r>
              <a:rPr lang="es-ES" b="1" i="0" dirty="0">
                <a:solidFill>
                  <a:srgbClr val="000000"/>
                </a:solidFill>
                <a:effectLst/>
                <a:latin typeface="Arial" panose="020B0604020202020204" pitchFamily="34" charset="0"/>
              </a:rPr>
              <a:t>Los métodos para la compresión de imagen con perdida</a:t>
            </a:r>
            <a:endParaRPr lang="es-CO" dirty="0"/>
          </a:p>
        </p:txBody>
      </p:sp>
      <p:sp>
        <p:nvSpPr>
          <p:cNvPr id="8" name="Google Shape;217;p2"/>
          <p:cNvSpPr/>
          <p:nvPr/>
        </p:nvSpPr>
        <p:spPr>
          <a:xfrm>
            <a:off x="815040" y="6160680"/>
            <a:ext cx="6915240" cy="767987"/>
          </a:xfrm>
          <a:prstGeom prst="rect">
            <a:avLst/>
          </a:prstGeom>
          <a:noFill/>
          <a:ln>
            <a:noFill/>
          </a:ln>
        </p:spPr>
        <p:txBody>
          <a:bodyPr spcFirstLastPara="1" wrap="square" lIns="90000" tIns="45000" rIns="90000" bIns="45000" anchor="t" anchorCtr="0">
            <a:spAutoFit/>
          </a:bodyPr>
          <a:lstStyle/>
          <a:p>
            <a:pPr lvl="0">
              <a:buSzPts val="2200"/>
            </a:pPr>
            <a:r>
              <a:rPr lang="en-US" sz="2200" b="1" dirty="0">
                <a:solidFill>
                  <a:srgbClr val="001E33"/>
                </a:solidFill>
                <a:uFill>
                  <a:noFill/>
                </a:uFill>
                <a:hlinkClick r:id="rId5"/>
              </a:rPr>
              <a:t>https://</a:t>
            </a:r>
            <a:r>
              <a:rPr lang="en-US" sz="2200" b="1" dirty="0" smtClean="0">
                <a:solidFill>
                  <a:srgbClr val="001E33"/>
                </a:solidFill>
                <a:uFill>
                  <a:noFill/>
                </a:uFill>
                <a:hlinkClick r:id="rId5"/>
              </a:rPr>
              <a:t>github.com/GianSz/ProyectoDatos</a:t>
            </a:r>
            <a:endParaRPr lang="en-US" sz="2200" b="1" dirty="0" smtClean="0">
              <a:solidFill>
                <a:srgbClr val="001E33"/>
              </a:solidFill>
              <a:uFill>
                <a:noFill/>
              </a:uFill>
            </a:endParaRPr>
          </a:p>
          <a:p>
            <a:pPr lvl="0">
              <a:buSzPts val="2200"/>
            </a:pPr>
            <a:endParaRPr sz="2200" b="1" i="0" u="none" strike="noStrike" cap="none" dirty="0">
              <a:solidFill>
                <a:srgbClr val="001E33"/>
              </a:solidFill>
              <a:latin typeface="Arial"/>
              <a:ea typeface="Arial"/>
              <a:cs typeface="Arial"/>
              <a:sym typeface="Arial"/>
            </a:endParaRPr>
          </a:p>
        </p:txBody>
      </p:sp>
      <p:sp>
        <p:nvSpPr>
          <p:cNvPr id="6" name="CuadroTexto 5"/>
          <p:cNvSpPr txBox="1"/>
          <p:nvPr/>
        </p:nvSpPr>
        <p:spPr>
          <a:xfrm>
            <a:off x="815040" y="1852000"/>
            <a:ext cx="5541818" cy="2031325"/>
          </a:xfrm>
          <a:prstGeom prst="rect">
            <a:avLst/>
          </a:prstGeom>
          <a:noFill/>
        </p:spPr>
        <p:txBody>
          <a:bodyPr wrap="square" rtlCol="0">
            <a:spAutoFit/>
          </a:bodyPr>
          <a:lstStyle/>
          <a:p>
            <a:r>
              <a:rPr lang="es-CO" dirty="0" smtClean="0"/>
              <a:t>DCT: Es un proceso que utiliza la herramienta matemática de la transformada discreta de coseno, con la finalidad de hacer corresponder la imagen con un conjunto de coeficiente de la transformada. Un número significativo de coeficientes tendrá valores pequeños que son poco significativos, de los cuales prescindiremos para reducir el tamaño de la imagen. Los coeficientes de esta técnica se dan a partir de la siguiente ecuación: </a:t>
            </a:r>
          </a:p>
          <a:p>
            <a:endParaRPr lang="es-CO" dirty="0"/>
          </a:p>
        </p:txBody>
      </p:sp>
      <p:sp>
        <p:nvSpPr>
          <p:cNvPr id="7" name="CuadroTexto 6"/>
          <p:cNvSpPr txBox="1"/>
          <p:nvPr/>
        </p:nvSpPr>
        <p:spPr>
          <a:xfrm>
            <a:off x="6204863" y="2975385"/>
            <a:ext cx="5541818" cy="1384995"/>
          </a:xfrm>
          <a:prstGeom prst="rect">
            <a:avLst/>
          </a:prstGeom>
          <a:noFill/>
        </p:spPr>
        <p:txBody>
          <a:bodyPr wrap="square" rtlCol="0">
            <a:spAutoFit/>
          </a:bodyPr>
          <a:lstStyle/>
          <a:p>
            <a:r>
              <a:rPr lang="es-CO" dirty="0" smtClean="0"/>
              <a:t>Compresión fractal: Este método consiste en identificar una figura que al reproducirse reiteradas veces genere una imagen muy similar a la original. Entre las diferentes técnicas de este método encontramos la IFS (Sistema de Funciones Iteradas) que genera un conjunto de transformaciones que lleva la figura completa en cada una de sus partes.</a:t>
            </a:r>
            <a:endParaRPr lang="es-CO" dirty="0"/>
          </a:p>
        </p:txBody>
      </p:sp>
    </p:spTree>
    <p:extLst>
      <p:ext uri="{BB962C8B-B14F-4D97-AF65-F5344CB8AC3E}">
        <p14:creationId xmlns:p14="http://schemas.microsoft.com/office/powerpoint/2010/main" val="100444693"/>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505</TotalTime>
  <Words>518</Words>
  <Application>Microsoft Office PowerPoint</Application>
  <PresentationFormat>Panorámica</PresentationFormat>
  <Paragraphs>25</Paragraphs>
  <Slides>6</Slides>
  <Notes>6</Notes>
  <HiddenSlides>0</HiddenSlides>
  <MMClips>0</MMClips>
  <ScaleCrop>false</ScaleCrop>
  <HeadingPairs>
    <vt:vector size="6" baseType="variant">
      <vt:variant>
        <vt:lpstr>Fuentes usadas</vt:lpstr>
      </vt:variant>
      <vt:variant>
        <vt:i4>3</vt:i4>
      </vt:variant>
      <vt:variant>
        <vt:lpstr>Tema</vt:lpstr>
      </vt:variant>
      <vt:variant>
        <vt:i4>2</vt:i4>
      </vt:variant>
      <vt:variant>
        <vt:lpstr>Títulos de diapositiva</vt:lpstr>
      </vt:variant>
      <vt:variant>
        <vt:i4>6</vt:i4>
      </vt:variant>
    </vt:vector>
  </HeadingPairs>
  <TitlesOfParts>
    <vt:vector size="11" baseType="lpstr">
      <vt:lpstr>Arial</vt:lpstr>
      <vt:lpstr>Calibri</vt:lpstr>
      <vt:lpstr>Times New Roman</vt:lpstr>
      <vt:lpstr>Office Theme</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DeepL Translator</dc:creator>
  <cp:lastModifiedBy>Usuario de Windows</cp:lastModifiedBy>
  <cp:revision>18</cp:revision>
  <dcterms:created xsi:type="dcterms:W3CDTF">2020-06-26T14:36:07Z</dcterms:created>
  <dcterms:modified xsi:type="dcterms:W3CDTF">2021-11-05T20:36:02Z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HiddenSlides">
    <vt:i4>0</vt:i4>
  </property>
  <property fmtid="{D5CDD505-2E9C-101B-9397-08002B2CF9AE}" pid="4" name="HyperlinksChanged">
    <vt:bool>false</vt:bool>
  </property>
  <property fmtid="{D5CDD505-2E9C-101B-9397-08002B2CF9AE}" pid="5" name="LinksUpToDate">
    <vt:bool>false</vt:bool>
  </property>
  <property fmtid="{D5CDD505-2E9C-101B-9397-08002B2CF9AE}" pid="6" name="MMClips">
    <vt:i4>0</vt:i4>
  </property>
  <property fmtid="{D5CDD505-2E9C-101B-9397-08002B2CF9AE}" pid="7" name="Notes">
    <vt:i4>0</vt:i4>
  </property>
  <property fmtid="{D5CDD505-2E9C-101B-9397-08002B2CF9AE}" pid="8" name="PresentationFormat">
    <vt:lpwstr>Panorámica</vt:lpwstr>
  </property>
  <property fmtid="{D5CDD505-2E9C-101B-9397-08002B2CF9AE}" pid="9" name="ScaleCrop">
    <vt:bool>false</vt:bool>
  </property>
  <property fmtid="{D5CDD505-2E9C-101B-9397-08002B2CF9AE}" pid="10" name="ShareDoc">
    <vt:bool>false</vt:bool>
  </property>
  <property fmtid="{D5CDD505-2E9C-101B-9397-08002B2CF9AE}" pid="11" name="Slides">
    <vt:i4>2</vt:i4>
  </property>
</Properties>
</file>